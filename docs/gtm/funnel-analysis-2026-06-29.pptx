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New contacts</c:v>
                </c:pt>
              </c:strCache>
            </c:strRef>
          </c:tx>
          <c:spPr>
            <a:solidFill>
              <a:srgbClr val="EF4444"/>
            </a:solidFill>
            <a:ln w="38100" cap="flat">
              <a:solidFill>
                <a:srgbClr val="EF4444"/>
              </a:solidFill>
              <a:prstDash val="solid"/>
              <a:round/>
            </a:ln>
            <a:effectLst/>
          </c:spPr>
          <c:invertIfNegative val="0"/>
          <c:dLbls>
            <c:numFmt formatCode="#,##0" sourceLinked="0"/>
            <c:txPr>
              <a:bodyPr/>
              <a:lstStyle/>
              <a:p>
                <a:pPr>
                  <a:defRPr b="0" i="0" strike="noStrike" sz="1100" u="none">
                    <a:solidFill>
                      <a:srgbClr val="334155"/>
                    </a:solidFill>
                    <a:latin typeface="Calibri"/>
                  </a:defRPr>
                </a:pPr>
              </a:p>
            </c:txPr>
            <c:dLblPos val="t"/>
            <c:showLegendKey val="0"/>
            <c:showVal val="1"/>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Sheet1!$A$2:$A$4</c:f>
              <c:multiLvlStrCache>
                <c:ptCount val="3"/>
                <c:lvl>
                  <c:pt idx="0">
                    <c:v>Apr</c:v>
                  </c:pt>
                  <c:pt idx="1">
                    <c:v>May</c:v>
                  </c:pt>
                  <c:pt idx="2">
                    <c:v>Jun</c:v>
                  </c:pt>
                </c:lvl>
              </c:multiLvlStrCache>
            </c:multiLvlStrRef>
          </c:cat>
          <c:val>
            <c:numRef>
              <c:f>Sheet1!$B$2:$B$4</c:f>
              <c:numCache>
                <c:formatCode>General</c:formatCode>
                <c:ptCount val="3"/>
                <c:pt idx="0">
                  <c:v>3</c:v>
                </c:pt>
                <c:pt idx="1">
                  <c:v>5</c:v>
                </c:pt>
                <c:pt idx="2">
                  <c:v>0</c:v>
                </c:pt>
              </c:numCache>
            </c:numRef>
          </c:val>
          <c:smooth val="0"/>
        </c:ser>
        <c:ser>
          <c:idx val="1"/>
          <c:order val="1"/>
          <c:tx>
            <c:strRef>
              <c:f>Sheet1!$C$1</c:f>
              <c:strCache>
                <c:ptCount val="1"/>
                <c:pt idx="0">
                  <c:v>Cum. discovery calls</c:v>
                </c:pt>
              </c:strCache>
            </c:strRef>
          </c:tx>
          <c:spPr>
            <a:solidFill>
              <a:srgbClr val="4F46E5"/>
            </a:solidFill>
            <a:ln w="38100" cap="flat">
              <a:solidFill>
                <a:srgbClr val="4F46E5"/>
              </a:solidFill>
              <a:prstDash val="solid"/>
              <a:round/>
            </a:ln>
            <a:effectLst/>
          </c:spPr>
          <c:invertIfNegative val="0"/>
          <c:dLbls>
            <c:numFmt formatCode="#,##0" sourceLinked="0"/>
            <c:txPr>
              <a:bodyPr/>
              <a:lstStyle/>
              <a:p>
                <a:pPr>
                  <a:defRPr b="0" i="0" strike="noStrike" sz="1100" u="none">
                    <a:solidFill>
                      <a:srgbClr val="334155"/>
                    </a:solidFill>
                    <a:latin typeface="Calibri"/>
                  </a:defRPr>
                </a:pPr>
              </a:p>
            </c:txPr>
            <c:dLblPos val="t"/>
            <c:showLegendKey val="0"/>
            <c:showVal val="1"/>
            <c:showCatName val="0"/>
            <c:showSerName val="0"/>
            <c:showPercent val="0"/>
            <c:showBubbleSize val="0"/>
            <c:showLeaderLines val="0"/>
          </c:dLbls>
          <c:marker>
            <c:symbol val="circle"/>
            <c:size val="6"/>
            <c:spPr>
              <a:solidFill>
                <a:srgbClr val="4F46E5"/>
              </a:solidFill>
              <a:ln w="9525" cap="flat">
                <a:solidFill>
                  <a:srgbClr val="4F46E5"/>
                </a:solidFill>
                <a:prstDash val="solid"/>
                <a:round/>
              </a:ln>
              <a:effectLst/>
            </c:spPr>
          </c:marker>
          <c:cat>
            <c:multiLvlStrRef>
              <c:f>Sheet1!$A$2:$A$4</c:f>
              <c:multiLvlStrCache>
                <c:ptCount val="3"/>
                <c:lvl>
                  <c:pt idx="0">
                    <c:v>Apr</c:v>
                  </c:pt>
                  <c:pt idx="1">
                    <c:v>May</c:v>
                  </c:pt>
                  <c:pt idx="2">
                    <c:v>Jun</c:v>
                  </c:pt>
                </c:lvl>
              </c:multiLvlStrCache>
            </c:multiLvlStrRef>
          </c:cat>
          <c:val>
            <c:numRef>
              <c:f>Sheet1!$C$2:$C$4</c:f>
              <c:numCache>
                <c:formatCode>General</c:formatCode>
                <c:ptCount val="3"/>
                <c:pt idx="0">
                  <c:v>2</c:v>
                </c:pt>
                <c:pt idx="1">
                  <c:v>5</c:v>
                </c:pt>
                <c:pt idx="2">
                  <c:v>5</c:v>
                </c:pt>
              </c:numCache>
            </c:numRef>
          </c:val>
          <c:smooth val="0"/>
        </c:ser>
        <c:ser>
          <c:idx val="2"/>
          <c:order val="2"/>
          <c:tx>
            <c:strRef>
              <c:f>Sheet1!$D$1</c:f>
              <c:strCache>
                <c:ptCount val="1"/>
                <c:pt idx="0">
                  <c:v>Paid commitments</c:v>
                </c:pt>
              </c:strCache>
            </c:strRef>
          </c:tx>
          <c:spPr>
            <a:solidFill>
              <a:srgbClr val="10B981"/>
            </a:solidFill>
            <a:ln w="38100" cap="flat">
              <a:solidFill>
                <a:srgbClr val="10B981"/>
              </a:solidFill>
              <a:prstDash val="solid"/>
              <a:round/>
            </a:ln>
            <a:effectLst/>
          </c:spPr>
          <c:invertIfNegative val="0"/>
          <c:dLbls>
            <c:numFmt formatCode="#,##0" sourceLinked="0"/>
            <c:txPr>
              <a:bodyPr/>
              <a:lstStyle/>
              <a:p>
                <a:pPr>
                  <a:defRPr b="0" i="0" strike="noStrike" sz="1100" u="none">
                    <a:solidFill>
                      <a:srgbClr val="334155"/>
                    </a:solidFill>
                    <a:latin typeface="Calibri"/>
                  </a:defRPr>
                </a:pPr>
              </a:p>
            </c:txPr>
            <c:dLblPos val="t"/>
            <c:showLegendKey val="0"/>
            <c:showVal val="1"/>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Sheet1!$A$2:$A$4</c:f>
              <c:multiLvlStrCache>
                <c:ptCount val="3"/>
                <c:lvl>
                  <c:pt idx="0">
                    <c:v>Apr</c:v>
                  </c:pt>
                  <c:pt idx="1">
                    <c:v>May</c:v>
                  </c:pt>
                  <c:pt idx="2">
                    <c:v>Jun</c:v>
                  </c:pt>
                </c:lvl>
              </c:multiLvlStrCache>
            </c:multiLvlStrRef>
          </c:cat>
          <c:val>
            <c:numRef>
              <c:f>Sheet1!$D$2:$D$4</c:f>
              <c:numCache>
                <c:formatCode>General</c:formatCode>
                <c:ptCount val="3"/>
                <c:pt idx="0">
                  <c:v>0</c:v>
                </c:pt>
                <c:pt idx="1">
                  <c:v>0</c:v>
                </c:pt>
                <c:pt idx="2">
                  <c:v>1</c:v>
                </c:pt>
              </c:numCache>
            </c:numRef>
          </c:val>
          <c:smooth val="0"/>
        </c:ser>
        <c:dLbls>
          <c:numFmt formatCode="#,##0" sourceLinked="0"/>
          <c:txPr>
            <a:bodyPr/>
            <a:lstStyle/>
            <a:p>
              <a:pPr>
                <a:defRPr b="0" i="0" strike="noStrike" sz="1100" u="none">
                  <a:solidFill>
                    <a:srgbClr val="334155"/>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F1F5F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34155"/>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analysis for a pre-launch company. The funnel is the customer-development pipeline, not product events, because there is no live product or analytics integration. All numbers are from repo trackers and are reconciled against the master prospects file Conversion Funnel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structural point: conversion is fine, reach is the problem. The single priority is a repeatable acquisition channel that does not depend on the founder's personal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 prospects file already labels the 0% reply rate THE LEAK. Note the 5 discovery calls did not come from the 85 logged prospects. They came entirely through warm and direct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collected stayed at $0 the entire window because payment rails are not live. The first commitment is booked but uncharged.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as product retention numbers. They are pipeline persistence by acquisition cohort, a labeled proxy. Once the product is live and instrumented, real D1/D7/D30 becomes the highest-value future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founder's own stated 60-day goal, what the investor bar requires (paid evidence from non-family), and what the master file already flags. The case is over-determined.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1 and 3 are Low and reuse existing assets. 2 is Medium and has the highest ceiling. Sequence 1 and 3 first in week 1, run 2 in weeks 2 to 3, and fix payment rails in parallel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funnel is not broken at conversion, so secondary work is genuinely secondary. Reach is the binding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enable automated scheduled funnel runs, configure integrations.analytics in fraim/config.json with a provider and key. Until then this job runs in manual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E293B"/>
          </a:solidFill>
          <a:ln/>
        </p:spPr>
      </p:sp>
      <p:sp>
        <p:nvSpPr>
          <p:cNvPr id="3" name="Shape 1"/>
          <p:cNvSpPr/>
          <p:nvPr/>
        </p:nvSpPr>
        <p:spPr>
          <a:xfrm>
            <a:off x="10241280" y="3840480"/>
            <a:ext cx="4114800" cy="4114800"/>
          </a:xfrm>
          <a:prstGeom prst="ellipse">
            <a:avLst/>
          </a:prstGeom>
          <a:solidFill>
            <a:srgbClr val="4F46E5">
              <a:alpha val="22000"/>
            </a:srgbClr>
          </a:solidFill>
          <a:ln/>
        </p:spPr>
      </p:sp>
      <p:sp>
        <p:nvSpPr>
          <p:cNvPr id="4" name="Text 2"/>
          <p:cNvSpPr/>
          <p:nvPr/>
        </p:nvSpPr>
        <p:spPr>
          <a:xfrm>
            <a:off x="640080" y="1371600"/>
            <a:ext cx="9144000" cy="365760"/>
          </a:xfrm>
          <a:prstGeom prst="rect">
            <a:avLst/>
          </a:prstGeom>
          <a:noFill/>
          <a:ln/>
        </p:spPr>
        <p:txBody>
          <a:bodyPr wrap="square" lIns="0" tIns="0" rIns="0" bIns="0" rtlCol="0" anchor="ctr"/>
          <a:lstStyle/>
          <a:p>
            <a:pPr indent="0" marL="0">
              <a:buNone/>
            </a:pPr>
            <a:r>
              <a:rPr lang="en-US" sz="1400" b="1" spc="300" kern="0" dirty="0">
                <a:solidFill>
                  <a:srgbClr val="94A3B8"/>
                </a:solidFill>
                <a:latin typeface="Calibri" pitchFamily="34" charset="0"/>
                <a:ea typeface="Calibri" pitchFamily="34" charset="-122"/>
                <a:cs typeface="Calibri" pitchFamily="34" charset="-120"/>
              </a:rPr>
              <a:t>PHYSICIANLABS  /  GTM ANALYTICS</a:t>
            </a:r>
            <a:endParaRPr lang="en-US" sz="1400" dirty="0"/>
          </a:p>
        </p:txBody>
      </p:sp>
      <p:sp>
        <p:nvSpPr>
          <p:cNvPr id="5" name="Text 3"/>
          <p:cNvSpPr/>
          <p:nvPr/>
        </p:nvSpPr>
        <p:spPr>
          <a:xfrm>
            <a:off x="640080" y="196596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AARRR Funnel Analysis</a:t>
            </a:r>
            <a:endParaRPr lang="en-US" sz="5200" dirty="0"/>
          </a:p>
        </p:txBody>
      </p:sp>
      <p:sp>
        <p:nvSpPr>
          <p:cNvPr id="6" name="Text 4"/>
          <p:cNvSpPr/>
          <p:nvPr/>
        </p:nvSpPr>
        <p:spPr>
          <a:xfrm>
            <a:off x="640080" y="3063240"/>
            <a:ext cx="10058400" cy="548640"/>
          </a:xfrm>
          <a:prstGeom prst="rect">
            <a:avLst/>
          </a:prstGeom>
          <a:noFill/>
          <a:ln/>
        </p:spPr>
        <p:txBody>
          <a:bodyPr wrap="square" lIns="0" tIns="0" rIns="0" bIns="0" rtlCol="0" anchor="ctr"/>
          <a:lstStyle/>
          <a:p>
            <a:pPr indent="0" marL="0">
              <a:buNone/>
            </a:pPr>
            <a:r>
              <a:rPr lang="en-US" sz="2000" dirty="0">
                <a:solidFill>
                  <a:srgbClr val="EEF2FF"/>
                </a:solidFill>
                <a:latin typeface="Calibri" pitchFamily="34" charset="0"/>
                <a:ea typeface="Calibri" pitchFamily="34" charset="-122"/>
                <a:cs typeface="Calibri" pitchFamily="34" charset="-120"/>
              </a:rPr>
              <a:t>Where growth is leaking, and the one stage to fix first</a:t>
            </a:r>
            <a:endParaRPr lang="en-US" sz="2000" dirty="0"/>
          </a:p>
        </p:txBody>
      </p:sp>
      <p:sp>
        <p:nvSpPr>
          <p:cNvPr id="7" name="Text 5"/>
          <p:cNvSpPr/>
          <p:nvPr/>
        </p:nvSpPr>
        <p:spPr>
          <a:xfrm>
            <a:off x="640080" y="4160520"/>
            <a:ext cx="10058400" cy="365760"/>
          </a:xfrm>
          <a:prstGeom prst="rect">
            <a:avLst/>
          </a:prstGeom>
          <a:noFill/>
          <a:ln/>
        </p:spPr>
        <p:txBody>
          <a:bodyPr wrap="square" lIns="0" tIns="0" rIns="0" bIns="0" rtlCol="0" anchor="ctr"/>
          <a:lstStyle/>
          <a:p>
            <a:pPr indent="0" marL="0">
              <a:buNone/>
            </a:pPr>
            <a:r>
              <a:rPr lang="en-US" sz="1500" b="1" dirty="0">
                <a:solidFill>
                  <a:srgbClr val="94A3B8"/>
                </a:solidFill>
                <a:latin typeface="Calibri" pitchFamily="34" charset="0"/>
                <a:ea typeface="Calibri" pitchFamily="34" charset="-122"/>
                <a:cs typeface="Calibri" pitchFamily="34" charset="-120"/>
              </a:rPr>
              <a:t>Analysis window:  </a:t>
            </a:r>
            <a:pPr indent="0" marL="0">
              <a:buNone/>
            </a:pPr>
            <a:r>
              <a:rPr lang="en-US" sz="1500" dirty="0">
                <a:solidFill>
                  <a:srgbClr val="FFFFFF"/>
                </a:solidFill>
                <a:latin typeface="Calibri" pitchFamily="34" charset="0"/>
                <a:ea typeface="Calibri" pitchFamily="34" charset="-122"/>
                <a:cs typeface="Calibri" pitchFamily="34" charset="-120"/>
              </a:rPr>
              <a:t>26 Apr to 29 Jun 2026  (9 weeks)</a:t>
            </a:r>
            <a:endParaRPr lang="en-US" sz="1500" dirty="0"/>
          </a:p>
        </p:txBody>
      </p:sp>
      <p:sp>
        <p:nvSpPr>
          <p:cNvPr id="8" name="Text 6"/>
          <p:cNvSpPr/>
          <p:nvPr/>
        </p:nvSpPr>
        <p:spPr>
          <a:xfrm>
            <a:off x="640080" y="4526280"/>
            <a:ext cx="10058400" cy="365760"/>
          </a:xfrm>
          <a:prstGeom prst="rect">
            <a:avLst/>
          </a:prstGeom>
          <a:noFill/>
          <a:ln/>
        </p:spPr>
        <p:txBody>
          <a:bodyPr wrap="square" lIns="0" tIns="0" rIns="0" bIns="0" rtlCol="0" anchor="ctr"/>
          <a:lstStyle/>
          <a:p>
            <a:pPr indent="0" marL="0">
              <a:buNone/>
            </a:pPr>
            <a:r>
              <a:rPr lang="en-US" sz="1500" b="1" dirty="0">
                <a:solidFill>
                  <a:srgbClr val="94A3B8"/>
                </a:solidFill>
                <a:latin typeface="Calibri" pitchFamily="34" charset="0"/>
                <a:ea typeface="Calibri" pitchFamily="34" charset="-122"/>
                <a:cs typeface="Calibri" pitchFamily="34" charset="-120"/>
              </a:rPr>
              <a:t>Stage:  </a:t>
            </a:r>
            <a:pPr indent="0" marL="0">
              <a:buNone/>
            </a:pPr>
            <a:r>
              <a:rPr lang="en-US" sz="1500" dirty="0">
                <a:solidFill>
                  <a:srgbClr val="FFFFFF"/>
                </a:solidFill>
                <a:latin typeface="Calibri" pitchFamily="34" charset="0"/>
                <a:ea typeface="Calibri" pitchFamily="34" charset="-122"/>
                <a:cs typeface="Calibri" pitchFamily="34" charset="-120"/>
              </a:rPr>
              <a:t>Pre-launch GTM / customer-development pipeline</a:t>
            </a:r>
            <a:endParaRPr lang="en-US" sz="1500" dirty="0"/>
          </a:p>
        </p:txBody>
      </p:sp>
      <p:sp>
        <p:nvSpPr>
          <p:cNvPr id="9" name="Text 7"/>
          <p:cNvSpPr/>
          <p:nvPr/>
        </p:nvSpPr>
        <p:spPr>
          <a:xfrm>
            <a:off x="640080" y="4892040"/>
            <a:ext cx="10515600" cy="365760"/>
          </a:xfrm>
          <a:prstGeom prst="rect">
            <a:avLst/>
          </a:prstGeom>
          <a:noFill/>
          <a:ln/>
        </p:spPr>
        <p:txBody>
          <a:bodyPr wrap="square" lIns="0" tIns="0" rIns="0" bIns="0" rtlCol="0" anchor="ctr"/>
          <a:lstStyle/>
          <a:p>
            <a:pPr indent="0" marL="0">
              <a:buNone/>
            </a:pPr>
            <a:r>
              <a:rPr lang="en-US" sz="1500" b="1" dirty="0">
                <a:solidFill>
                  <a:srgbClr val="94A3B8"/>
                </a:solidFill>
                <a:latin typeface="Calibri" pitchFamily="34" charset="0"/>
                <a:ea typeface="Calibri" pitchFamily="34" charset="-122"/>
                <a:cs typeface="Calibri" pitchFamily="34" charset="-120"/>
              </a:rPr>
              <a:t>Data source:  </a:t>
            </a:r>
            <a:pPr indent="0" marL="0">
              <a:buNone/>
            </a:pPr>
            <a:r>
              <a:rPr lang="en-US" sz="1500" dirty="0">
                <a:solidFill>
                  <a:srgbClr val="FFFFFF"/>
                </a:solidFill>
                <a:latin typeface="Calibri" pitchFamily="34" charset="0"/>
                <a:ea typeface="Calibri" pitchFamily="34" charset="-122"/>
                <a:cs typeface="Calibri" pitchFamily="34" charset="-120"/>
              </a:rPr>
              <a:t>Repo trackers (manual). No analytics integration configured.</a:t>
            </a:r>
            <a:endParaRPr lang="en-US" sz="1500" dirty="0"/>
          </a:p>
        </p:txBody>
      </p:sp>
      <p:sp>
        <p:nvSpPr>
          <p:cNvPr id="10" name="Text 8"/>
          <p:cNvSpPr/>
          <p:nvPr/>
        </p:nvSpPr>
        <p:spPr>
          <a:xfrm>
            <a:off x="640080" y="6035040"/>
            <a:ext cx="5486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Prepared 2026-06-29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BOTTOM LINE UP FRONT</a:t>
            </a:r>
            <a:endParaRPr lang="en-US" sz="1200" dirty="0"/>
          </a:p>
        </p:txBody>
      </p:sp>
      <p:sp>
        <p:nvSpPr>
          <p:cNvPr id="3" name="Text 1"/>
          <p:cNvSpPr/>
          <p:nvPr/>
        </p:nvSpPr>
        <p:spPr>
          <a:xfrm>
            <a:off x="640080" y="640080"/>
            <a:ext cx="1088136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One finding, one priority</a:t>
            </a:r>
            <a:endParaRPr lang="en-US" sz="3000" dirty="0"/>
          </a:p>
        </p:txBody>
      </p:sp>
      <p:sp>
        <p:nvSpPr>
          <p:cNvPr id="4" name="Shape 2"/>
          <p:cNvSpPr/>
          <p:nvPr/>
        </p:nvSpPr>
        <p:spPr>
          <a:xfrm>
            <a:off x="640080" y="1417320"/>
            <a:ext cx="10881360" cy="1417320"/>
          </a:xfrm>
          <a:prstGeom prst="roundRect">
            <a:avLst>
              <a:gd name="adj" fmla="val 5161"/>
            </a:avLst>
          </a:prstGeom>
          <a:solidFill>
            <a:srgbClr val="0F172A"/>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960120" y="1572768"/>
            <a:ext cx="10241280" cy="1143000"/>
          </a:xfrm>
          <a:prstGeom prst="rect">
            <a:avLst/>
          </a:prstGeom>
          <a:noFill/>
          <a:ln/>
        </p:spPr>
        <p:txBody>
          <a:bodyPr wrap="square" lIns="0" tIns="0" rIns="0" bIns="0" rtlCol="0" anchor="ctr"/>
          <a:lstStyle/>
          <a:p>
            <a:pPr indent="0" marL="0">
              <a:lnSpc>
                <a:spcPct val="105000"/>
              </a:lnSpc>
              <a:buNone/>
            </a:pPr>
            <a:r>
              <a:rPr lang="en-US" sz="2100" b="1" dirty="0">
                <a:solidFill>
                  <a:srgbClr val="FFFFFF"/>
                </a:solidFill>
                <a:latin typeface="Calibri" pitchFamily="34" charset="0"/>
                <a:ea typeface="Calibri" pitchFamily="34" charset="-122"/>
                <a:cs typeface="Calibri" pitchFamily="34" charset="-120"/>
              </a:rPr>
              <a:t>The funnel does not leak at conversion. It leaks at the top.</a:t>
            </a:r>
            <a:endParaRPr lang="en-US" sz="2100" dirty="0"/>
          </a:p>
          <a:p>
            <a:pPr indent="0" marL="0">
              <a:lnSpc>
                <a:spcPct val="105000"/>
              </a:lnSpc>
              <a:buNone/>
            </a:pPr>
            <a:r>
              <a:rPr lang="en-US" sz="1400" dirty="0">
                <a:solidFill>
                  <a:srgbClr val="EEF2FF"/>
                </a:solidFill>
                <a:latin typeface="Calibri" pitchFamily="34" charset="0"/>
                <a:ea typeface="Calibri" pitchFamily="34" charset="-122"/>
                <a:cs typeface="Calibri" pitchFamily="34" charset="-120"/>
              </a:rPr>
              <a:t>Activation (71%) and discovery-to-paid (20%) are healthy. The scalable reply rate is 0%, and 100% of all activity came from the founder's personal network, which produced zero new contacts in June.</a:t>
            </a:r>
            <a:endParaRPr lang="en-US" sz="2100" dirty="0"/>
          </a:p>
        </p:txBody>
      </p:sp>
      <p:sp>
        <p:nvSpPr>
          <p:cNvPr id="6" name="Shape 4"/>
          <p:cNvSpPr/>
          <p:nvPr/>
        </p:nvSpPr>
        <p:spPr>
          <a:xfrm>
            <a:off x="640080" y="3154680"/>
            <a:ext cx="3383280"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7" name="Text 5"/>
          <p:cNvSpPr/>
          <p:nvPr/>
        </p:nvSpPr>
        <p:spPr>
          <a:xfrm>
            <a:off x="914400" y="3310128"/>
            <a:ext cx="2834640" cy="777240"/>
          </a:xfrm>
          <a:prstGeom prst="rect">
            <a:avLst/>
          </a:prstGeom>
          <a:noFill/>
          <a:ln/>
        </p:spPr>
        <p:txBody>
          <a:bodyPr wrap="square" lIns="0" tIns="0" rIns="0" bIns="0" rtlCol="0" anchor="ctr"/>
          <a:lstStyle/>
          <a:p>
            <a:pPr indent="0" marL="0">
              <a:buNone/>
            </a:pPr>
            <a:r>
              <a:rPr lang="en-US" sz="4600" b="1" dirty="0">
                <a:solidFill>
                  <a:srgbClr val="EF4444"/>
                </a:solidFill>
                <a:latin typeface="Cambria" pitchFamily="34" charset="0"/>
                <a:ea typeface="Cambria" pitchFamily="34" charset="-122"/>
                <a:cs typeface="Cambria" pitchFamily="34" charset="-120"/>
              </a:rPr>
              <a:t>0%</a:t>
            </a:r>
            <a:endParaRPr lang="en-US" sz="4600" dirty="0"/>
          </a:p>
        </p:txBody>
      </p:sp>
      <p:sp>
        <p:nvSpPr>
          <p:cNvPr id="8" name="Text 6"/>
          <p:cNvSpPr/>
          <p:nvPr/>
        </p:nvSpPr>
        <p:spPr>
          <a:xfrm>
            <a:off x="914400" y="4114800"/>
            <a:ext cx="283464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Scalable reply rate</a:t>
            </a:r>
            <a:endParaRPr lang="en-US" sz="1500" dirty="0"/>
          </a:p>
        </p:txBody>
      </p:sp>
      <p:sp>
        <p:nvSpPr>
          <p:cNvPr id="9" name="Text 7"/>
          <p:cNvSpPr/>
          <p:nvPr/>
        </p:nvSpPr>
        <p:spPr>
          <a:xfrm>
            <a:off x="914400" y="4434840"/>
            <a:ext cx="283464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0 replies from 8 cold contacts</a:t>
            </a:r>
            <a:endParaRPr lang="en-US" sz="1200" dirty="0"/>
          </a:p>
        </p:txBody>
      </p:sp>
      <p:sp>
        <p:nvSpPr>
          <p:cNvPr id="10" name="Shape 8"/>
          <p:cNvSpPr/>
          <p:nvPr/>
        </p:nvSpPr>
        <p:spPr>
          <a:xfrm>
            <a:off x="4389120" y="3154680"/>
            <a:ext cx="3383280"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4663440" y="3310128"/>
            <a:ext cx="2834640" cy="777240"/>
          </a:xfrm>
          <a:prstGeom prst="rect">
            <a:avLst/>
          </a:prstGeom>
          <a:noFill/>
          <a:ln/>
        </p:spPr>
        <p:txBody>
          <a:bodyPr wrap="square" lIns="0" tIns="0" rIns="0" bIns="0" rtlCol="0" anchor="ctr"/>
          <a:lstStyle/>
          <a:p>
            <a:pPr indent="0" marL="0">
              <a:buNone/>
            </a:pPr>
            <a:r>
              <a:rPr lang="en-US" sz="4600" b="1" dirty="0">
                <a:solidFill>
                  <a:srgbClr val="F59E0B"/>
                </a:solidFill>
                <a:latin typeface="Cambria" pitchFamily="34" charset="0"/>
                <a:ea typeface="Cambria" pitchFamily="34" charset="-122"/>
                <a:cs typeface="Cambria" pitchFamily="34" charset="-120"/>
              </a:rPr>
              <a:t>100%</a:t>
            </a:r>
            <a:endParaRPr lang="en-US" sz="4600" dirty="0"/>
          </a:p>
        </p:txBody>
      </p:sp>
      <p:sp>
        <p:nvSpPr>
          <p:cNvPr id="12" name="Text 10"/>
          <p:cNvSpPr/>
          <p:nvPr/>
        </p:nvSpPr>
        <p:spPr>
          <a:xfrm>
            <a:off x="4663440" y="4114800"/>
            <a:ext cx="283464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Activity from network</a:t>
            </a:r>
            <a:endParaRPr lang="en-US" sz="1500" dirty="0"/>
          </a:p>
        </p:txBody>
      </p:sp>
      <p:sp>
        <p:nvSpPr>
          <p:cNvPr id="13" name="Text 11"/>
          <p:cNvSpPr/>
          <p:nvPr/>
        </p:nvSpPr>
        <p:spPr>
          <a:xfrm>
            <a:off x="4663440" y="4434840"/>
            <a:ext cx="283464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5 of 5 discovery calls, all warm/direct</a:t>
            </a:r>
            <a:endParaRPr lang="en-US" sz="1200" dirty="0"/>
          </a:p>
        </p:txBody>
      </p:sp>
      <p:sp>
        <p:nvSpPr>
          <p:cNvPr id="14" name="Shape 12"/>
          <p:cNvSpPr/>
          <p:nvPr/>
        </p:nvSpPr>
        <p:spPr>
          <a:xfrm>
            <a:off x="8138160" y="3154680"/>
            <a:ext cx="3383280"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5" name="Text 13"/>
          <p:cNvSpPr/>
          <p:nvPr/>
        </p:nvSpPr>
        <p:spPr>
          <a:xfrm>
            <a:off x="8412480" y="3310128"/>
            <a:ext cx="2834640" cy="777240"/>
          </a:xfrm>
          <a:prstGeom prst="rect">
            <a:avLst/>
          </a:prstGeom>
          <a:noFill/>
          <a:ln/>
        </p:spPr>
        <p:txBody>
          <a:bodyPr wrap="square" lIns="0" tIns="0" rIns="0" bIns="0" rtlCol="0" anchor="ctr"/>
          <a:lstStyle/>
          <a:p>
            <a:pPr indent="0" marL="0">
              <a:buNone/>
            </a:pPr>
            <a:r>
              <a:rPr lang="en-US" sz="4600" b="1" dirty="0">
                <a:solidFill>
                  <a:srgbClr val="4F46E5"/>
                </a:solidFill>
                <a:latin typeface="Cambria" pitchFamily="34" charset="0"/>
                <a:ea typeface="Cambria" pitchFamily="34" charset="-122"/>
                <a:cs typeface="Cambria" pitchFamily="34" charset="-120"/>
              </a:rPr>
              <a:t>1</a:t>
            </a:r>
            <a:endParaRPr lang="en-US" sz="4600" dirty="0"/>
          </a:p>
        </p:txBody>
      </p:sp>
      <p:sp>
        <p:nvSpPr>
          <p:cNvPr id="16" name="Text 14"/>
          <p:cNvSpPr/>
          <p:nvPr/>
        </p:nvSpPr>
        <p:spPr>
          <a:xfrm>
            <a:off x="8412480" y="4114800"/>
            <a:ext cx="283464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Paid commitment</a:t>
            </a:r>
            <a:endParaRPr lang="en-US" sz="1500" dirty="0"/>
          </a:p>
        </p:txBody>
      </p:sp>
      <p:sp>
        <p:nvSpPr>
          <p:cNvPr id="17" name="Text 15"/>
          <p:cNvSpPr/>
          <p:nvPr/>
        </p:nvSpPr>
        <p:spPr>
          <a:xfrm>
            <a:off x="8412480" y="4434840"/>
            <a:ext cx="283464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$1,000, family, card not yet charged</a:t>
            </a:r>
            <a:endParaRPr lang="en-US" sz="1200" dirty="0"/>
          </a:p>
        </p:txBody>
      </p:sp>
      <p:sp>
        <p:nvSpPr>
          <p:cNvPr id="18" name="Shape 16"/>
          <p:cNvSpPr/>
          <p:nvPr/>
        </p:nvSpPr>
        <p:spPr>
          <a:xfrm>
            <a:off x="640080" y="5166360"/>
            <a:ext cx="10881360" cy="1051560"/>
          </a:xfrm>
          <a:prstGeom prst="roundRect">
            <a:avLst>
              <a:gd name="adj" fmla="val 6957"/>
            </a:avLst>
          </a:prstGeom>
          <a:solidFill>
            <a:srgbClr val="EEF2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960120" y="5166360"/>
            <a:ext cx="10241280" cy="1051560"/>
          </a:xfrm>
          <a:prstGeom prst="rect">
            <a:avLst/>
          </a:prstGeom>
          <a:noFill/>
          <a:ln/>
        </p:spPr>
        <p:txBody>
          <a:bodyPr wrap="square" lIns="0" tIns="0" rIns="0" bIns="0"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PRIORITY:  </a:t>
            </a:r>
            <a:pPr indent="0" marL="0">
              <a:buNone/>
            </a:pPr>
            <a:r>
              <a:rPr lang="en-US" sz="1400" dirty="0">
                <a:solidFill>
                  <a:srgbClr val="0F172A"/>
                </a:solidFill>
                <a:latin typeface="Calibri" pitchFamily="34" charset="0"/>
                <a:ea typeface="Calibri" pitchFamily="34" charset="-122"/>
                <a:cs typeface="Calibri" pitchFamily="34" charset="-120"/>
              </a:rPr>
              <a:t>Build one repeatable, non-network acquisition channel. Every downstream stage is healthy but starved. Improving them multiplies zero.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AARRR CONVERSION BREAKDOWN</a:t>
            </a:r>
            <a:endParaRPr lang="en-US" sz="1200" dirty="0"/>
          </a:p>
        </p:txBody>
      </p:sp>
      <p:sp>
        <p:nvSpPr>
          <p:cNvPr id="3" name="Text 1"/>
          <p:cNvSpPr/>
          <p:nvPr/>
        </p:nvSpPr>
        <p:spPr>
          <a:xfrm>
            <a:off x="640080" y="640080"/>
            <a:ext cx="1088136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Stage-by-stage, with the two-funnel split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6766560" cy="914400"/>
        </p:xfrm>
        <a:graphic>
          <a:graphicData uri="http://schemas.openxmlformats.org/drawingml/2006/table">
            <a:tbl>
              <a:tblPr/>
              <a:tblGrid>
                <a:gridCol w="1691640"/>
                <a:gridCol w="1051560"/>
                <a:gridCol w="2377440"/>
                <a:gridCol w="1645920"/>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Count</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Conversion</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Acquisition (logged)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Prospects identified across 4 lists</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9.4% worked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Contacted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Outreach actually sent (Apr to May only)</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0% replied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Activation</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Had a real discovery conversation</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71% of warm, 0% of cold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Retention (proxy)</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Stayed engaged, not dead or off-ICP</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60% (3 of 5)</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Referral</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2 nodes / 7 intros</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Engaged node generated intros</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67% (2 of 3)</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Revenue</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1 ($1K)</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Paid commitment (uncharged)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334155"/>
                          </a:solidFill>
                          <a:latin typeface="Calibri" pitchFamily="34" charset="0"/>
                          <a:ea typeface="Calibri" pitchFamily="34" charset="-122"/>
                          <a:cs typeface="Calibri" pitchFamily="34" charset="-120"/>
                        </a:rPr>
                        <a:t>20% of activated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7726680" y="1371600"/>
            <a:ext cx="3794760" cy="3246120"/>
          </a:xfrm>
          <a:prstGeom prst="roundRect">
            <a:avLst>
              <a:gd name="adj" fmla="val 2254"/>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6" name="Text 3"/>
          <p:cNvSpPr/>
          <p:nvPr/>
        </p:nvSpPr>
        <p:spPr>
          <a:xfrm>
            <a:off x="7955280" y="1508760"/>
            <a:ext cx="33832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Two parallel funnels</a:t>
            </a:r>
            <a:endParaRPr lang="en-US" sz="1600" dirty="0"/>
          </a:p>
        </p:txBody>
      </p:sp>
      <p:sp>
        <p:nvSpPr>
          <p:cNvPr id="7" name="Text 4"/>
          <p:cNvSpPr/>
          <p:nvPr/>
        </p:nvSpPr>
        <p:spPr>
          <a:xfrm>
            <a:off x="7955280" y="1920240"/>
            <a:ext cx="3383280" cy="2560320"/>
          </a:xfrm>
          <a:prstGeom prst="rect">
            <a:avLst/>
          </a:prstGeom>
          <a:noFill/>
          <a:ln/>
        </p:spPr>
        <p:txBody>
          <a:bodyPr wrap="square" lIns="0" tIns="0" rIns="0" bIns="0" rtlCol="0" anchor="ctr"/>
          <a:lstStyle/>
          <a:p>
            <a:pPr indent="0" marL="0">
              <a:lnSpc>
                <a:spcPct val="102000"/>
              </a:lnSpc>
              <a:buNone/>
            </a:pPr>
            <a:r>
              <a:rPr lang="en-US" sz="1300" b="1" dirty="0">
                <a:solidFill>
                  <a:srgbClr val="EF4444"/>
                </a:solidFill>
                <a:latin typeface="Calibri" pitchFamily="34" charset="0"/>
                <a:ea typeface="Calibri" pitchFamily="34" charset="-122"/>
                <a:cs typeface="Calibri" pitchFamily="34" charset="-120"/>
              </a:rPr>
              <a:t>Outbound / scaled (the 85)</a:t>
            </a:r>
            <a:endParaRPr lang="en-US" sz="1300" dirty="0"/>
          </a:p>
          <a:p>
            <a:pPr indent="0" marL="0">
              <a:lnSpc>
                <a:spcPct val="102000"/>
              </a:lnSpc>
              <a:buNone/>
            </a:pPr>
            <a:r>
              <a:rPr lang="en-US" sz="1200" dirty="0">
                <a:solidFill>
                  <a:srgbClr val="334155"/>
                </a:solidFill>
                <a:latin typeface="Calibri" pitchFamily="34" charset="0"/>
                <a:ea typeface="Calibri" pitchFamily="34" charset="-122"/>
                <a:cs typeface="Calibri" pitchFamily="34" charset="-120"/>
              </a:rPr>
              <a:t>0 of 8 contacted replied = 0%</a:t>
            </a:r>
            <a:endParaRPr lang="en-US" sz="1300" dirty="0"/>
          </a:p>
          <a:p>
            <a:pPr indent="0" marL="0">
              <a:lnSpc>
                <a:spcPct val="102000"/>
              </a:lnSpc>
              <a:buNone/>
            </a:pPr>
            <a:r>
              <a:rPr lang="en-US" sz="1100" i="1" dirty="0">
                <a:solidFill>
                  <a:srgbClr val="64748B"/>
                </a:solidFill>
                <a:latin typeface="Calibri" pitchFamily="34" charset="0"/>
                <a:ea typeface="Calibri" pitchFamily="34" charset="-122"/>
                <a:cs typeface="Calibri" pitchFamily="34" charset="-120"/>
              </a:rPr>
              <a:t>Catastrophic. Zero prospects converted, ever.</a:t>
            </a:r>
            <a:endParaRPr lang="en-US" sz="1300" dirty="0"/>
          </a:p>
          <a:p>
            <a:pPr indent="0" marL="0">
              <a:lnSpc>
                <a:spcPct val="102000"/>
              </a:lnSpc>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lnSpc>
                <a:spcPct val="102000"/>
              </a:lnSpc>
              <a:buNone/>
            </a:pPr>
            <a:r>
              <a:rPr lang="en-US" sz="1300" b="1" dirty="0">
                <a:solidFill>
                  <a:srgbClr val="10B981"/>
                </a:solidFill>
                <a:latin typeface="Calibri" pitchFamily="34" charset="0"/>
                <a:ea typeface="Calibri" pitchFamily="34" charset="-122"/>
                <a:cs typeface="Calibri" pitchFamily="34" charset="-120"/>
              </a:rPr>
              <a:t>Network / warm (Saf, Samir, direct)</a:t>
            </a:r>
            <a:endParaRPr lang="en-US" sz="1300" dirty="0"/>
          </a:p>
          <a:p>
            <a:pPr indent="0" marL="0">
              <a:lnSpc>
                <a:spcPct val="102000"/>
              </a:lnSpc>
              <a:buNone/>
            </a:pPr>
            <a:r>
              <a:rPr lang="en-US" sz="1200" dirty="0">
                <a:solidFill>
                  <a:srgbClr val="334155"/>
                </a:solidFill>
                <a:latin typeface="Calibri" pitchFamily="34" charset="0"/>
                <a:ea typeface="Calibri" pitchFamily="34" charset="-122"/>
                <a:cs typeface="Calibri" pitchFamily="34" charset="-120"/>
              </a:rPr>
              <a:t>~5 of 7 activated ~= 71%</a:t>
            </a:r>
            <a:endParaRPr lang="en-US" sz="1300" dirty="0"/>
          </a:p>
          <a:p>
            <a:pPr indent="0" marL="0">
              <a:lnSpc>
                <a:spcPct val="102000"/>
              </a:lnSpc>
              <a:buNone/>
            </a:pPr>
            <a:r>
              <a:rPr lang="en-US" sz="1100" i="1" dirty="0">
                <a:solidFill>
                  <a:srgbClr val="64748B"/>
                </a:solidFill>
                <a:latin typeface="Calibri" pitchFamily="34" charset="0"/>
                <a:ea typeface="Calibri" pitchFamily="34" charset="-122"/>
                <a:cs typeface="Calibri" pitchFamily="34" charset="-120"/>
              </a:rPr>
              <a:t>Produced 100% of activity and the only paid commitment.</a:t>
            </a:r>
            <a:endParaRPr lang="en-US" sz="1300" dirty="0"/>
          </a:p>
        </p:txBody>
      </p:sp>
      <p:sp>
        <p:nvSpPr>
          <p:cNvPr id="8" name="Text 5"/>
          <p:cNvSpPr/>
          <p:nvPr/>
        </p:nvSpPr>
        <p:spPr>
          <a:xfrm>
            <a:off x="640080" y="4937760"/>
            <a:ext cx="10881360" cy="1188720"/>
          </a:xfrm>
          <a:prstGeom prst="rect">
            <a:avLst/>
          </a:prstGeom>
          <a:noFill/>
          <a:ln/>
        </p:spPr>
        <p:txBody>
          <a:bodyPr wrap="square" lIns="0" tIns="0" rIns="0" bIns="0" rtlCol="0" anchor="t"/>
          <a:lstStyle/>
          <a:p>
            <a:pPr indent="0" marL="0">
              <a:lnSpc>
                <a:spcPct val="105000"/>
              </a:lnSpc>
              <a:buNone/>
            </a:pPr>
            <a:r>
              <a:rPr lang="en-US" sz="1500" b="1" dirty="0">
                <a:solidFill>
                  <a:srgbClr val="4F46E5"/>
                </a:solidFill>
                <a:latin typeface="Calibri" pitchFamily="34" charset="0"/>
                <a:ea typeface="Calibri" pitchFamily="34" charset="-122"/>
                <a:cs typeface="Calibri" pitchFamily="34" charset="-120"/>
              </a:rPr>
              <a:t>Read:  </a:t>
            </a:r>
            <a:pPr indent="0" marL="0">
              <a:lnSpc>
                <a:spcPct val="105000"/>
              </a:lnSpc>
              <a:buNone/>
            </a:pPr>
            <a:r>
              <a:rPr lang="en-US" sz="1500" dirty="0">
                <a:solidFill>
                  <a:srgbClr val="0F172A"/>
                </a:solidFill>
                <a:latin typeface="Calibri" pitchFamily="34" charset="0"/>
                <a:ea typeface="Calibri" pitchFamily="34" charset="-122"/>
                <a:cs typeface="Calibri" pitchFamily="34" charset="-120"/>
              </a:rPr>
              <a:t>The conversion stages work. The company cannot grow because it cannot reach buyers outside a personal network of about 5 physicians.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GROWTH CURVES</a:t>
            </a:r>
            <a:endParaRPr lang="en-US" sz="1200" dirty="0"/>
          </a:p>
        </p:txBody>
      </p:sp>
      <p:sp>
        <p:nvSpPr>
          <p:cNvPr id="3" name="Text 1"/>
          <p:cNvSpPr/>
          <p:nvPr/>
        </p:nvSpPr>
        <p:spPr>
          <a:xfrm>
            <a:off x="640080" y="640080"/>
            <a:ext cx="1088136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MoM trend: the engine stalled in June</a:t>
            </a:r>
            <a:endParaRPr lang="en-US" sz="3000" dirty="0"/>
          </a:p>
        </p:txBody>
      </p:sp>
      <p:graphicFrame>
        <p:nvGraphicFramePr>
          <p:cNvPr id="4" name="Chart 0" descr=""/>
          <p:cNvGraphicFramePr/>
          <p:nvPr/>
        </p:nvGraphicFramePr>
        <p:xfrm>
          <a:off x="64008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417320"/>
            <a:ext cx="3703320" cy="1371600"/>
          </a:xfrm>
          <a:prstGeom prst="roundRect">
            <a:avLst>
              <a:gd name="adj" fmla="val 5333"/>
            </a:avLst>
          </a:prstGeom>
          <a:solidFill>
            <a:srgbClr val="0F172A"/>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6" name="Text 3"/>
          <p:cNvSpPr/>
          <p:nvPr/>
        </p:nvSpPr>
        <p:spPr>
          <a:xfrm>
            <a:off x="8092440" y="1536192"/>
            <a:ext cx="3154680" cy="548640"/>
          </a:xfrm>
          <a:prstGeom prst="rect">
            <a:avLst/>
          </a:prstGeom>
          <a:noFill/>
          <a:ln/>
        </p:spPr>
        <p:txBody>
          <a:bodyPr wrap="square" lIns="0" tIns="0" rIns="0" bIns="0" rtlCol="0" anchor="ctr"/>
          <a:lstStyle/>
          <a:p>
            <a:pPr indent="0" marL="0">
              <a:buNone/>
            </a:pPr>
            <a:r>
              <a:rPr lang="en-US" sz="3200" b="1" dirty="0">
                <a:solidFill>
                  <a:srgbClr val="EF4444"/>
                </a:solidFill>
                <a:latin typeface="Cambria" pitchFamily="34" charset="0"/>
                <a:ea typeface="Cambria" pitchFamily="34" charset="-122"/>
                <a:cs typeface="Cambria" pitchFamily="34" charset="-120"/>
              </a:rPr>
              <a:t>-100%</a:t>
            </a:r>
            <a:endParaRPr lang="en-US" sz="3200" dirty="0"/>
          </a:p>
        </p:txBody>
      </p:sp>
      <p:sp>
        <p:nvSpPr>
          <p:cNvPr id="7" name="Text 4"/>
          <p:cNvSpPr/>
          <p:nvPr/>
        </p:nvSpPr>
        <p:spPr>
          <a:xfrm>
            <a:off x="8092440" y="2103120"/>
            <a:ext cx="3154680" cy="548640"/>
          </a:xfrm>
          <a:prstGeom prst="rect">
            <a:avLst/>
          </a:prstGeom>
          <a:noFill/>
          <a:ln/>
        </p:spPr>
        <p:txBody>
          <a:bodyPr wrap="square" lIns="0" tIns="0" rIns="0" bIns="0" rtlCol="0" anchor="ctr"/>
          <a:lstStyle/>
          <a:p>
            <a:pPr indent="0" marL="0">
              <a:buNone/>
            </a:pPr>
            <a:r>
              <a:rPr lang="en-US" sz="1200" dirty="0">
                <a:solidFill>
                  <a:srgbClr val="EEF2FF"/>
                </a:solidFill>
                <a:latin typeface="Calibri" pitchFamily="34" charset="0"/>
                <a:ea typeface="Calibri" pitchFamily="34" charset="-122"/>
                <a:cs typeface="Calibri" pitchFamily="34" charset="-120"/>
              </a:rPr>
              <a:t>MoM new contacts, June vs May. No outreach sent in June.</a:t>
            </a:r>
            <a:endParaRPr lang="en-US" sz="1200" dirty="0"/>
          </a:p>
        </p:txBody>
      </p:sp>
      <p:sp>
        <p:nvSpPr>
          <p:cNvPr id="8" name="Shape 5"/>
          <p:cNvSpPr/>
          <p:nvPr/>
        </p:nvSpPr>
        <p:spPr>
          <a:xfrm>
            <a:off x="7818120" y="2926080"/>
            <a:ext cx="3703320" cy="1463040"/>
          </a:xfrm>
          <a:prstGeom prst="roundRect">
            <a:avLst>
              <a:gd name="adj" fmla="val 5000"/>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9" name="Text 6"/>
          <p:cNvSpPr/>
          <p:nvPr/>
        </p:nvSpPr>
        <p:spPr>
          <a:xfrm>
            <a:off x="8092440" y="3044952"/>
            <a:ext cx="3154680" cy="365760"/>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Stalled ~4 weeks</a:t>
            </a:r>
            <a:endParaRPr lang="en-US" sz="1700" dirty="0"/>
          </a:p>
        </p:txBody>
      </p:sp>
      <p:sp>
        <p:nvSpPr>
          <p:cNvPr id="10" name="Text 7"/>
          <p:cNvSpPr/>
          <p:nvPr/>
        </p:nvSpPr>
        <p:spPr>
          <a:xfrm>
            <a:off x="8092440" y="3429000"/>
            <a:ext cx="3154680" cy="8229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0 new contacts, 0 new discovery calls since Jun 1, 0 new paid since Jun 6.</a:t>
            </a:r>
            <a:endParaRPr lang="en-US" sz="1250" dirty="0"/>
          </a:p>
        </p:txBody>
      </p:sp>
      <p:sp>
        <p:nvSpPr>
          <p:cNvPr id="11" name="Shape 8"/>
          <p:cNvSpPr/>
          <p:nvPr/>
        </p:nvSpPr>
        <p:spPr>
          <a:xfrm>
            <a:off x="7818120" y="4526280"/>
            <a:ext cx="3703320" cy="1645920"/>
          </a:xfrm>
          <a:prstGeom prst="roundRect">
            <a:avLst>
              <a:gd name="adj" fmla="val 4444"/>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2" name="Text 9"/>
          <p:cNvSpPr/>
          <p:nvPr/>
        </p:nvSpPr>
        <p:spPr>
          <a:xfrm>
            <a:off x="8092440" y="4645152"/>
            <a:ext cx="3154680" cy="320040"/>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vs benchmark</a:t>
            </a:r>
            <a:endParaRPr lang="en-US" sz="1700" dirty="0"/>
          </a:p>
        </p:txBody>
      </p:sp>
      <p:sp>
        <p:nvSpPr>
          <p:cNvPr id="13" name="Text 10"/>
          <p:cNvSpPr/>
          <p:nvPr/>
        </p:nvSpPr>
        <p:spPr>
          <a:xfrm>
            <a:off x="8092440" y="5010912"/>
            <a:ext cx="3154680" cy="10058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Early-stage investors look for roughly 100% MoM growth. Actual top-of-funnel growth is negative.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RETENTION COHORT CURVES</a:t>
            </a:r>
            <a:endParaRPr lang="en-US" sz="1200" dirty="0"/>
          </a:p>
        </p:txBody>
      </p:sp>
      <p:sp>
        <p:nvSpPr>
          <p:cNvPr id="3" name="Text 1"/>
          <p:cNvSpPr/>
          <p:nvPr/>
        </p:nvSpPr>
        <p:spPr>
          <a:xfrm>
            <a:off x="640080" y="640080"/>
            <a:ext cx="1088136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Pipeline-persistence proxy (no product exists yet)</a:t>
            </a:r>
            <a:endParaRPr lang="en-US" sz="3000" dirty="0"/>
          </a:p>
        </p:txBody>
      </p:sp>
      <p:sp>
        <p:nvSpPr>
          <p:cNvPr id="4" name="Shape 2"/>
          <p:cNvSpPr/>
          <p:nvPr/>
        </p:nvSpPr>
        <p:spPr>
          <a:xfrm>
            <a:off x="640080" y="1371600"/>
            <a:ext cx="10881360" cy="685800"/>
          </a:xfrm>
          <a:prstGeom prst="roundRect">
            <a:avLst>
              <a:gd name="adj" fmla="val 10667"/>
            </a:avLst>
          </a:prstGeom>
          <a:solidFill>
            <a:srgbClr val="EEF2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914400" y="1371600"/>
            <a:ext cx="10332720" cy="685800"/>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Caveat:  </a:t>
            </a:r>
            <a:pPr indent="0" marL="0">
              <a:buNone/>
            </a:pPr>
            <a:r>
              <a:rPr lang="en-US" sz="1250" dirty="0">
                <a:solidFill>
                  <a:srgbClr val="0F172A"/>
                </a:solidFill>
                <a:latin typeface="Calibri" pitchFamily="34" charset="0"/>
                <a:ea typeface="Calibri" pitchFamily="34" charset="-122"/>
                <a:cs typeface="Calibri" pitchFamily="34" charset="-120"/>
              </a:rPr>
              <a:t>True D1/D7/D30 usage retention is not measurable pre-launch. Intervals are re-cast as first-touch response, week-1 engagement, and month-1 pipeline survival.</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6858000" cy="914400"/>
        </p:xfrm>
        <a:graphic>
          <a:graphicData uri="http://schemas.openxmlformats.org/drawingml/2006/table">
            <a:tbl>
              <a:tblPr/>
              <a:tblGrid>
                <a:gridCol w="2377440"/>
                <a:gridCol w="548640"/>
                <a:gridCol w="914400"/>
                <a:gridCol w="914400"/>
                <a:gridCol w="914400"/>
                <a:gridCol w="118872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Cohort (acquisition)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D7</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D30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Trend</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502920">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Apr  cold (Reddit)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Apr  network (direct)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Mixed</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May  cold (LinkedIn)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May  network (Samir)</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Churned</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Jun  referral (intros)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Too new</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7772400" y="2240280"/>
            <a:ext cx="3749040" cy="3108960"/>
          </a:xfrm>
          <a:prstGeom prst="roundRect">
            <a:avLst>
              <a:gd name="adj" fmla="val 2353"/>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8" name="Text 5"/>
          <p:cNvSpPr/>
          <p:nvPr/>
        </p:nvSpPr>
        <p:spPr>
          <a:xfrm>
            <a:off x="8001000" y="2377440"/>
            <a:ext cx="329184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Channel cut</a:t>
            </a:r>
            <a:endParaRPr lang="en-US" sz="1600" dirty="0"/>
          </a:p>
        </p:txBody>
      </p:sp>
      <p:sp>
        <p:nvSpPr>
          <p:cNvPr id="9" name="Text 6"/>
          <p:cNvSpPr/>
          <p:nvPr/>
        </p:nvSpPr>
        <p:spPr>
          <a:xfrm>
            <a:off x="8001000" y="2788920"/>
            <a:ext cx="3291840" cy="2468880"/>
          </a:xfrm>
          <a:prstGeom prst="rect">
            <a:avLst/>
          </a:prstGeom>
          <a:noFill/>
          <a:ln/>
        </p:spPr>
        <p:txBody>
          <a:bodyPr wrap="square" lIns="0" tIns="0" rIns="0" bIns="0" rtlCol="0" anchor="ctr"/>
          <a:lstStyle/>
          <a:p>
            <a:pPr indent="0" marL="0">
              <a:lnSpc>
                <a:spcPct val="102000"/>
              </a:lnSpc>
              <a:buNone/>
            </a:pPr>
            <a:r>
              <a:rPr lang="en-US" sz="1300" b="1" dirty="0">
                <a:solidFill>
                  <a:srgbClr val="EF4444"/>
                </a:solidFill>
                <a:latin typeface="Calibri" pitchFamily="34" charset="0"/>
                <a:ea typeface="Calibri" pitchFamily="34" charset="-122"/>
                <a:cs typeface="Calibri" pitchFamily="34" charset="-120"/>
              </a:rPr>
              <a:t>Cold channels: 0% at every interval.</a:t>
            </a:r>
            <a:endParaRPr lang="en-US" sz="1300" dirty="0"/>
          </a:p>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7 cold prospects, none survived to D1.</a:t>
            </a:r>
            <a:endParaRPr lang="en-US" sz="1300" dirty="0"/>
          </a:p>
          <a:p>
            <a:pPr indent="0" marL="0">
              <a:lnSpc>
                <a:spcPct val="102000"/>
              </a:lnSpc>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lnSpc>
                <a:spcPct val="102000"/>
              </a:lnSpc>
              <a:buNone/>
            </a:pPr>
            <a:r>
              <a:rPr lang="en-US" sz="1300" b="1" dirty="0">
                <a:solidFill>
                  <a:srgbClr val="F59E0B"/>
                </a:solidFill>
                <a:latin typeface="Calibri" pitchFamily="34" charset="0"/>
                <a:ea typeface="Calibri" pitchFamily="34" charset="-122"/>
                <a:cs typeface="Calibri" pitchFamily="34" charset="-120"/>
              </a:rPr>
              <a:t>Network: strong early, one survivor.</a:t>
            </a:r>
            <a:endParaRPr lang="en-US" sz="1300" dirty="0"/>
          </a:p>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The only D30 survivor is family (Saf). Samir churned, Cowan stalled.</a:t>
            </a:r>
            <a:endParaRPr lang="en-US" sz="1300" dirty="0"/>
          </a:p>
          <a:p>
            <a:pPr indent="0" marL="0">
              <a:lnSpc>
                <a:spcPct val="102000"/>
              </a:lnSpc>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lnSpc>
                <a:spcPct val="102000"/>
              </a:lnSpc>
              <a:buNone/>
            </a:pPr>
            <a:r>
              <a:rPr lang="en-US" sz="1200" i="1" dirty="0">
                <a:solidFill>
                  <a:srgbClr val="0F172A"/>
                </a:solidFill>
                <a:latin typeface="Calibri" pitchFamily="34" charset="0"/>
                <a:ea typeface="Calibri" pitchFamily="34" charset="-122"/>
                <a:cs typeface="Calibri" pitchFamily="34" charset="-120"/>
              </a:rPr>
              <a:t>June referral cohort is the only thing keeping the pipeline alive.</a:t>
            </a:r>
            <a:endParaRPr lang="en-US" sz="1300" dirty="0"/>
          </a:p>
        </p:txBody>
      </p:sp>
      <p:sp>
        <p:nvSpPr>
          <p:cNvPr id="10" name="Text 7"/>
          <p:cNvSpPr/>
          <p:nvPr/>
        </p:nvSpPr>
        <p:spPr>
          <a:xfrm>
            <a:off x="640080" y="5715000"/>
            <a:ext cx="10881360" cy="54864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Worst D30: both cold cohorts at 0%, and they are the only scalable channels, so 0% is the structural ceiling.</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94A3B8"/>
                </a:solidFill>
                <a:latin typeface="Calibri" pitchFamily="34" charset="0"/>
                <a:ea typeface="Calibri" pitchFamily="34" charset="-122"/>
                <a:cs typeface="Calibri" pitchFamily="34" charset="-120"/>
              </a:rPr>
              <a:t>HIGHEST-LEVERAGE DROP-OFF</a:t>
            </a:r>
            <a:endParaRPr lang="en-US" sz="1200" dirty="0"/>
          </a:p>
        </p:txBody>
      </p:sp>
      <p:sp>
        <p:nvSpPr>
          <p:cNvPr id="3" name="Text 1"/>
          <p:cNvSpPr/>
          <p:nvPr/>
        </p:nvSpPr>
        <p:spPr>
          <a:xfrm>
            <a:off x="640080" y="822960"/>
            <a:ext cx="107899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Acquisition: no repeatable channel</a:t>
            </a:r>
            <a:endParaRPr lang="en-US" sz="3000" dirty="0"/>
          </a:p>
        </p:txBody>
      </p:sp>
      <p:sp>
        <p:nvSpPr>
          <p:cNvPr id="4" name="Shape 2"/>
          <p:cNvSpPr/>
          <p:nvPr/>
        </p:nvSpPr>
        <p:spPr>
          <a:xfrm>
            <a:off x="640080" y="1691640"/>
            <a:ext cx="10881360" cy="1097280"/>
          </a:xfrm>
          <a:prstGeom prst="roundRect">
            <a:avLst>
              <a:gd name="adj" fmla="val 6667"/>
            </a:avLst>
          </a:prstGeom>
          <a:solidFill>
            <a:srgbClr val="1E293B"/>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960120" y="1691640"/>
            <a:ext cx="10241280" cy="1097280"/>
          </a:xfrm>
          <a:prstGeom prst="rect">
            <a:avLst/>
          </a:prstGeom>
          <a:noFill/>
          <a:ln/>
        </p:spPr>
        <p:txBody>
          <a:bodyPr wrap="square" lIns="0" tIns="0" rIns="0" bIns="0" rtlCol="0" anchor="ctr"/>
          <a:lstStyle/>
          <a:p>
            <a:pPr indent="0" marL="0">
              <a:lnSpc>
                <a:spcPct val="104000"/>
              </a:lnSpc>
              <a:buNone/>
            </a:pPr>
            <a:r>
              <a:rPr lang="en-US" sz="1400" b="1" dirty="0">
                <a:solidFill>
                  <a:srgbClr val="FFFFFF"/>
                </a:solidFill>
                <a:latin typeface="Calibri" pitchFamily="34" charset="0"/>
                <a:ea typeface="Calibri" pitchFamily="34" charset="-122"/>
                <a:cs typeface="Calibri" pitchFamily="34" charset="-120"/>
              </a:rPr>
              <a:t>A +10pp gain here unlocks the whole funnel. </a:t>
            </a:r>
            <a:pPr indent="0" marL="0">
              <a:lnSpc>
                <a:spcPct val="104000"/>
              </a:lnSpc>
              <a:buNone/>
            </a:pPr>
            <a:r>
              <a:rPr lang="en-US" sz="1400" dirty="0">
                <a:solidFill>
                  <a:srgbClr val="EEF2FF"/>
                </a:solidFill>
                <a:latin typeface="Calibri" pitchFamily="34" charset="0"/>
                <a:ea typeface="Calibri" pitchFamily="34" charset="-122"/>
                <a:cs typeface="Calibri" pitchFamily="34" charset="-120"/>
              </a:rPr>
              <a:t>On a worked 40-prospect batch, a 10% reply rate yields ~4 discovery calls and ~1 paid PoC, repeatably. The same gain on any healthy downstream stage multiplies near-zero volume.</a:t>
            </a:r>
            <a:endParaRPr lang="en-US" sz="1400" dirty="0"/>
          </a:p>
        </p:txBody>
      </p:sp>
      <p:sp>
        <p:nvSpPr>
          <p:cNvPr id="6" name="Text 4"/>
          <p:cNvSpPr/>
          <p:nvPr/>
        </p:nvSpPr>
        <p:spPr>
          <a:xfrm>
            <a:off x="640080" y="3063240"/>
            <a:ext cx="7315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Root-cause hypotheses</a:t>
            </a:r>
            <a:endParaRPr lang="en-US" sz="1800" dirty="0"/>
          </a:p>
        </p:txBody>
      </p:sp>
      <p:sp>
        <p:nvSpPr>
          <p:cNvPr id="7" name="Shape 5"/>
          <p:cNvSpPr/>
          <p:nvPr/>
        </p:nvSpPr>
        <p:spPr>
          <a:xfrm>
            <a:off x="640080" y="3520440"/>
            <a:ext cx="457200" cy="457200"/>
          </a:xfrm>
          <a:prstGeom prst="ellipse">
            <a:avLst/>
          </a:prstGeom>
          <a:solidFill>
            <a:srgbClr val="4F46E5"/>
          </a:solidFill>
          <a:ln/>
        </p:spPr>
      </p:sp>
      <p:sp>
        <p:nvSpPr>
          <p:cNvPr id="8" name="Text 6"/>
          <p:cNvSpPr/>
          <p:nvPr/>
        </p:nvSpPr>
        <p:spPr>
          <a:xfrm>
            <a:off x="640080" y="3520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325880" y="3474720"/>
            <a:ext cx="10104120" cy="868680"/>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Stale list vs. pivoted ICP   </a:t>
            </a:r>
            <a:pPr indent="0" marL="0">
              <a:lnSpc>
                <a:spcPct val="100000"/>
              </a:lnSpc>
              <a:buNone/>
            </a:pPr>
            <a:r>
              <a:rPr lang="en-US" sz="1250" dirty="0">
                <a:solidFill>
                  <a:srgbClr val="94A3B8"/>
                </a:solidFill>
                <a:latin typeface="Calibri" pitchFamily="34" charset="0"/>
                <a:ea typeface="Calibri" pitchFamily="34" charset="-122"/>
                <a:cs typeface="Calibri" pitchFamily="34" charset="-120"/>
              </a:rPr>
              <a:t>The 85 are chiro/derm/PT (pre-31 May ICP). The validated ICP is now physicians 0 to 12 months post-launch. Most of the list is off-ICP, and the copy predates the $20K hook.</a:t>
            </a:r>
            <a:endParaRPr lang="en-US" sz="1450" dirty="0"/>
          </a:p>
        </p:txBody>
      </p:sp>
      <p:sp>
        <p:nvSpPr>
          <p:cNvPr id="10" name="Shape 8"/>
          <p:cNvSpPr/>
          <p:nvPr/>
        </p:nvSpPr>
        <p:spPr>
          <a:xfrm>
            <a:off x="640080" y="4480560"/>
            <a:ext cx="457200" cy="457200"/>
          </a:xfrm>
          <a:prstGeom prst="ellipse">
            <a:avLst/>
          </a:prstGeom>
          <a:solidFill>
            <a:srgbClr val="4F46E5"/>
          </a:solidFill>
          <a:ln/>
        </p:spPr>
      </p:sp>
      <p:sp>
        <p:nvSpPr>
          <p:cNvPr id="11" name="Text 9"/>
          <p:cNvSpPr/>
          <p:nvPr/>
        </p:nvSpPr>
        <p:spPr>
          <a:xfrm>
            <a:off x="640080" y="4480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325880" y="4434840"/>
            <a:ext cx="10104120" cy="868680"/>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100% interruption, no proof   </a:t>
            </a:r>
            <a:pPr indent="0" marL="0">
              <a:lnSpc>
                <a:spcPct val="100000"/>
              </a:lnSpc>
              <a:buNone/>
            </a:pPr>
            <a:r>
              <a:rPr lang="en-US" sz="1250" dirty="0">
                <a:solidFill>
                  <a:srgbClr val="94A3B8"/>
                </a:solidFill>
                <a:latin typeface="Calibri" pitchFamily="34" charset="0"/>
                <a:ea typeface="Calibri" pitchFamily="34" charset="-122"/>
                <a:cs typeface="Calibri" pitchFamily="34" charset="-120"/>
              </a:rPr>
              <a:t>Generic '15 min of advice' cold DMs with no credibility artifact, to an audience that distrusts generic HealthTech outreach.</a:t>
            </a:r>
            <a:endParaRPr lang="en-US" sz="1450" dirty="0"/>
          </a:p>
        </p:txBody>
      </p:sp>
      <p:sp>
        <p:nvSpPr>
          <p:cNvPr id="13" name="Shape 11"/>
          <p:cNvSpPr/>
          <p:nvPr/>
        </p:nvSpPr>
        <p:spPr>
          <a:xfrm>
            <a:off x="640080" y="5440680"/>
            <a:ext cx="457200" cy="457200"/>
          </a:xfrm>
          <a:prstGeom prst="ellipse">
            <a:avLst/>
          </a:prstGeom>
          <a:solidFill>
            <a:srgbClr val="4F46E5"/>
          </a:solidFill>
          <a:ln/>
        </p:spPr>
      </p:sp>
      <p:sp>
        <p:nvSpPr>
          <p:cNvPr id="14" name="Text 12"/>
          <p:cNvSpPr/>
          <p:nvPr/>
        </p:nvSpPr>
        <p:spPr>
          <a:xfrm>
            <a:off x="640080" y="5440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p:nvPr/>
        </p:nvSpPr>
        <p:spPr>
          <a:xfrm>
            <a:off x="1325880" y="5394960"/>
            <a:ext cx="10104120" cy="868680"/>
          </a:xfrm>
          <a:prstGeom prst="rect">
            <a:avLst/>
          </a:prstGeom>
          <a:noFill/>
          <a:ln/>
        </p:spPr>
        <p:txBody>
          <a:bodyPr wrap="square" lIns="0" tIns="0" rIns="0" bIns="0" rtlCol="0" anchor="ctr"/>
          <a:lstStyle/>
          <a:p>
            <a:pPr indent="0" marL="0">
              <a:lnSpc>
                <a:spcPct val="100000"/>
              </a:lnSpc>
              <a:buNone/>
            </a:pPr>
            <a:r>
              <a:rPr lang="en-US" sz="1450" b="1" dirty="0">
                <a:solidFill>
                  <a:srgbClr val="FFFFFF"/>
                </a:solidFill>
                <a:latin typeface="Calibri" pitchFamily="34" charset="0"/>
                <a:ea typeface="Calibri" pitchFamily="34" charset="-122"/>
                <a:cs typeface="Calibri" pitchFamily="34" charset="-120"/>
              </a:rPr>
              <a:t>Under-powered volume   </a:t>
            </a:r>
            <a:pPr indent="0" marL="0">
              <a:lnSpc>
                <a:spcPct val="100000"/>
              </a:lnSpc>
              <a:buNone/>
            </a:pPr>
            <a:r>
              <a:rPr lang="en-US" sz="1250" dirty="0">
                <a:solidFill>
                  <a:srgbClr val="94A3B8"/>
                </a:solidFill>
                <a:latin typeface="Calibri" pitchFamily="34" charset="0"/>
                <a:ea typeface="Calibri" pitchFamily="34" charset="-122"/>
                <a:cs typeface="Calibri" pitchFamily="34" charset="-120"/>
              </a:rPr>
              <a:t>Only 8 ever contacted, none since May, 3 touches to 2 users. That is an anecdote, not a channel test.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INTERVENTION RECOMMENDATIONS</a:t>
            </a:r>
            <a:endParaRPr lang="en-US" sz="1200" dirty="0"/>
          </a:p>
        </p:txBody>
      </p:sp>
      <p:sp>
        <p:nvSpPr>
          <p:cNvPr id="3" name="Text 1"/>
          <p:cNvSpPr/>
          <p:nvPr/>
        </p:nvSpPr>
        <p:spPr>
          <a:xfrm>
            <a:off x="640080" y="640080"/>
            <a:ext cx="1088136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Three moves on acquisition, quick wins first</a:t>
            </a:r>
            <a:endParaRPr lang="en-US" sz="3000" dirty="0"/>
          </a:p>
        </p:txBody>
      </p:sp>
      <p:sp>
        <p:nvSpPr>
          <p:cNvPr id="4" name="Shape 2"/>
          <p:cNvSpPr/>
          <p:nvPr/>
        </p:nvSpPr>
        <p:spPr>
          <a:xfrm>
            <a:off x="640080" y="1371600"/>
            <a:ext cx="1088136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914400" y="1783080"/>
            <a:ext cx="548640" cy="548640"/>
          </a:xfrm>
          <a:prstGeom prst="ellipse">
            <a:avLst/>
          </a:prstGeom>
          <a:solidFill>
            <a:srgbClr val="0F172A"/>
          </a:solidFill>
          <a:ln/>
        </p:spPr>
      </p:sp>
      <p:sp>
        <p:nvSpPr>
          <p:cNvPr id="6" name="Text 4"/>
          <p:cNvSpPr/>
          <p:nvPr/>
        </p:nvSpPr>
        <p:spPr>
          <a:xfrm>
            <a:off x="914400"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691640" y="1517904"/>
            <a:ext cx="6446520" cy="50292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Re-segment to post-pivot ICP, relaunch with the validated hook</a:t>
            </a:r>
            <a:endParaRPr lang="en-US" sz="1550" dirty="0"/>
          </a:p>
        </p:txBody>
      </p:sp>
      <p:sp>
        <p:nvSpPr>
          <p:cNvPr id="8" name="Text 6"/>
          <p:cNvSpPr/>
          <p:nvPr/>
        </p:nvSpPr>
        <p:spPr>
          <a:xfrm>
            <a:off x="1691640" y="1975104"/>
            <a:ext cx="6446520" cy="685800"/>
          </a:xfrm>
          <a:prstGeom prst="rect">
            <a:avLst/>
          </a:prstGeom>
          <a:noFill/>
          <a:ln/>
        </p:spPr>
        <p:txBody>
          <a:bodyPr wrap="square" lIns="0" tIns="0" rIns="0" bIns="0" rtlCol="0" anchor="t"/>
          <a:lstStyle/>
          <a:p>
            <a:pPr indent="0" marL="0">
              <a:lnSpc>
                <a:spcPct val="98000"/>
              </a:lnSpc>
              <a:buNone/>
            </a:pPr>
            <a:r>
              <a:rPr lang="en-US" sz="1100" b="1" dirty="0">
                <a:solidFill>
                  <a:srgbClr val="334155"/>
                </a:solidFill>
                <a:latin typeface="Calibri" pitchFamily="34" charset="0"/>
                <a:ea typeface="Calibri" pitchFamily="34" charset="-122"/>
                <a:cs typeface="Calibri" pitchFamily="34" charset="-120"/>
              </a:rPr>
              <a:t>What:  </a:t>
            </a:r>
            <a:pPr indent="0" marL="0">
              <a:lnSpc>
                <a:spcPct val="98000"/>
              </a:lnSpc>
              <a:buNone/>
            </a:pPr>
            <a:r>
              <a:rPr lang="en-US" sz="1100" dirty="0">
                <a:solidFill>
                  <a:srgbClr val="64748B"/>
                </a:solidFill>
                <a:latin typeface="Calibri" pitchFamily="34" charset="0"/>
                <a:ea typeface="Calibri" pitchFamily="34" charset="-122"/>
                <a:cs typeface="Calibri" pitchFamily="34" charset="-120"/>
              </a:rPr>
              <a:t>Replace the off-ICP list with 25 to 40 current-ICP physicians. Rewrite the 3-touch sequence around 'We find $20K your clinic is already earning but not collecting, or you pay nothing' plus the brother story.</a:t>
            </a:r>
            <a:endParaRPr lang="en-US" sz="1100" dirty="0"/>
          </a:p>
        </p:txBody>
      </p:sp>
      <p:sp>
        <p:nvSpPr>
          <p:cNvPr id="9" name="Shape 7"/>
          <p:cNvSpPr/>
          <p:nvPr/>
        </p:nvSpPr>
        <p:spPr>
          <a:xfrm>
            <a:off x="8366760" y="1536192"/>
            <a:ext cx="2971800" cy="1042416"/>
          </a:xfrm>
          <a:prstGeom prst="roundRect">
            <a:avLst>
              <a:gd name="adj" fmla="val 7018"/>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0" name="Text 8"/>
          <p:cNvSpPr/>
          <p:nvPr/>
        </p:nvSpPr>
        <p:spPr>
          <a:xfrm>
            <a:off x="8503920" y="1609344"/>
            <a:ext cx="2697480" cy="228600"/>
          </a:xfrm>
          <a:prstGeom prst="rect">
            <a:avLst/>
          </a:prstGeom>
          <a:noFill/>
          <a:ln/>
        </p:spPr>
        <p:txBody>
          <a:bodyPr wrap="square" lIns="0" tIns="0" rIns="0" bIns="0" rtlCol="0" anchor="ctr"/>
          <a:lstStyle/>
          <a:p>
            <a:pPr indent="0" marL="0">
              <a:buNone/>
            </a:pPr>
            <a:r>
              <a:rPr lang="en-US" sz="900" b="1" spc="100" kern="0" dirty="0">
                <a:solidFill>
                  <a:srgbClr val="4F46E5"/>
                </a:solidFill>
                <a:latin typeface="Calibri" pitchFamily="34" charset="0"/>
                <a:ea typeface="Calibri" pitchFamily="34" charset="-122"/>
                <a:cs typeface="Calibri" pitchFamily="34" charset="-120"/>
              </a:rPr>
              <a:t>EXPECTED IMPACT</a:t>
            </a:r>
            <a:endParaRPr lang="en-US" sz="900" dirty="0"/>
          </a:p>
        </p:txBody>
      </p:sp>
      <p:sp>
        <p:nvSpPr>
          <p:cNvPr id="11" name="Text 9"/>
          <p:cNvSpPr/>
          <p:nvPr/>
        </p:nvSpPr>
        <p:spPr>
          <a:xfrm>
            <a:off x="8503920" y="1828800"/>
            <a:ext cx="2697480" cy="713232"/>
          </a:xfrm>
          <a:prstGeom prst="rect">
            <a:avLst/>
          </a:prstGeom>
          <a:noFill/>
          <a:ln/>
        </p:spPr>
        <p:txBody>
          <a:bodyPr wrap="square" lIns="0" tIns="0" rIns="0" bIns="0" rtlCol="0" anchor="ctr"/>
          <a:lstStyle/>
          <a:p>
            <a:pPr indent="0" marL="0">
              <a:lnSpc>
                <a:spcPct val="96000"/>
              </a:lnSpc>
              <a:buNone/>
            </a:pPr>
            <a:r>
              <a:rPr lang="en-US" sz="1000" dirty="0">
                <a:solidFill>
                  <a:srgbClr val="334155"/>
                </a:solidFill>
                <a:latin typeface="Calibri" pitchFamily="34" charset="0"/>
                <a:ea typeface="Calibri" pitchFamily="34" charset="-122"/>
                <a:cs typeface="Calibri" pitchFamily="34" charset="-120"/>
              </a:rPr>
              <a:t>From 0% toward 8 to 15% reply yields 3 to 6 discovery calls per 40-prospect batch, ~1 non-family paid PoC at the current 20% close.</a:t>
            </a:r>
            <a:endParaRPr lang="en-US" sz="1000" dirty="0"/>
          </a:p>
        </p:txBody>
      </p:sp>
      <p:sp>
        <p:nvSpPr>
          <p:cNvPr id="12" name="Shape 10"/>
          <p:cNvSpPr/>
          <p:nvPr/>
        </p:nvSpPr>
        <p:spPr>
          <a:xfrm>
            <a:off x="1691640" y="1517904"/>
            <a:ext cx="0" cy="0"/>
          </a:xfrm>
          <a:prstGeom prst="roundRect">
            <a:avLst/>
          </a:prstGeom>
          <a:solidFill>
            <a:srgbClr val="FFFFFF"/>
          </a:solidFill>
          <a:ln/>
        </p:spPr>
      </p:sp>
      <p:sp>
        <p:nvSpPr>
          <p:cNvPr id="13" name="Shape 11"/>
          <p:cNvSpPr/>
          <p:nvPr/>
        </p:nvSpPr>
        <p:spPr>
          <a:xfrm>
            <a:off x="640080" y="2880360"/>
            <a:ext cx="1088136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4" name="Shape 12"/>
          <p:cNvSpPr/>
          <p:nvPr/>
        </p:nvSpPr>
        <p:spPr>
          <a:xfrm>
            <a:off x="914400" y="3291840"/>
            <a:ext cx="548640" cy="548640"/>
          </a:xfrm>
          <a:prstGeom prst="ellipse">
            <a:avLst/>
          </a:prstGeom>
          <a:solidFill>
            <a:srgbClr val="0F172A"/>
          </a:solidFill>
          <a:ln/>
        </p:spPr>
      </p:sp>
      <p:sp>
        <p:nvSpPr>
          <p:cNvPr id="15" name="Text 13"/>
          <p:cNvSpPr/>
          <p:nvPr/>
        </p:nvSpPr>
        <p:spPr>
          <a:xfrm>
            <a:off x="914400" y="32918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6" name="Text 14"/>
          <p:cNvSpPr/>
          <p:nvPr/>
        </p:nvSpPr>
        <p:spPr>
          <a:xfrm>
            <a:off x="1691640" y="3026664"/>
            <a:ext cx="6446520" cy="50292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Ship one value-first content piece into a physician community</a:t>
            </a:r>
            <a:endParaRPr lang="en-US" sz="1550" dirty="0"/>
          </a:p>
        </p:txBody>
      </p:sp>
      <p:sp>
        <p:nvSpPr>
          <p:cNvPr id="17" name="Text 15"/>
          <p:cNvSpPr/>
          <p:nvPr/>
        </p:nvSpPr>
        <p:spPr>
          <a:xfrm>
            <a:off x="1691640" y="3483864"/>
            <a:ext cx="6446520" cy="685800"/>
          </a:xfrm>
          <a:prstGeom prst="rect">
            <a:avLst/>
          </a:prstGeom>
          <a:noFill/>
          <a:ln/>
        </p:spPr>
        <p:txBody>
          <a:bodyPr wrap="square" lIns="0" tIns="0" rIns="0" bIns="0" rtlCol="0" anchor="t"/>
          <a:lstStyle/>
          <a:p>
            <a:pPr indent="0" marL="0">
              <a:lnSpc>
                <a:spcPct val="98000"/>
              </a:lnSpc>
              <a:buNone/>
            </a:pPr>
            <a:r>
              <a:rPr lang="en-US" sz="1100" b="1" dirty="0">
                <a:solidFill>
                  <a:srgbClr val="334155"/>
                </a:solidFill>
                <a:latin typeface="Calibri" pitchFamily="34" charset="0"/>
                <a:ea typeface="Calibri" pitchFamily="34" charset="-122"/>
                <a:cs typeface="Calibri" pitchFamily="34" charset="-120"/>
              </a:rPr>
              <a:t>What:  </a:t>
            </a:r>
            <a:pPr indent="0" marL="0">
              <a:lnSpc>
                <a:spcPct val="98000"/>
              </a:lnSpc>
              <a:buNone/>
            </a:pPr>
            <a:r>
              <a:rPr lang="en-US" sz="1100" dirty="0">
                <a:solidFill>
                  <a:srgbClr val="64748B"/>
                </a:solidFill>
                <a:latin typeface="Calibri" pitchFamily="34" charset="0"/>
                <a:ea typeface="Calibri" pitchFamily="34" charset="-122"/>
                <a:cs typeface="Calibri" pitchFamily="34" charset="-120"/>
              </a:rPr>
              <a:t>Publish the $115 vs $290 reimbursement teardown, or 'the incorporation sequence that cost my brother $200K', into one targeted community with a soft CTA to the estimator.</a:t>
            </a:r>
            <a:endParaRPr lang="en-US" sz="1100" dirty="0"/>
          </a:p>
        </p:txBody>
      </p:sp>
      <p:sp>
        <p:nvSpPr>
          <p:cNvPr id="18" name="Shape 16"/>
          <p:cNvSpPr/>
          <p:nvPr/>
        </p:nvSpPr>
        <p:spPr>
          <a:xfrm>
            <a:off x="8366760" y="3044952"/>
            <a:ext cx="2971800" cy="1042416"/>
          </a:xfrm>
          <a:prstGeom prst="roundRect">
            <a:avLst>
              <a:gd name="adj" fmla="val 7018"/>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8503920" y="3118104"/>
            <a:ext cx="2697480" cy="228600"/>
          </a:xfrm>
          <a:prstGeom prst="rect">
            <a:avLst/>
          </a:prstGeom>
          <a:noFill/>
          <a:ln/>
        </p:spPr>
        <p:txBody>
          <a:bodyPr wrap="square" lIns="0" tIns="0" rIns="0" bIns="0" rtlCol="0" anchor="ctr"/>
          <a:lstStyle/>
          <a:p>
            <a:pPr indent="0" marL="0">
              <a:buNone/>
            </a:pPr>
            <a:r>
              <a:rPr lang="en-US" sz="900" b="1" spc="100" kern="0" dirty="0">
                <a:solidFill>
                  <a:srgbClr val="4F46E5"/>
                </a:solidFill>
                <a:latin typeface="Calibri" pitchFamily="34" charset="0"/>
                <a:ea typeface="Calibri" pitchFamily="34" charset="-122"/>
                <a:cs typeface="Calibri" pitchFamily="34" charset="-120"/>
              </a:rPr>
              <a:t>EXPECTED IMPACT</a:t>
            </a:r>
            <a:endParaRPr lang="en-US" sz="900" dirty="0"/>
          </a:p>
        </p:txBody>
      </p:sp>
      <p:sp>
        <p:nvSpPr>
          <p:cNvPr id="20" name="Text 18"/>
          <p:cNvSpPr/>
          <p:nvPr/>
        </p:nvSpPr>
        <p:spPr>
          <a:xfrm>
            <a:off x="8503920" y="3337560"/>
            <a:ext cx="2697480" cy="713232"/>
          </a:xfrm>
          <a:prstGeom prst="rect">
            <a:avLst/>
          </a:prstGeom>
          <a:noFill/>
          <a:ln/>
        </p:spPr>
        <p:txBody>
          <a:bodyPr wrap="square" lIns="0" tIns="0" rIns="0" bIns="0" rtlCol="0" anchor="ctr"/>
          <a:lstStyle/>
          <a:p>
            <a:pPr indent="0" marL="0">
              <a:lnSpc>
                <a:spcPct val="96000"/>
              </a:lnSpc>
              <a:buNone/>
            </a:pPr>
            <a:r>
              <a:rPr lang="en-US" sz="1000" dirty="0">
                <a:solidFill>
                  <a:srgbClr val="334155"/>
                </a:solidFill>
                <a:latin typeface="Calibri" pitchFamily="34" charset="0"/>
                <a:ea typeface="Calibri" pitchFamily="34" charset="-122"/>
                <a:cs typeface="Calibri" pitchFamily="34" charset="-120"/>
              </a:rPr>
              <a:t>Founder's own bar of 5+ inbound DMs from one post. Inbound retains far better than 0% cold outbound. Proves a repeatable channel exists.</a:t>
            </a:r>
            <a:endParaRPr lang="en-US" sz="1000" dirty="0"/>
          </a:p>
        </p:txBody>
      </p:sp>
      <p:sp>
        <p:nvSpPr>
          <p:cNvPr id="21" name="Shape 19"/>
          <p:cNvSpPr/>
          <p:nvPr/>
        </p:nvSpPr>
        <p:spPr>
          <a:xfrm>
            <a:off x="1691640" y="3026664"/>
            <a:ext cx="0" cy="0"/>
          </a:xfrm>
          <a:prstGeom prst="roundRect">
            <a:avLst/>
          </a:prstGeom>
          <a:solidFill>
            <a:srgbClr val="FFFFFF"/>
          </a:solidFill>
          <a:ln/>
        </p:spPr>
      </p:sp>
      <p:sp>
        <p:nvSpPr>
          <p:cNvPr id="22" name="Shape 20"/>
          <p:cNvSpPr/>
          <p:nvPr/>
        </p:nvSpPr>
        <p:spPr>
          <a:xfrm>
            <a:off x="640080" y="4389120"/>
            <a:ext cx="1088136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23" name="Shape 21"/>
          <p:cNvSpPr/>
          <p:nvPr/>
        </p:nvSpPr>
        <p:spPr>
          <a:xfrm>
            <a:off x="914400" y="4800600"/>
            <a:ext cx="548640" cy="548640"/>
          </a:xfrm>
          <a:prstGeom prst="ellipse">
            <a:avLst/>
          </a:prstGeom>
          <a:solidFill>
            <a:srgbClr val="0F172A"/>
          </a:solidFill>
          <a:ln/>
        </p:spPr>
      </p:sp>
      <p:sp>
        <p:nvSpPr>
          <p:cNvPr id="24" name="Text 22"/>
          <p:cNvSpPr/>
          <p:nvPr/>
        </p:nvSpPr>
        <p:spPr>
          <a:xfrm>
            <a:off x="914400" y="48006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5" name="Text 23"/>
          <p:cNvSpPr/>
          <p:nvPr/>
        </p:nvSpPr>
        <p:spPr>
          <a:xfrm>
            <a:off x="1691640" y="4535424"/>
            <a:ext cx="6446520" cy="50292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Productize the referral engine that already converts at 71%</a:t>
            </a:r>
            <a:endParaRPr lang="en-US" sz="1550" dirty="0"/>
          </a:p>
        </p:txBody>
      </p:sp>
      <p:sp>
        <p:nvSpPr>
          <p:cNvPr id="26" name="Text 24"/>
          <p:cNvSpPr/>
          <p:nvPr/>
        </p:nvSpPr>
        <p:spPr>
          <a:xfrm>
            <a:off x="1691640" y="4992624"/>
            <a:ext cx="6446520" cy="685800"/>
          </a:xfrm>
          <a:prstGeom prst="rect">
            <a:avLst/>
          </a:prstGeom>
          <a:noFill/>
          <a:ln/>
        </p:spPr>
        <p:txBody>
          <a:bodyPr wrap="square" lIns="0" tIns="0" rIns="0" bIns="0" rtlCol="0" anchor="t"/>
          <a:lstStyle/>
          <a:p>
            <a:pPr indent="0" marL="0">
              <a:lnSpc>
                <a:spcPct val="98000"/>
              </a:lnSpc>
              <a:buNone/>
            </a:pPr>
            <a:r>
              <a:rPr lang="en-US" sz="1100" b="1" dirty="0">
                <a:solidFill>
                  <a:srgbClr val="334155"/>
                </a:solidFill>
                <a:latin typeface="Calibri" pitchFamily="34" charset="0"/>
                <a:ea typeface="Calibri" pitchFamily="34" charset="-122"/>
                <a:cs typeface="Calibri" pitchFamily="34" charset="-120"/>
              </a:rPr>
              <a:t>What:  </a:t>
            </a:r>
            <a:pPr indent="0" marL="0">
              <a:lnSpc>
                <a:spcPct val="98000"/>
              </a:lnSpc>
              <a:buNone/>
            </a:pPr>
            <a:r>
              <a:rPr lang="en-US" sz="1100" dirty="0">
                <a:solidFill>
                  <a:srgbClr val="64748B"/>
                </a:solidFill>
                <a:latin typeface="Calibri" pitchFamily="34" charset="0"/>
                <a:ea typeface="Calibri" pitchFamily="34" charset="-122"/>
                <a:cs typeface="Calibri" pitchFamily="34" charset="-120"/>
              </a:rPr>
              <a:t>Make a structured 2-name referral ask standard after every discovery call and PoC. Reward design partners per qualified intro. Track it.</a:t>
            </a:r>
            <a:endParaRPr lang="en-US" sz="1100" dirty="0"/>
          </a:p>
        </p:txBody>
      </p:sp>
      <p:sp>
        <p:nvSpPr>
          <p:cNvPr id="27" name="Shape 25"/>
          <p:cNvSpPr/>
          <p:nvPr/>
        </p:nvSpPr>
        <p:spPr>
          <a:xfrm>
            <a:off x="8366760" y="4553712"/>
            <a:ext cx="2971800" cy="1042416"/>
          </a:xfrm>
          <a:prstGeom prst="roundRect">
            <a:avLst>
              <a:gd name="adj" fmla="val 7018"/>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28" name="Text 26"/>
          <p:cNvSpPr/>
          <p:nvPr/>
        </p:nvSpPr>
        <p:spPr>
          <a:xfrm>
            <a:off x="8503920" y="4626864"/>
            <a:ext cx="2697480" cy="228600"/>
          </a:xfrm>
          <a:prstGeom prst="rect">
            <a:avLst/>
          </a:prstGeom>
          <a:noFill/>
          <a:ln/>
        </p:spPr>
        <p:txBody>
          <a:bodyPr wrap="square" lIns="0" tIns="0" rIns="0" bIns="0" rtlCol="0" anchor="ctr"/>
          <a:lstStyle/>
          <a:p>
            <a:pPr indent="0" marL="0">
              <a:buNone/>
            </a:pPr>
            <a:r>
              <a:rPr lang="en-US" sz="900" b="1" spc="100" kern="0" dirty="0">
                <a:solidFill>
                  <a:srgbClr val="4F46E5"/>
                </a:solidFill>
                <a:latin typeface="Calibri" pitchFamily="34" charset="0"/>
                <a:ea typeface="Calibri" pitchFamily="34" charset="-122"/>
                <a:cs typeface="Calibri" pitchFamily="34" charset="-120"/>
              </a:rPr>
              <a:t>EXPECTED IMPACT</a:t>
            </a:r>
            <a:endParaRPr lang="en-US" sz="900" dirty="0"/>
          </a:p>
        </p:txBody>
      </p:sp>
      <p:sp>
        <p:nvSpPr>
          <p:cNvPr id="29" name="Text 27"/>
          <p:cNvSpPr/>
          <p:nvPr/>
        </p:nvSpPr>
        <p:spPr>
          <a:xfrm>
            <a:off x="8503920" y="4846320"/>
            <a:ext cx="2697480" cy="713232"/>
          </a:xfrm>
          <a:prstGeom prst="rect">
            <a:avLst/>
          </a:prstGeom>
          <a:noFill/>
          <a:ln/>
        </p:spPr>
        <p:txBody>
          <a:bodyPr wrap="square" lIns="0" tIns="0" rIns="0" bIns="0" rtlCol="0" anchor="ctr"/>
          <a:lstStyle/>
          <a:p>
            <a:pPr indent="0" marL="0">
              <a:lnSpc>
                <a:spcPct val="96000"/>
              </a:lnSpc>
              <a:buNone/>
            </a:pPr>
            <a:r>
              <a:rPr lang="en-US" sz="1000" dirty="0">
                <a:solidFill>
                  <a:srgbClr val="334155"/>
                </a:solidFill>
                <a:latin typeface="Calibri" pitchFamily="34" charset="0"/>
                <a:ea typeface="Calibri" pitchFamily="34" charset="-122"/>
                <a:cs typeface="Calibri" pitchFamily="34" charset="-120"/>
              </a:rPr>
              <a:t>Each activated physician yielding ~1.5 qualified intros compounds the only channel that works and cuts cold-acquisition dependence.</a:t>
            </a:r>
            <a:endParaRPr lang="en-US" sz="1000" dirty="0"/>
          </a:p>
        </p:txBody>
      </p:sp>
      <p:sp>
        <p:nvSpPr>
          <p:cNvPr id="30" name="Shape 28"/>
          <p:cNvSpPr/>
          <p:nvPr/>
        </p:nvSpPr>
        <p:spPr>
          <a:xfrm>
            <a:off x="1691640" y="4535424"/>
            <a:ext cx="0" cy="0"/>
          </a:xfrm>
          <a:prstGeom prst="roundRect">
            <a:avLst/>
          </a:prstGeom>
          <a:solidFill>
            <a:srgbClr val="FFFFFF"/>
          </a:solidFill>
          <a:ln/>
        </p:spPr>
      </p:sp>
      <p:sp>
        <p:nvSpPr>
          <p:cNvPr id="31" name="Text 29"/>
          <p:cNvSpPr/>
          <p:nvPr/>
        </p:nvSpPr>
        <p:spPr>
          <a:xfrm>
            <a:off x="640080" y="6172200"/>
            <a:ext cx="10881360" cy="50292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Parallel hard unblock:  </a:t>
            </a:r>
            <a:pPr indent="0" marL="0">
              <a:buNone/>
            </a:pPr>
            <a:r>
              <a:rPr lang="en-US" sz="1250" dirty="0">
                <a:solidFill>
                  <a:srgbClr val="0F172A"/>
                </a:solidFill>
                <a:latin typeface="Calibri" pitchFamily="34" charset="0"/>
                <a:ea typeface="Calibri" pitchFamily="34" charset="-122"/>
                <a:cs typeface="Calibri" pitchFamily="34" charset="-120"/>
              </a:rPr>
              <a:t>Stand up Stripe + a business bank now (1 to 2 days) so the booked Saf session and the next 'yes' can be card-charged. This gates the #1 validation milestone but is infrastructure, not a funnel lever.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640080"/>
            <a:ext cx="1088136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Sequencing and secondary opportunities</a:t>
            </a:r>
            <a:endParaRPr lang="en-US" sz="3000" dirty="0"/>
          </a:p>
        </p:txBody>
      </p:sp>
      <p:sp>
        <p:nvSpPr>
          <p:cNvPr id="4" name="Text 2"/>
          <p:cNvSpPr/>
          <p:nvPr/>
        </p:nvSpPr>
        <p:spPr>
          <a:xfrm>
            <a:off x="640080" y="1371600"/>
            <a:ext cx="5486400" cy="36576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Sequencing</a:t>
            </a:r>
            <a:endParaRPr lang="en-US" sz="1800" dirty="0"/>
          </a:p>
        </p:txBody>
      </p:sp>
      <p:sp>
        <p:nvSpPr>
          <p:cNvPr id="5" name="Shape 3"/>
          <p:cNvSpPr/>
          <p:nvPr/>
        </p:nvSpPr>
        <p:spPr>
          <a:xfrm>
            <a:off x="640080" y="1783080"/>
            <a:ext cx="5349240" cy="1143000"/>
          </a:xfrm>
          <a:prstGeom prst="roundRect">
            <a:avLst>
              <a:gd name="adj" fmla="val 6400"/>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868680" y="2148840"/>
            <a:ext cx="411480" cy="411480"/>
          </a:xfrm>
          <a:prstGeom prst="ellipse">
            <a:avLst/>
          </a:prstGeom>
          <a:solidFill>
            <a:srgbClr val="10B981"/>
          </a:solidFill>
          <a:ln/>
        </p:spPr>
      </p:sp>
      <p:sp>
        <p:nvSpPr>
          <p:cNvPr id="7" name="Text 5"/>
          <p:cNvSpPr/>
          <p:nvPr/>
        </p:nvSpPr>
        <p:spPr>
          <a:xfrm>
            <a:off x="1417320" y="1947672"/>
            <a:ext cx="4297680" cy="32004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Week 1</a:t>
            </a:r>
            <a:endParaRPr lang="en-US" sz="1400" dirty="0"/>
          </a:p>
        </p:txBody>
      </p:sp>
      <p:sp>
        <p:nvSpPr>
          <p:cNvPr id="8" name="Text 6"/>
          <p:cNvSpPr/>
          <p:nvPr/>
        </p:nvSpPr>
        <p:spPr>
          <a:xfrm>
            <a:off x="1417320" y="2258568"/>
            <a:ext cx="4389120" cy="594360"/>
          </a:xfrm>
          <a:prstGeom prst="rect">
            <a:avLst/>
          </a:prstGeom>
          <a:noFill/>
          <a:ln/>
        </p:spPr>
        <p:txBody>
          <a:bodyPr wrap="square" lIns="0" tIns="0" rIns="0" bIns="0" rtlCol="0" anchor="ctr"/>
          <a:lstStyle/>
          <a:p>
            <a:pPr indent="0" marL="0">
              <a:lnSpc>
                <a:spcPct val="98000"/>
              </a:lnSpc>
              <a:buNone/>
            </a:pPr>
            <a:r>
              <a:rPr lang="en-US" sz="1150" dirty="0">
                <a:solidFill>
                  <a:srgbClr val="334155"/>
                </a:solidFill>
                <a:latin typeface="Calibri" pitchFamily="34" charset="0"/>
                <a:ea typeface="Calibri" pitchFamily="34" charset="-122"/>
                <a:cs typeface="Calibri" pitchFamily="34" charset="-120"/>
              </a:rPr>
              <a:t>Intervention 1 (relaunch ICP outreach) + Intervention 3 (referral system) in parallel. Both Low difficulty, reuse assets.</a:t>
            </a:r>
            <a:endParaRPr lang="en-US" sz="1150" dirty="0"/>
          </a:p>
        </p:txBody>
      </p:sp>
      <p:sp>
        <p:nvSpPr>
          <p:cNvPr id="9" name="Shape 7"/>
          <p:cNvSpPr/>
          <p:nvPr/>
        </p:nvSpPr>
        <p:spPr>
          <a:xfrm>
            <a:off x="640080" y="3063240"/>
            <a:ext cx="5349240" cy="1143000"/>
          </a:xfrm>
          <a:prstGeom prst="roundRect">
            <a:avLst>
              <a:gd name="adj" fmla="val 6400"/>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0" name="Shape 8"/>
          <p:cNvSpPr/>
          <p:nvPr/>
        </p:nvSpPr>
        <p:spPr>
          <a:xfrm>
            <a:off x="868680" y="3429000"/>
            <a:ext cx="411480" cy="411480"/>
          </a:xfrm>
          <a:prstGeom prst="ellipse">
            <a:avLst/>
          </a:prstGeom>
          <a:solidFill>
            <a:srgbClr val="EF4444"/>
          </a:solidFill>
          <a:ln/>
        </p:spPr>
      </p:sp>
      <p:sp>
        <p:nvSpPr>
          <p:cNvPr id="11" name="Text 9"/>
          <p:cNvSpPr/>
          <p:nvPr/>
        </p:nvSpPr>
        <p:spPr>
          <a:xfrm>
            <a:off x="1417320" y="3227832"/>
            <a:ext cx="4297680" cy="32004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Day 1</a:t>
            </a:r>
            <a:endParaRPr lang="en-US" sz="1400" dirty="0"/>
          </a:p>
        </p:txBody>
      </p:sp>
      <p:sp>
        <p:nvSpPr>
          <p:cNvPr id="12" name="Text 10"/>
          <p:cNvSpPr/>
          <p:nvPr/>
        </p:nvSpPr>
        <p:spPr>
          <a:xfrm>
            <a:off x="1417320" y="3538728"/>
            <a:ext cx="4389120" cy="594360"/>
          </a:xfrm>
          <a:prstGeom prst="rect">
            <a:avLst/>
          </a:prstGeom>
          <a:noFill/>
          <a:ln/>
        </p:spPr>
        <p:txBody>
          <a:bodyPr wrap="square" lIns="0" tIns="0" rIns="0" bIns="0" rtlCol="0" anchor="ctr"/>
          <a:lstStyle/>
          <a:p>
            <a:pPr indent="0" marL="0">
              <a:lnSpc>
                <a:spcPct val="98000"/>
              </a:lnSpc>
              <a:buNone/>
            </a:pPr>
            <a:r>
              <a:rPr lang="en-US" sz="1150" dirty="0">
                <a:solidFill>
                  <a:srgbClr val="334155"/>
                </a:solidFill>
                <a:latin typeface="Calibri" pitchFamily="34" charset="0"/>
                <a:ea typeface="Calibri" pitchFamily="34" charset="-122"/>
                <a:cs typeface="Calibri" pitchFamily="34" charset="-120"/>
              </a:rPr>
              <a:t>Payment rails (Stripe + business bank) started in parallel. Unblocks every charge.</a:t>
            </a:r>
            <a:endParaRPr lang="en-US" sz="1150" dirty="0"/>
          </a:p>
        </p:txBody>
      </p:sp>
      <p:sp>
        <p:nvSpPr>
          <p:cNvPr id="13" name="Shape 11"/>
          <p:cNvSpPr/>
          <p:nvPr/>
        </p:nvSpPr>
        <p:spPr>
          <a:xfrm>
            <a:off x="640080" y="4343400"/>
            <a:ext cx="5349240" cy="1143000"/>
          </a:xfrm>
          <a:prstGeom prst="roundRect">
            <a:avLst>
              <a:gd name="adj" fmla="val 6400"/>
            </a:avLst>
          </a:prstGeom>
          <a:solidFill>
            <a:srgbClr val="F8FAFC"/>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4" name="Shape 12"/>
          <p:cNvSpPr/>
          <p:nvPr/>
        </p:nvSpPr>
        <p:spPr>
          <a:xfrm>
            <a:off x="868680" y="4709160"/>
            <a:ext cx="411480" cy="411480"/>
          </a:xfrm>
          <a:prstGeom prst="ellipse">
            <a:avLst/>
          </a:prstGeom>
          <a:solidFill>
            <a:srgbClr val="F59E0B"/>
          </a:solidFill>
          <a:ln/>
        </p:spPr>
      </p:sp>
      <p:sp>
        <p:nvSpPr>
          <p:cNvPr id="15" name="Text 13"/>
          <p:cNvSpPr/>
          <p:nvPr/>
        </p:nvSpPr>
        <p:spPr>
          <a:xfrm>
            <a:off x="1417320" y="4507992"/>
            <a:ext cx="4297680" cy="32004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Weeks 2-3</a:t>
            </a:r>
            <a:endParaRPr lang="en-US" sz="1400" dirty="0"/>
          </a:p>
        </p:txBody>
      </p:sp>
      <p:sp>
        <p:nvSpPr>
          <p:cNvPr id="16" name="Text 14"/>
          <p:cNvSpPr/>
          <p:nvPr/>
        </p:nvSpPr>
        <p:spPr>
          <a:xfrm>
            <a:off x="1417320" y="4818888"/>
            <a:ext cx="4389120" cy="594360"/>
          </a:xfrm>
          <a:prstGeom prst="rect">
            <a:avLst/>
          </a:prstGeom>
          <a:noFill/>
          <a:ln/>
        </p:spPr>
        <p:txBody>
          <a:bodyPr wrap="square" lIns="0" tIns="0" rIns="0" bIns="0" rtlCol="0" anchor="ctr"/>
          <a:lstStyle/>
          <a:p>
            <a:pPr indent="0" marL="0">
              <a:lnSpc>
                <a:spcPct val="98000"/>
              </a:lnSpc>
              <a:buNone/>
            </a:pPr>
            <a:r>
              <a:rPr lang="en-US" sz="1150" dirty="0">
                <a:solidFill>
                  <a:srgbClr val="334155"/>
                </a:solidFill>
                <a:latin typeface="Calibri" pitchFamily="34" charset="0"/>
                <a:ea typeface="Calibri" pitchFamily="34" charset="-122"/>
                <a:cs typeface="Calibri" pitchFamily="34" charset="-120"/>
              </a:rPr>
              <a:t>Intervention 2 (value-first content). Medium difficulty, the real channel-existence proof.</a:t>
            </a:r>
            <a:endParaRPr lang="en-US" sz="1150" dirty="0"/>
          </a:p>
        </p:txBody>
      </p:sp>
      <p:sp>
        <p:nvSpPr>
          <p:cNvPr id="17" name="Text 15"/>
          <p:cNvSpPr/>
          <p:nvPr/>
        </p:nvSpPr>
        <p:spPr>
          <a:xfrm>
            <a:off x="6355080" y="1371600"/>
            <a:ext cx="5486400" cy="36576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Secondary opportunities</a:t>
            </a:r>
            <a:endParaRPr lang="en-US" sz="1800" dirty="0"/>
          </a:p>
        </p:txBody>
      </p:sp>
      <p:sp>
        <p:nvSpPr>
          <p:cNvPr id="18" name="Shape 16"/>
          <p:cNvSpPr/>
          <p:nvPr/>
        </p:nvSpPr>
        <p:spPr>
          <a:xfrm>
            <a:off x="6355080" y="1783080"/>
            <a:ext cx="5166360" cy="1783080"/>
          </a:xfrm>
          <a:prstGeom prst="roundRect">
            <a:avLst>
              <a:gd name="adj" fmla="val 4103"/>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6583680" y="1965960"/>
            <a:ext cx="914400" cy="502920"/>
          </a:xfrm>
          <a:prstGeom prst="rect">
            <a:avLst/>
          </a:prstGeom>
          <a:noFill/>
          <a:ln/>
        </p:spPr>
        <p:txBody>
          <a:bodyPr wrap="square" lIns="0" tIns="0" rIns="0" bIns="0" rtlCol="0" anchor="ctr"/>
          <a:lstStyle/>
          <a:p>
            <a:pPr indent="0" marL="0">
              <a:buNone/>
            </a:pPr>
            <a:r>
              <a:rPr lang="en-US" sz="2200" b="1" dirty="0">
                <a:solidFill>
                  <a:srgbClr val="4F46E5"/>
                </a:solidFill>
                <a:latin typeface="Cambria" pitchFamily="34" charset="0"/>
                <a:ea typeface="Cambria" pitchFamily="34" charset="-122"/>
                <a:cs typeface="Cambria" pitchFamily="34" charset="-120"/>
              </a:rPr>
              <a:t>2nd</a:t>
            </a:r>
            <a:endParaRPr lang="en-US" sz="2200" dirty="0"/>
          </a:p>
        </p:txBody>
      </p:sp>
      <p:sp>
        <p:nvSpPr>
          <p:cNvPr id="20" name="Text 18"/>
          <p:cNvSpPr/>
          <p:nvPr/>
        </p:nvSpPr>
        <p:spPr>
          <a:xfrm>
            <a:off x="7360920" y="1984248"/>
            <a:ext cx="4023360" cy="45720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Revenue: commitment to charged (0%)</a:t>
            </a:r>
            <a:endParaRPr lang="en-US" sz="1400" dirty="0"/>
          </a:p>
        </p:txBody>
      </p:sp>
      <p:sp>
        <p:nvSpPr>
          <p:cNvPr id="21" name="Text 19"/>
          <p:cNvSpPr/>
          <p:nvPr/>
        </p:nvSpPr>
        <p:spPr>
          <a:xfrm>
            <a:off x="6583680" y="2560320"/>
            <a:ext cx="4800600" cy="868680"/>
          </a:xfrm>
          <a:prstGeom prst="rect">
            <a:avLst/>
          </a:prstGeom>
          <a:noFill/>
          <a:ln/>
        </p:spPr>
        <p:txBody>
          <a:bodyPr wrap="square" lIns="0" tIns="0" rIns="0" bIns="0" rtlCol="0" anchor="ctr"/>
          <a:lstStyle/>
          <a:p>
            <a:pPr indent="0" marL="0">
              <a:lnSpc>
                <a:spcPct val="100000"/>
              </a:lnSpc>
              <a:buNone/>
            </a:pPr>
            <a:r>
              <a:rPr lang="en-US" sz="1200" dirty="0">
                <a:solidFill>
                  <a:srgbClr val="334155"/>
                </a:solidFill>
                <a:latin typeface="Calibri" pitchFamily="34" charset="0"/>
                <a:ea typeface="Calibri" pitchFamily="34" charset="-122"/>
                <a:cs typeface="Calibri" pitchFamily="34" charset="-120"/>
              </a:rPr>
              <a:t>Stand up payment rails to convert the first $1K and unblock non-family validation.</a:t>
            </a:r>
            <a:endParaRPr lang="en-US" sz="1200" dirty="0"/>
          </a:p>
        </p:txBody>
      </p:sp>
      <p:sp>
        <p:nvSpPr>
          <p:cNvPr id="22" name="Shape 20"/>
          <p:cNvSpPr/>
          <p:nvPr/>
        </p:nvSpPr>
        <p:spPr>
          <a:xfrm>
            <a:off x="6355080" y="3749040"/>
            <a:ext cx="5166360" cy="1783080"/>
          </a:xfrm>
          <a:prstGeom prst="roundRect">
            <a:avLst>
              <a:gd name="adj" fmla="val 4103"/>
            </a:avLst>
          </a:prstGeom>
          <a:solidFill>
            <a:srgbClr val="FFFFFF"/>
          </a:solidFill>
          <a:ln w="12700">
            <a:solidFill>
              <a:srgbClr val="E2E8F0"/>
            </a:solidFill>
            <a:prstDash val="solid"/>
          </a:ln>
          <a:effectLst>
            <a:outerShdw sx="100000" sy="100000" kx="0" ky="0" algn="bl" rotWithShape="0" blurRad="88900" dist="38100" dir="5400000">
              <a:srgbClr val="000000">
                <a:alpha val="12000"/>
              </a:srgbClr>
            </a:outerShdw>
          </a:effectLst>
        </p:spPr>
      </p:sp>
      <p:sp>
        <p:nvSpPr>
          <p:cNvPr id="23" name="Text 21"/>
          <p:cNvSpPr/>
          <p:nvPr/>
        </p:nvSpPr>
        <p:spPr>
          <a:xfrm>
            <a:off x="6583680" y="3931920"/>
            <a:ext cx="914400" cy="502920"/>
          </a:xfrm>
          <a:prstGeom prst="rect">
            <a:avLst/>
          </a:prstGeom>
          <a:noFill/>
          <a:ln/>
        </p:spPr>
        <p:txBody>
          <a:bodyPr wrap="square" lIns="0" tIns="0" rIns="0" bIns="0" rtlCol="0" anchor="ctr"/>
          <a:lstStyle/>
          <a:p>
            <a:pPr indent="0" marL="0">
              <a:buNone/>
            </a:pPr>
            <a:r>
              <a:rPr lang="en-US" sz="2200" b="1" dirty="0">
                <a:solidFill>
                  <a:srgbClr val="64748B"/>
                </a:solidFill>
                <a:latin typeface="Cambria" pitchFamily="34" charset="0"/>
                <a:ea typeface="Cambria" pitchFamily="34" charset="-122"/>
                <a:cs typeface="Cambria" pitchFamily="34" charset="-120"/>
              </a:rPr>
              <a:t>3rd</a:t>
            </a:r>
            <a:endParaRPr lang="en-US" sz="2200" dirty="0"/>
          </a:p>
        </p:txBody>
      </p:sp>
      <p:sp>
        <p:nvSpPr>
          <p:cNvPr id="24" name="Text 22"/>
          <p:cNvSpPr/>
          <p:nvPr/>
        </p:nvSpPr>
        <p:spPr>
          <a:xfrm>
            <a:off x="7360920" y="3950208"/>
            <a:ext cx="4023360" cy="45720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Activation to Retention (60%)</a:t>
            </a:r>
            <a:endParaRPr lang="en-US" sz="1400" dirty="0"/>
          </a:p>
        </p:txBody>
      </p:sp>
      <p:sp>
        <p:nvSpPr>
          <p:cNvPr id="25" name="Text 23"/>
          <p:cNvSpPr/>
          <p:nvPr/>
        </p:nvSpPr>
        <p:spPr>
          <a:xfrm>
            <a:off x="6583680" y="4526280"/>
            <a:ext cx="4800600" cy="868680"/>
          </a:xfrm>
          <a:prstGeom prst="rect">
            <a:avLst/>
          </a:prstGeom>
          <a:noFill/>
          <a:ln/>
        </p:spPr>
        <p:txBody>
          <a:bodyPr wrap="square" lIns="0" tIns="0" rIns="0" bIns="0" rtlCol="0" anchor="ctr"/>
          <a:lstStyle/>
          <a:p>
            <a:pPr indent="0" marL="0">
              <a:lnSpc>
                <a:spcPct val="100000"/>
              </a:lnSpc>
              <a:buNone/>
            </a:pPr>
            <a:r>
              <a:rPr lang="en-US" sz="1200" dirty="0">
                <a:solidFill>
                  <a:srgbClr val="334155"/>
                </a:solidFill>
                <a:latin typeface="Calibri" pitchFamily="34" charset="0"/>
                <a:ea typeface="Calibri" pitchFamily="34" charset="-122"/>
                <a:cs typeface="Calibri" pitchFamily="34" charset="-120"/>
              </a:rPr>
              <a:t>Tighten the existing 7-day stall rule and add a re-engagement sequence so high-fit leads (Cowan) do not decay to dead.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94A3B8"/>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640080" y="82296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Data sources and caveats</a:t>
            </a:r>
            <a:endParaRPr lang="en-US" sz="2800" dirty="0"/>
          </a:p>
        </p:txBody>
      </p:sp>
      <p:sp>
        <p:nvSpPr>
          <p:cNvPr id="4" name="Text 2"/>
          <p:cNvSpPr/>
          <p:nvPr/>
        </p:nvSpPr>
        <p:spPr>
          <a:xfrm>
            <a:off x="640080" y="1691640"/>
            <a:ext cx="5486400" cy="320040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Sources (all manual, repo-grounded)</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docs/business-development/outreach-tracker.md</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docs/customer-development/2026-04-27-recruitment-tracker.md</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docs/customer-development/PhysicianLabs-Potential-Customers-Master-2026-06-22.xlsx (Conversion Funnel tab)</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docs/business-development/investor-traction-snapshot-2026-06-15.md</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docs/customer-development/2026-06-19-poc-demo-guarantee-ab-*</a:t>
            </a:r>
            <a:endParaRPr lang="en-US" sz="1500" dirty="0"/>
          </a:p>
        </p:txBody>
      </p:sp>
      <p:sp>
        <p:nvSpPr>
          <p:cNvPr id="5" name="Text 3"/>
          <p:cNvSpPr/>
          <p:nvPr/>
        </p:nvSpPr>
        <p:spPr>
          <a:xfrm>
            <a:off x="6492240" y="1691640"/>
            <a:ext cx="5029200" cy="365760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Caveats</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No analytics integration is configured in fraim/config.json. Automated scheduled runs require integration setup (Mixpanel, Amplitude, Segment, or GA4).</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Pre-launch: true D1/D7/D30 usage retention does not exist. Retention shown is a labeled pipeline-persistence proxy.</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Revenue to card-charged is blocked by missing payment rails, not by funnel performance.</a:t>
            </a:r>
            <a:endParaRPr lang="en-US" sz="1500" dirty="0"/>
          </a:p>
          <a:p>
            <a:pPr marL="342900" indent="-342900">
              <a:lnSpc>
                <a:spcPct val="115000"/>
              </a:lnSpc>
              <a:buSzPct val="100000"/>
              <a:buChar char="•"/>
            </a:pPr>
            <a:r>
              <a:rPr lang="en-US" sz="1250" dirty="0">
                <a:solidFill>
                  <a:srgbClr val="EEF2FF"/>
                </a:solidFill>
                <a:latin typeface="Calibri" pitchFamily="34" charset="0"/>
                <a:ea typeface="Calibri" pitchFamily="34" charset="-122"/>
                <a:cs typeface="Calibri" pitchFamily="34" charset="-120"/>
              </a:rPr>
              <a:t>Small N. Treat all rates as directional until a non-family card is charged.</a:t>
            </a:r>
            <a:endParaRPr lang="en-US" sz="1500" dirty="0"/>
          </a:p>
        </p:txBody>
      </p:sp>
      <p:sp>
        <p:nvSpPr>
          <p:cNvPr id="6" name="Text 4"/>
          <p:cNvSpPr/>
          <p:nvPr/>
        </p:nvSpPr>
        <p:spPr>
          <a:xfrm>
            <a:off x="640080" y="6355080"/>
            <a:ext cx="9144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PhysicianLabs  /  AARRR Funnel Analysis  /  2026-06-29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AARRR Funnel Analysis 2026-06-29</dc:title>
  <dc:subject>PptxGenJS Presentation</dc:subject>
  <dc:creator>PhysicianLabs</dc:creator>
  <cp:lastModifiedBy>PhysicianLabs</cp:lastModifiedBy>
  <cp:revision>1</cp:revision>
  <dcterms:created xsi:type="dcterms:W3CDTF">2026-06-29T20:30:06Z</dcterms:created>
  <dcterms:modified xsi:type="dcterms:W3CDTF">2026-06-29T20:30:06Z</dcterms:modified>
</cp:coreProperties>
</file>