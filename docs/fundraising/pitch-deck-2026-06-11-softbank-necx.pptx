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ARR ($M)</c:v>
                </c:pt>
              </c:strCache>
            </c:strRef>
          </c:tx>
          <c:spPr>
            <a:solidFill>
              <a:srgbClr val="2DD4BF"/>
            </a:solidFill>
            <a:effectLst/>
          </c:spPr>
          <c:invertIfNegative val="0"/>
          <c:dLbls>
            <c:numFmt formatCode="#,##0"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FY27</c:v>
                  </c:pt>
                  <c:pt idx="1">
                    <c:v>FY28</c:v>
                  </c:pt>
                  <c:pt idx="2">
                    <c:v>FY29</c:v>
                  </c:pt>
                  <c:pt idx="3">
                    <c:v>FY30</c:v>
                  </c:pt>
                  <c:pt idx="4">
                    <c:v>FY31</c:v>
                  </c:pt>
                </c:lvl>
              </c:multiLvlStrCache>
            </c:multiLvlStrRef>
          </c:cat>
          <c:val>
            <c:numRef>
              <c:f>Sheet1!$B$2:$B$6</c:f>
              <c:numCache>
                <c:formatCode>General</c:formatCode>
                <c:ptCount val="5"/>
                <c:pt idx="0">
                  <c:v>0.2</c:v>
                </c:pt>
                <c:pt idx="1">
                  <c:v>1</c:v>
                </c:pt>
                <c:pt idx="2">
                  <c:v>3.8</c:v>
                </c:pt>
                <c:pt idx="3">
                  <c:v>11.5</c:v>
                </c:pt>
                <c:pt idx="4">
                  <c:v>28</c:v>
                </c:pt>
              </c:numCache>
            </c:numRef>
          </c:val>
        </c:ser>
        <c:dLbls>
          <c:numFmt formatCode="#,##0"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3415E"/>
            </a:solidFill>
            <a:prstDash val="solid"/>
            <a:round/>
          </a:ln>
        </c:spPr>
        <c:txPr>
          <a:bodyPr/>
          <a:lstStyle/>
          <a:p>
            <a:pPr>
              <a:defRPr sz="1100" b="0" i="0" u="none" strike="noStrike">
                <a:solidFill>
                  <a:srgbClr val="C7D2E5"/>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0F172A"/>
        </a:solidFill>
        <a:ln>
          <a:noFill/>
        </a:ln>
        <a:effectLst/>
      </c:spPr>
    </c:plotArea>
    <c:plotVisOnly val="1"/>
    <c:dispBlanksAs val="span"/>
  </c:chart>
  <c:spPr>
    <a:solidFill>
      <a:srgbClr val="0F172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Five minutes, fourteen slides, and one promise: every number in this deck is first-person sourced or hyperlink-cited, and the traction slide is stated exactly as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story, not the product. My brother is an orthopedic surgeon: sixteen years of training, two clinics, and over $200K lost in his first because nobody taught him to run a business. His exact words about his tax bill: 'nauseating.' I come from three generations of physicians. This problem is family history, not a market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pains, one spine. One: the setup vacuum — entity and tax mistakes cost $200-400K and surface 18 months too late. Two: flying blind — a real practice carries $200K a year of admin overhead and still has no live P&amp;L. Three: the squeeze — the same insurer pays an independent $115 for the visit it pays a hospital $290 for. These aren't analyst numbers; they're from our own recorded interviews.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moves. The wedge is live today. The validated tip-of-spear is a $1,000 money-back Proof-of-Concept: we find $20K you're not collecting, or it's free — then it ladders up to the done-for-you transition and the monthly subscription. It earns revenue without a software build, and every engagement writes the platform spec. The platform is what this round builds: an AI-native financial operating layer above the EHR — real-time P&amp;L, leak detection, credentialing intelligence — with zero migration. EHRs record what happened. We show where the practice is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me: five years at McKinsey solving exactly this class of structured, high-stakes problem; eleven years building zero-to-one products at Amazon, AWS and EA; and three generations of physicians in my family — I sell into a network I was born into. Around me: an advisory bench of RCM operators, specialist accountants and attorneys, and physicians across five specialties. The round funds the founding engineer and clinical ops lead.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is layered and conservative. The macro: US RCM is $65 billion headed to $196 billion by 2035. Our serviceable layer: 100,000 independent practices at $4,800 a year is $480 million. The wedge entry: 5 to 10 thousand practices in their first year, every year — the moment the financial pain is acute. And the honest trend, said before you ask: independent share fell from 60 to 42 percent — which is exactly why today's independents are the conviction cohort, with DPC growing double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is precise: a hospital-employed physician five to fifteen years in, deliberately exiting to independent or concierge practice. One surgeon quantified willingness to pay on record: a thousand dollars prospectively, ten thousand in hindsight. The engine: about $12K of first-year revenue per clinic against a $400 organic CAC — 30 to 1 today, a still-excellent 6 to 8 to 1 when paid channels enter — and the program fee is cash up front, so payback is under a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is not 'independent clinics' — it's a sequence. Now: a named warm pipeline from my physician network, including surgical specialists mid-transition and IPA pods splitting off. Next: the communities where this customer already gathers — AAPP, DPC Frontier, whitecoatinvestor, and physician associations like Pro Alliance and WWMG. At scale: the referral flywheel, because a doctor who avoids a $280K mistake doesn't need to be incentivized to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Hybrid model. One-time transition fees from $750 self-serve to $20K done-for-you, each converting into a $500-to-799-a-month platform subscription. Margins are over 80% today and stay above 70% blended at scale. Because cash is collected up front, acquisition pays for itself inside month one — wedge revenue funds the build, so this round buys speed, not survival.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the field on two axes that actually matter: do you guide the next decision, or just record the last one — and do you require a migration to deliver it. Tebra, Jane, athenahealth, WebPT are systems of record you migrate onto. Outsourced billing and spreadsheets sit alongside but only record. Enterprise RCM and the $30-60K consultants give real intelligence, but they're heavy, manual, and built for big systems. The windshield-plus-no-migration quadrant is empty — that's us: a forward-looking financial brain that runs on top of the stack a first-year independent already has. The moat is the layer and the data, not a calendar window. If asked: yes, a practicing dermatologist we interviewed is exploring a similar build — the ICP validating the market from the inside, single-specialty and part-time.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Stated plainly: we are pre-MVP, and here is exactly what exists. The engineering foundation is live in the repository — a Next.js application with an AI service layer and isolated databases. Two working prototypes were built from real interview data for named physicians. The architecture never touches patient data, so HIPAA risk is designed out, not managed. The round funds the AI financial engine, the first two EHR integrations — cheaper than ever under the CMS interoperability mandate — and the 20-clinic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top-down hand-waving — this is clinics times revenue per clinic. Twenty clinics and $200K in year one, a million in year two, $3.8 million, $11.5 million, $28 million by year five — which is still only about 3% of the serviceable market. Gross margin holds above 70% blended. Year two onward assumes the $10 million seed closes on the 20-clinic proof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Exits in this category are proven, recent and large: R1 RCM went private at $8.9 billion in 2024, athenahealth at $17 billion, Jane App holds a $1.8 billion private mark, and Tebra just raised $250 million. Recent RCM deals price around 4.3 times revenue. The base case — five times on $28 million of ARR — is a $140-million-plus outcome, 15 to 25x this round. The upside case is the AI-native successor to R1, and that is not a $140M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$2.5 million of pre-seed for 18 to 20 months: 45% product, 25% go-to-market, 15% the clinical and compliance network, 15% operations. The milestone path: first paid clinic inside 30 days, then 20 paying clinics, $200K of revenue and platform v1 — the proof that prices a $10 million seed. And three asks of this room specifically: tell me exactly what you'd need to see in two to three months to invest; two or three design-partner introductions; and one door into an RCM or payer data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now: the CMS mandate makes EHR data accessible by right, the AI inflection makes the platform a seed-stage build, and the conviction cohort is growing while incumbents look the other way. Traction, exactly as it is: seven sessions with five physicians across two countries and five specialties, willingness to pay quantified on record, working prototypes, and a named pipeline. On the first paid PoC — disclose proactively if asked: it is confirmed, but the subject is my brother (a post-launch ortho surgeon) and the payment is collected on delivery, which is in progress. I am deliberately not claiming arm's-length revenue yet; the first non-family, card-charged close is targeted inside 30 days (Tucci, Xin, or Cowan). Close on the surgeon's own words: 'If I spend a day in the ICU versus the clinic, I don't know where I am financially.' That is the company. Put doctors back in the driver's seat of their own financial future. [Stop.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detailed competitive view — use it as the competition slide, or hold it for Q&amp;A behind the 2x2. The read is simple: we're the only one delivering forward-looking financial intelligence, on top of existing tools, for the just-launched clinic, with ROI in dollars. The one row we don't win is installed base and specialty depth — and I'll name that proactively, because their installed base is exactly what makes the pre-launch and first-year window unattractive for them to chase. Status quo is spreadsheets plus an outsourced biller — the real default for a first-year doctor.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234440"/>
            <a:ext cx="8229600" cy="685800"/>
          </a:xfrm>
          <a:prstGeom prst="rect">
            <a:avLst/>
          </a:prstGeom>
          <a:noFill/>
          <a:ln/>
        </p:spPr>
        <p:txBody>
          <a:bodyPr wrap="square" lIns="0" tIns="0" rIns="0" bIns="0" rtlCol="0" anchor="ctr"/>
          <a:lstStyle/>
          <a:p>
            <a:pPr algn="ctr" indent="0" marL="0">
              <a:buNone/>
            </a:pPr>
            <a:r>
              <a:rPr lang="en-US" sz="4000" b="1" spc="500" kern="0" dirty="0">
                <a:solidFill>
                  <a:srgbClr val="FFFFFF"/>
                </a:solidFill>
                <a:latin typeface="Trebuchet MS" pitchFamily="34" charset="0"/>
                <a:ea typeface="Trebuchet MS" pitchFamily="34" charset="-122"/>
                <a:cs typeface="Trebuchet MS" pitchFamily="34" charset="-120"/>
              </a:rPr>
              <a:t>PHYSICIAN</a:t>
            </a:r>
            <a:pPr algn="ctr" indent="0" marL="0">
              <a:buNone/>
            </a:pPr>
            <a:r>
              <a:rPr lang="en-US" sz="4000" b="1" spc="500" kern="0" dirty="0">
                <a:solidFill>
                  <a:srgbClr val="2DD4BF"/>
                </a:solidFill>
                <a:latin typeface="Trebuchet MS" pitchFamily="34" charset="0"/>
                <a:ea typeface="Trebuchet MS" pitchFamily="34" charset="-122"/>
                <a:cs typeface="Trebuchet MS" pitchFamily="34" charset="-120"/>
              </a:rPr>
              <a:t>LABS</a:t>
            </a:r>
            <a:endParaRPr lang="en-US" sz="4000" dirty="0"/>
          </a:p>
        </p:txBody>
      </p:sp>
      <p:sp>
        <p:nvSpPr>
          <p:cNvPr id="3" name="Shape 1"/>
          <p:cNvSpPr/>
          <p:nvPr/>
        </p:nvSpPr>
        <p:spPr>
          <a:xfrm>
            <a:off x="2788920" y="2395728"/>
            <a:ext cx="1234440" cy="0"/>
          </a:xfrm>
          <a:prstGeom prst="line">
            <a:avLst/>
          </a:prstGeom>
          <a:noFill/>
          <a:ln w="31750">
            <a:solidFill>
              <a:srgbClr val="2DD4BF"/>
            </a:solidFill>
            <a:prstDash val="solid"/>
          </a:ln>
        </p:spPr>
      </p:sp>
      <p:sp>
        <p:nvSpPr>
          <p:cNvPr id="4" name="Shape 2"/>
          <p:cNvSpPr/>
          <p:nvPr/>
        </p:nvSpPr>
        <p:spPr>
          <a:xfrm flipV="1">
            <a:off x="4023360" y="2075688"/>
            <a:ext cx="118872" cy="320040"/>
          </a:xfrm>
          <a:prstGeom prst="line">
            <a:avLst/>
          </a:prstGeom>
          <a:noFill/>
          <a:ln w="31750">
            <a:solidFill>
              <a:srgbClr val="2DD4BF"/>
            </a:solidFill>
            <a:prstDash val="solid"/>
          </a:ln>
        </p:spPr>
      </p:sp>
      <p:sp>
        <p:nvSpPr>
          <p:cNvPr id="5" name="Shape 3"/>
          <p:cNvSpPr/>
          <p:nvPr/>
        </p:nvSpPr>
        <p:spPr>
          <a:xfrm>
            <a:off x="4142232" y="2075688"/>
            <a:ext cx="201168" cy="566928"/>
          </a:xfrm>
          <a:prstGeom prst="line">
            <a:avLst/>
          </a:prstGeom>
          <a:noFill/>
          <a:ln w="31750">
            <a:solidFill>
              <a:srgbClr val="2DD4BF"/>
            </a:solidFill>
            <a:prstDash val="solid"/>
          </a:ln>
        </p:spPr>
      </p:sp>
      <p:sp>
        <p:nvSpPr>
          <p:cNvPr id="6" name="Shape 4"/>
          <p:cNvSpPr/>
          <p:nvPr/>
        </p:nvSpPr>
        <p:spPr>
          <a:xfrm flipV="1">
            <a:off x="4343400" y="2395728"/>
            <a:ext cx="146304" cy="246888"/>
          </a:xfrm>
          <a:prstGeom prst="line">
            <a:avLst/>
          </a:prstGeom>
          <a:noFill/>
          <a:ln w="31750">
            <a:solidFill>
              <a:srgbClr val="2DD4BF"/>
            </a:solidFill>
            <a:prstDash val="solid"/>
          </a:ln>
        </p:spPr>
      </p:sp>
      <p:sp>
        <p:nvSpPr>
          <p:cNvPr id="7" name="Shape 5"/>
          <p:cNvSpPr/>
          <p:nvPr/>
        </p:nvSpPr>
        <p:spPr>
          <a:xfrm>
            <a:off x="4489704" y="2395728"/>
            <a:ext cx="1865376" cy="0"/>
          </a:xfrm>
          <a:prstGeom prst="line">
            <a:avLst/>
          </a:prstGeom>
          <a:noFill/>
          <a:ln w="31750">
            <a:solidFill>
              <a:srgbClr val="2DD4BF"/>
            </a:solidFill>
            <a:prstDash val="solid"/>
          </a:ln>
        </p:spPr>
      </p:sp>
      <p:sp>
        <p:nvSpPr>
          <p:cNvPr id="8" name="Text 6"/>
          <p:cNvSpPr/>
          <p:nvPr/>
        </p:nvSpPr>
        <p:spPr>
          <a:xfrm>
            <a:off x="914400" y="2788920"/>
            <a:ext cx="7315200" cy="411480"/>
          </a:xfrm>
          <a:prstGeom prst="rect">
            <a:avLst/>
          </a:prstGeom>
          <a:noFill/>
          <a:ln/>
        </p:spPr>
        <p:txBody>
          <a:bodyPr wrap="square" lIns="0" tIns="0" rIns="0" bIns="0" rtlCol="0" anchor="ctr"/>
          <a:lstStyle/>
          <a:p>
            <a:pPr algn="ctr" indent="0" marL="0">
              <a:buNone/>
            </a:pPr>
            <a:r>
              <a:rPr lang="en-US" sz="1600" i="1" dirty="0">
                <a:solidFill>
                  <a:srgbClr val="5EEAD4"/>
                </a:solidFill>
                <a:latin typeface="Calibri" pitchFamily="34" charset="0"/>
                <a:ea typeface="Calibri" pitchFamily="34" charset="-122"/>
                <a:cs typeface="Calibri" pitchFamily="34" charset="-120"/>
              </a:rPr>
              <a:t>Put doctors back in the driver's seat of their own financial future.</a:t>
            </a:r>
            <a:endParaRPr lang="en-US" sz="1600" dirty="0"/>
          </a:p>
        </p:txBody>
      </p:sp>
      <p:sp>
        <p:nvSpPr>
          <p:cNvPr id="9" name="Text 7"/>
          <p:cNvSpPr/>
          <p:nvPr/>
        </p:nvSpPr>
        <p:spPr>
          <a:xfrm>
            <a:off x="914400" y="3310128"/>
            <a:ext cx="7315200" cy="320040"/>
          </a:xfrm>
          <a:prstGeom prst="rect">
            <a:avLst/>
          </a:prstGeom>
          <a:noFill/>
          <a:ln/>
        </p:spPr>
        <p:txBody>
          <a:bodyPr wrap="square" lIns="0" tIns="0" rIns="0" bIns="0" rtlCol="0" anchor="ctr"/>
          <a:lstStyle/>
          <a:p>
            <a:pPr algn="ctr" indent="0" marL="0">
              <a:buNone/>
            </a:pPr>
            <a:r>
              <a:rPr lang="en-US" sz="1300" dirty="0">
                <a:solidFill>
                  <a:srgbClr val="8FA3BF"/>
                </a:solidFill>
                <a:latin typeface="Calibri" pitchFamily="34" charset="0"/>
                <a:ea typeface="Calibri" pitchFamily="34" charset="-122"/>
                <a:cs typeface="Calibri" pitchFamily="34" charset="-120"/>
              </a:rPr>
              <a:t>The AI-native financial operating layer for independent medicine</a:t>
            </a:r>
            <a:endParaRPr lang="en-US" sz="1300" dirty="0"/>
          </a:p>
        </p:txBody>
      </p:sp>
      <p:sp>
        <p:nvSpPr>
          <p:cNvPr id="10" name="Text 8"/>
          <p:cNvSpPr/>
          <p:nvPr/>
        </p:nvSpPr>
        <p:spPr>
          <a:xfrm>
            <a:off x="914400" y="4434840"/>
            <a:ext cx="7315200" cy="274320"/>
          </a:xfrm>
          <a:prstGeom prst="rect">
            <a:avLst/>
          </a:prstGeom>
          <a:noFill/>
          <a:ln/>
        </p:spPr>
        <p:txBody>
          <a:bodyPr wrap="square" lIns="0" tIns="0" rIns="0" bIns="0" rtlCol="0" anchor="ctr"/>
          <a:lstStyle/>
          <a:p>
            <a:pPr algn="ctr" indent="0" marL="0">
              <a:buNone/>
            </a:pPr>
            <a:r>
              <a:rPr lang="en-US" sz="1000" spc="200" kern="0" dirty="0">
                <a:solidFill>
                  <a:srgbClr val="8FA3BF"/>
                </a:solidFill>
                <a:latin typeface="Trebuchet MS" pitchFamily="34" charset="0"/>
                <a:ea typeface="Trebuchet MS" pitchFamily="34" charset="-122"/>
                <a:cs typeface="Trebuchet MS" pitchFamily="34" charset="-120"/>
              </a:rPr>
              <a:t>PRE-SEED BRIEFING   |   SOFTBANK + NEC-X   |   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01  /  OUR WHY</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Sixteen years of medical training. Zero hours of business training.</a:t>
            </a:r>
            <a:endParaRPr lang="en-US" sz="2200" dirty="0"/>
          </a:p>
        </p:txBody>
      </p:sp>
      <p:sp>
        <p:nvSpPr>
          <p:cNvPr id="4" name="Text 2"/>
          <p:cNvSpPr/>
          <p:nvPr/>
        </p:nvSpPr>
        <p:spPr>
          <a:xfrm>
            <a:off x="457200" y="1371600"/>
            <a:ext cx="4846320" cy="155448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My brother is an orthopedic surgeon who has launched two clinics. In his first, he lost over $200,000</a:t>
            </a:r>
            <a:pPr indent="0" marL="0">
              <a:buNone/>
            </a:pPr>
            <a:r>
              <a:rPr lang="en-US" sz="1500" dirty="0">
                <a:solidFill>
                  <a:srgbClr val="FFFFFF"/>
                </a:solidFill>
                <a:latin typeface="Calibri" pitchFamily="34" charset="0"/>
                <a:ea typeface="Calibri" pitchFamily="34" charset="-122"/>
                <a:cs typeface="Calibri" pitchFamily="34" charset="-120"/>
              </a:rPr>
              <a:t> — not to bad medicine, but to business decisions nobody ever trained him to make. He had no visibility into his own P&amp;L.</a:t>
            </a:r>
            <a:endParaRPr lang="en-US" sz="1500" dirty="0"/>
          </a:p>
        </p:txBody>
      </p:sp>
      <p:sp>
        <p:nvSpPr>
          <p:cNvPr id="5" name="Text 3"/>
          <p:cNvSpPr/>
          <p:nvPr/>
        </p:nvSpPr>
        <p:spPr>
          <a:xfrm>
            <a:off x="457200" y="2926080"/>
            <a:ext cx="4846320" cy="457200"/>
          </a:xfrm>
          <a:prstGeom prst="rect">
            <a:avLst/>
          </a:prstGeom>
          <a:noFill/>
          <a:ln/>
        </p:spPr>
        <p:txBody>
          <a:bodyPr wrap="square" lIns="0" tIns="0" rIns="0" bIns="0" rtlCol="0" anchor="ctr"/>
          <a:lstStyle/>
          <a:p>
            <a:pPr indent="0" marL="0">
              <a:buNone/>
            </a:pPr>
            <a:r>
              <a:rPr lang="en-US" sz="1500" i="1" dirty="0">
                <a:solidFill>
                  <a:srgbClr val="8FA3BF"/>
                </a:solidFill>
                <a:latin typeface="Calibri" pitchFamily="34" charset="0"/>
                <a:ea typeface="Calibri" pitchFamily="34" charset="-122"/>
                <a:cs typeface="Calibri" pitchFamily="34" charset="-120"/>
              </a:rPr>
              <a:t>That story is the norm for independent doctors. Not the exception.</a:t>
            </a:r>
            <a:endParaRPr lang="en-US" sz="1500" dirty="0"/>
          </a:p>
        </p:txBody>
      </p:sp>
      <p:sp>
        <p:nvSpPr>
          <p:cNvPr id="6" name="Text 4"/>
          <p:cNvSpPr/>
          <p:nvPr/>
        </p:nvSpPr>
        <p:spPr>
          <a:xfrm>
            <a:off x="457200" y="3611880"/>
            <a:ext cx="4846320" cy="822960"/>
          </a:xfrm>
          <a:prstGeom prst="rect">
            <a:avLst/>
          </a:prstGeom>
          <a:noFill/>
          <a:ln/>
        </p:spPr>
        <p:txBody>
          <a:bodyPr wrap="square" lIns="0" tIns="0" rIns="0" bIns="0" rtlCol="0" anchor="ctr"/>
          <a:lstStyle/>
          <a:p>
            <a:pPr indent="0" marL="0">
              <a:buNone/>
            </a:pPr>
            <a:r>
              <a:rPr lang="en-US" sz="1500" b="1" dirty="0">
                <a:solidFill>
                  <a:srgbClr val="2DD4BF"/>
                </a:solidFill>
                <a:latin typeface="Trebuchet MS" pitchFamily="34" charset="0"/>
                <a:ea typeface="Trebuchet MS" pitchFamily="34" charset="-122"/>
                <a:cs typeface="Trebuchet MS" pitchFamily="34" charset="-120"/>
              </a:rPr>
              <a:t>PhysicianLabs exists to put doctors back in the driver's seat of their own financial future.</a:t>
            </a:r>
            <a:endParaRPr lang="en-US" sz="1500" dirty="0"/>
          </a:p>
        </p:txBody>
      </p:sp>
      <p:sp>
        <p:nvSpPr>
          <p:cNvPr id="7" name="Shape 5"/>
          <p:cNvSpPr/>
          <p:nvPr/>
        </p:nvSpPr>
        <p:spPr>
          <a:xfrm>
            <a:off x="5669280" y="1371600"/>
            <a:ext cx="3017520" cy="3108960"/>
          </a:xfrm>
          <a:prstGeom prst="rect">
            <a:avLst/>
          </a:prstGeom>
          <a:solidFill>
            <a:srgbClr val="1B2942"/>
          </a:solidFill>
          <a:ln/>
        </p:spPr>
      </p:sp>
      <p:sp>
        <p:nvSpPr>
          <p:cNvPr id="8" name="Text 6"/>
          <p:cNvSpPr/>
          <p:nvPr/>
        </p:nvSpPr>
        <p:spPr>
          <a:xfrm>
            <a:off x="5852160" y="1325880"/>
            <a:ext cx="731520" cy="640080"/>
          </a:xfrm>
          <a:prstGeom prst="rect">
            <a:avLst/>
          </a:prstGeom>
          <a:noFill/>
          <a:ln/>
        </p:spPr>
        <p:txBody>
          <a:bodyPr wrap="square" lIns="0" tIns="0" rIns="0" bIns="0" rtlCol="0" anchor="ctr"/>
          <a:lstStyle/>
          <a:p>
            <a:pPr indent="0" marL="0">
              <a:buNone/>
            </a:pPr>
            <a:r>
              <a:rPr lang="en-US" sz="4400" b="1" dirty="0">
                <a:solidFill>
                  <a:srgbClr val="2DD4BF"/>
                </a:solidFill>
                <a:latin typeface="Trebuchet MS" pitchFamily="34" charset="0"/>
                <a:ea typeface="Trebuchet MS" pitchFamily="34" charset="-122"/>
                <a:cs typeface="Trebuchet MS" pitchFamily="34" charset="-120"/>
              </a:rPr>
              <a:t>“</a:t>
            </a:r>
            <a:endParaRPr lang="en-US" sz="4400" dirty="0"/>
          </a:p>
        </p:txBody>
      </p:sp>
      <p:sp>
        <p:nvSpPr>
          <p:cNvPr id="9" name="Text 7"/>
          <p:cNvSpPr/>
          <p:nvPr/>
        </p:nvSpPr>
        <p:spPr>
          <a:xfrm>
            <a:off x="5943600" y="1965960"/>
            <a:ext cx="2468880" cy="155448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The amount of tax I'm paying is nauseating. The house I'd be living in would be double the size.</a:t>
            </a:r>
            <a:endParaRPr lang="en-US" sz="1400" dirty="0"/>
          </a:p>
        </p:txBody>
      </p:sp>
      <p:sp>
        <p:nvSpPr>
          <p:cNvPr id="10" name="Text 8"/>
          <p:cNvSpPr/>
          <p:nvPr/>
        </p:nvSpPr>
        <p:spPr>
          <a:xfrm>
            <a:off x="5943600" y="3657600"/>
            <a:ext cx="2468880" cy="640080"/>
          </a:xfrm>
          <a:prstGeom prst="rect">
            <a:avLst/>
          </a:prstGeom>
          <a:noFill/>
          <a:ln/>
        </p:spPr>
        <p:txBody>
          <a:bodyPr wrap="square" lIns="0" tIns="0" rIns="0" bIns="0" rtlCol="0" anchor="ctr"/>
          <a:lstStyle/>
          <a:p>
            <a:pPr indent="0" marL="0">
              <a:buNone/>
            </a:pPr>
            <a:r>
              <a:rPr lang="en-US" sz="1000" dirty="0">
                <a:solidFill>
                  <a:srgbClr val="8FA3BF"/>
                </a:solidFill>
                <a:latin typeface="Calibri" pitchFamily="34" charset="0"/>
                <a:ea typeface="Calibri" pitchFamily="34" charset="-122"/>
                <a:cs typeface="Calibri" pitchFamily="34" charset="-120"/>
              </a:rPr>
              <a:t>Orthopedic surgeon and two-clinic owner, interview on record, May 2026</a:t>
            </a:r>
            <a:endParaRPr lang="en-US" sz="1000" dirty="0"/>
          </a:p>
        </p:txBody>
      </p:sp>
      <p:sp>
        <p:nvSpPr>
          <p:cNvPr id="11" name="Text 9"/>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02  /  THE PROBLEM</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Independent doctors are losing money in the dark.</a:t>
            </a:r>
            <a:endParaRPr lang="en-US" sz="2400" dirty="0"/>
          </a:p>
        </p:txBody>
      </p:sp>
      <p:sp>
        <p:nvSpPr>
          <p:cNvPr id="4" name="Shape 2"/>
          <p:cNvSpPr/>
          <p:nvPr/>
        </p:nvSpPr>
        <p:spPr>
          <a:xfrm>
            <a:off x="457200" y="1280160"/>
            <a:ext cx="2715768" cy="3063240"/>
          </a:xfrm>
          <a:prstGeom prst="rect">
            <a:avLst/>
          </a:prstGeom>
          <a:solidFill>
            <a:srgbClr val="1B2942"/>
          </a:solidFill>
          <a:ln/>
        </p:spPr>
      </p:sp>
      <p:sp>
        <p:nvSpPr>
          <p:cNvPr id="5" name="Text 3"/>
          <p:cNvSpPr/>
          <p:nvPr/>
        </p:nvSpPr>
        <p:spPr>
          <a:xfrm>
            <a:off x="658368" y="1481328"/>
            <a:ext cx="2331720" cy="274320"/>
          </a:xfrm>
          <a:prstGeom prst="rect">
            <a:avLst/>
          </a:prstGeom>
          <a:noFill/>
          <a:ln/>
        </p:spPr>
        <p:txBody>
          <a:bodyPr wrap="square" lIns="0" tIns="0" rIns="0" bIns="0" rtlCol="0" anchor="ctr"/>
          <a:lstStyle/>
          <a:p>
            <a:pPr indent="0" marL="0">
              <a:buNone/>
            </a:pPr>
            <a:r>
              <a:rPr lang="en-US" sz="1050" b="1" spc="200" kern="0" dirty="0">
                <a:solidFill>
                  <a:srgbClr val="F87171"/>
                </a:solidFill>
                <a:latin typeface="Trebuchet MS" pitchFamily="34" charset="0"/>
                <a:ea typeface="Trebuchet MS" pitchFamily="34" charset="-122"/>
                <a:cs typeface="Trebuchet MS" pitchFamily="34" charset="-120"/>
              </a:rPr>
              <a:t>THE SETUP VACUUM</a:t>
            </a:r>
            <a:endParaRPr lang="en-US" sz="1050" dirty="0"/>
          </a:p>
        </p:txBody>
      </p:sp>
      <p:sp>
        <p:nvSpPr>
          <p:cNvPr id="6" name="Text 4"/>
          <p:cNvSpPr/>
          <p:nvPr/>
        </p:nvSpPr>
        <p:spPr>
          <a:xfrm>
            <a:off x="658368" y="1783080"/>
            <a:ext cx="2331720" cy="502920"/>
          </a:xfrm>
          <a:prstGeom prst="rect">
            <a:avLst/>
          </a:prstGeom>
          <a:noFill/>
          <a:ln/>
        </p:spPr>
        <p:txBody>
          <a:bodyPr wrap="square" lIns="0" tIns="0" rIns="0" bIns="0" rtlCol="0" anchor="ctr"/>
          <a:lstStyle/>
          <a:p>
            <a:pPr indent="0" marL="0">
              <a:buNone/>
            </a:pPr>
            <a:r>
              <a:rPr lang="en-US" sz="2300" b="1" dirty="0">
                <a:solidFill>
                  <a:srgbClr val="FFFFFF"/>
                </a:solidFill>
                <a:latin typeface="Trebuchet MS" pitchFamily="34" charset="0"/>
                <a:ea typeface="Trebuchet MS" pitchFamily="34" charset="-122"/>
                <a:cs typeface="Trebuchet MS" pitchFamily="34" charset="-120"/>
              </a:rPr>
              <a:t>$200K–$400K</a:t>
            </a:r>
            <a:endParaRPr lang="en-US" sz="2300" dirty="0"/>
          </a:p>
        </p:txBody>
      </p:sp>
      <p:sp>
        <p:nvSpPr>
          <p:cNvPr id="7" name="Text 5"/>
          <p:cNvSpPr/>
          <p:nvPr/>
        </p:nvSpPr>
        <p:spPr>
          <a:xfrm>
            <a:off x="658368" y="2331720"/>
            <a:ext cx="2331720"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lost to incorporation and tax-structure mistakes, typically discovered 18 months too late</a:t>
            </a:r>
            <a:endParaRPr lang="en-US" sz="1150" dirty="0"/>
          </a:p>
        </p:txBody>
      </p:sp>
      <p:sp>
        <p:nvSpPr>
          <p:cNvPr id="8" name="Text 6"/>
          <p:cNvSpPr/>
          <p:nvPr/>
        </p:nvSpPr>
        <p:spPr>
          <a:xfrm>
            <a:off x="658368" y="3611880"/>
            <a:ext cx="2331720" cy="594360"/>
          </a:xfrm>
          <a:prstGeom prst="rect">
            <a:avLst/>
          </a:prstGeom>
          <a:noFill/>
          <a:ln/>
        </p:spPr>
        <p:txBody>
          <a:bodyPr wrap="square" lIns="0" tIns="0" rIns="0" bIns="0" rtlCol="0" anchor="t"/>
          <a:lstStyle/>
          <a:p>
            <a:pPr indent="0" marL="0">
              <a:buNone/>
            </a:pPr>
            <a:r>
              <a:rPr lang="en-US" sz="1050" dirty="0">
                <a:solidFill>
                  <a:srgbClr val="8FA3BF"/>
                </a:solidFill>
                <a:latin typeface="Calibri" pitchFamily="34" charset="0"/>
                <a:ea typeface="Calibri" pitchFamily="34" charset="-122"/>
                <a:cs typeface="Calibri" pitchFamily="34" charset="-120"/>
              </a:rPr>
              <a:t>2,000+ applicants screened to hire one medical secretary</a:t>
            </a:r>
            <a:endParaRPr lang="en-US" sz="1050" dirty="0"/>
          </a:p>
        </p:txBody>
      </p:sp>
      <p:sp>
        <p:nvSpPr>
          <p:cNvPr id="9" name="Shape 7"/>
          <p:cNvSpPr/>
          <p:nvPr/>
        </p:nvSpPr>
        <p:spPr>
          <a:xfrm>
            <a:off x="3355848" y="1280160"/>
            <a:ext cx="2715768" cy="3063240"/>
          </a:xfrm>
          <a:prstGeom prst="rect">
            <a:avLst/>
          </a:prstGeom>
          <a:solidFill>
            <a:srgbClr val="1B2942"/>
          </a:solidFill>
          <a:ln/>
        </p:spPr>
      </p:sp>
      <p:sp>
        <p:nvSpPr>
          <p:cNvPr id="10" name="Text 8"/>
          <p:cNvSpPr/>
          <p:nvPr/>
        </p:nvSpPr>
        <p:spPr>
          <a:xfrm>
            <a:off x="3557016" y="1481328"/>
            <a:ext cx="2331720" cy="274320"/>
          </a:xfrm>
          <a:prstGeom prst="rect">
            <a:avLst/>
          </a:prstGeom>
          <a:noFill/>
          <a:ln/>
        </p:spPr>
        <p:txBody>
          <a:bodyPr wrap="square" lIns="0" tIns="0" rIns="0" bIns="0" rtlCol="0" anchor="ctr"/>
          <a:lstStyle/>
          <a:p>
            <a:pPr indent="0" marL="0">
              <a:buNone/>
            </a:pPr>
            <a:r>
              <a:rPr lang="en-US" sz="1050" b="1" spc="200" kern="0" dirty="0">
                <a:solidFill>
                  <a:srgbClr val="FBBF24"/>
                </a:solidFill>
                <a:latin typeface="Trebuchet MS" pitchFamily="34" charset="0"/>
                <a:ea typeface="Trebuchet MS" pitchFamily="34" charset="-122"/>
                <a:cs typeface="Trebuchet MS" pitchFamily="34" charset="-120"/>
              </a:rPr>
              <a:t>FLYING BLIND</a:t>
            </a:r>
            <a:endParaRPr lang="en-US" sz="1050" dirty="0"/>
          </a:p>
        </p:txBody>
      </p:sp>
      <p:sp>
        <p:nvSpPr>
          <p:cNvPr id="11" name="Text 9"/>
          <p:cNvSpPr/>
          <p:nvPr/>
        </p:nvSpPr>
        <p:spPr>
          <a:xfrm>
            <a:off x="3557016" y="1783080"/>
            <a:ext cx="2331720" cy="502920"/>
          </a:xfrm>
          <a:prstGeom prst="rect">
            <a:avLst/>
          </a:prstGeom>
          <a:noFill/>
          <a:ln/>
        </p:spPr>
        <p:txBody>
          <a:bodyPr wrap="square" lIns="0" tIns="0" rIns="0" bIns="0" rtlCol="0" anchor="ctr"/>
          <a:lstStyle/>
          <a:p>
            <a:pPr indent="0" marL="0">
              <a:buNone/>
            </a:pPr>
            <a:r>
              <a:rPr lang="en-US" sz="2300" b="1" dirty="0">
                <a:solidFill>
                  <a:srgbClr val="FFFFFF"/>
                </a:solidFill>
                <a:latin typeface="Trebuchet MS" pitchFamily="34" charset="0"/>
                <a:ea typeface="Trebuchet MS" pitchFamily="34" charset="-122"/>
                <a:cs typeface="Trebuchet MS" pitchFamily="34" charset="-120"/>
              </a:rPr>
              <a:t>$200K / yr</a:t>
            </a:r>
            <a:endParaRPr lang="en-US" sz="2300" dirty="0"/>
          </a:p>
        </p:txBody>
      </p:sp>
      <p:sp>
        <p:nvSpPr>
          <p:cNvPr id="12" name="Text 10"/>
          <p:cNvSpPr/>
          <p:nvPr/>
        </p:nvSpPr>
        <p:spPr>
          <a:xfrm>
            <a:off x="3557016" y="2331720"/>
            <a:ext cx="2331720"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admin overhead in a single independent practice; owners reconcile finances with an accountant on weekends</a:t>
            </a:r>
            <a:endParaRPr lang="en-US" sz="1150" dirty="0"/>
          </a:p>
        </p:txBody>
      </p:sp>
      <p:sp>
        <p:nvSpPr>
          <p:cNvPr id="13" name="Text 11"/>
          <p:cNvSpPr/>
          <p:nvPr/>
        </p:nvSpPr>
        <p:spPr>
          <a:xfrm>
            <a:off x="3557016" y="3611880"/>
            <a:ext cx="2331720" cy="594360"/>
          </a:xfrm>
          <a:prstGeom prst="rect">
            <a:avLst/>
          </a:prstGeom>
          <a:noFill/>
          <a:ln/>
        </p:spPr>
        <p:txBody>
          <a:bodyPr wrap="square" lIns="0" tIns="0" rIns="0" bIns="0" rtlCol="0" anchor="t"/>
          <a:lstStyle/>
          <a:p>
            <a:pPr indent="0" marL="0">
              <a:buNone/>
            </a:pPr>
            <a:r>
              <a:rPr lang="en-US" sz="1050" dirty="0">
                <a:solidFill>
                  <a:srgbClr val="8FA3BF"/>
                </a:solidFill>
                <a:latin typeface="Calibri" pitchFamily="34" charset="0"/>
                <a:ea typeface="Calibri" pitchFamily="34" charset="-122"/>
                <a:cs typeface="Calibri" pitchFamily="34" charset="-120"/>
              </a:rPr>
              <a:t>No real-time P&amp;L exists anywhere in the stack</a:t>
            </a:r>
            <a:endParaRPr lang="en-US" sz="1050" dirty="0"/>
          </a:p>
        </p:txBody>
      </p:sp>
      <p:sp>
        <p:nvSpPr>
          <p:cNvPr id="14" name="Shape 12"/>
          <p:cNvSpPr/>
          <p:nvPr/>
        </p:nvSpPr>
        <p:spPr>
          <a:xfrm>
            <a:off x="6254496" y="1280160"/>
            <a:ext cx="2715768" cy="3063240"/>
          </a:xfrm>
          <a:prstGeom prst="rect">
            <a:avLst/>
          </a:prstGeom>
          <a:solidFill>
            <a:srgbClr val="1B2942"/>
          </a:solidFill>
          <a:ln/>
        </p:spPr>
      </p:sp>
      <p:sp>
        <p:nvSpPr>
          <p:cNvPr id="15" name="Text 13"/>
          <p:cNvSpPr/>
          <p:nvPr/>
        </p:nvSpPr>
        <p:spPr>
          <a:xfrm>
            <a:off x="6455664" y="1481328"/>
            <a:ext cx="2331720" cy="274320"/>
          </a:xfrm>
          <a:prstGeom prst="rect">
            <a:avLst/>
          </a:prstGeom>
          <a:noFill/>
          <a:ln/>
        </p:spPr>
        <p:txBody>
          <a:bodyPr wrap="square" lIns="0" tIns="0" rIns="0" bIns="0" rtlCol="0" anchor="ctr"/>
          <a:lstStyle/>
          <a:p>
            <a:pPr indent="0" marL="0">
              <a:buNone/>
            </a:pPr>
            <a:r>
              <a:rPr lang="en-US" sz="1050" b="1" spc="200" kern="0" dirty="0">
                <a:solidFill>
                  <a:srgbClr val="F87171"/>
                </a:solidFill>
                <a:latin typeface="Trebuchet MS" pitchFamily="34" charset="0"/>
                <a:ea typeface="Trebuchet MS" pitchFamily="34" charset="-122"/>
                <a:cs typeface="Trebuchet MS" pitchFamily="34" charset="-120"/>
              </a:rPr>
              <a:t>THE SQUEEZE</a:t>
            </a:r>
            <a:endParaRPr lang="en-US" sz="1050" dirty="0"/>
          </a:p>
        </p:txBody>
      </p:sp>
      <p:sp>
        <p:nvSpPr>
          <p:cNvPr id="16" name="Text 14"/>
          <p:cNvSpPr/>
          <p:nvPr/>
        </p:nvSpPr>
        <p:spPr>
          <a:xfrm>
            <a:off x="6455664" y="1783080"/>
            <a:ext cx="2331720" cy="502920"/>
          </a:xfrm>
          <a:prstGeom prst="rect">
            <a:avLst/>
          </a:prstGeom>
          <a:noFill/>
          <a:ln/>
        </p:spPr>
        <p:txBody>
          <a:bodyPr wrap="square" lIns="0" tIns="0" rIns="0" bIns="0" rtlCol="0" anchor="ctr"/>
          <a:lstStyle/>
          <a:p>
            <a:pPr indent="0" marL="0">
              <a:buNone/>
            </a:pPr>
            <a:r>
              <a:rPr lang="en-US" sz="2300" b="1" dirty="0">
                <a:solidFill>
                  <a:srgbClr val="FFFFFF"/>
                </a:solidFill>
                <a:latin typeface="Trebuchet MS" pitchFamily="34" charset="0"/>
                <a:ea typeface="Trebuchet MS" pitchFamily="34" charset="-122"/>
                <a:cs typeface="Trebuchet MS" pitchFamily="34" charset="-120"/>
              </a:rPr>
              <a:t>$115 vs $290</a:t>
            </a:r>
            <a:endParaRPr lang="en-US" sz="2300" dirty="0"/>
          </a:p>
        </p:txBody>
      </p:sp>
      <p:sp>
        <p:nvSpPr>
          <p:cNvPr id="17" name="Text 15"/>
          <p:cNvSpPr/>
          <p:nvPr/>
        </p:nvSpPr>
        <p:spPr>
          <a:xfrm>
            <a:off x="6455664" y="2331720"/>
            <a:ext cx="2331720" cy="123444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what one insurer pays an independent vs. a hospital system for the very same visit</a:t>
            </a:r>
            <a:endParaRPr lang="en-US" sz="1150" dirty="0"/>
          </a:p>
        </p:txBody>
      </p:sp>
      <p:sp>
        <p:nvSpPr>
          <p:cNvPr id="18" name="Text 16"/>
          <p:cNvSpPr/>
          <p:nvPr/>
        </p:nvSpPr>
        <p:spPr>
          <a:xfrm>
            <a:off x="6455664" y="3611880"/>
            <a:ext cx="2331720" cy="594360"/>
          </a:xfrm>
          <a:prstGeom prst="rect">
            <a:avLst/>
          </a:prstGeom>
          <a:noFill/>
          <a:ln/>
        </p:spPr>
        <p:txBody>
          <a:bodyPr wrap="square" lIns="0" tIns="0" rIns="0" bIns="0" rtlCol="0" anchor="t"/>
          <a:lstStyle/>
          <a:p>
            <a:pPr indent="0" marL="0">
              <a:buNone/>
            </a:pPr>
            <a:r>
              <a:rPr lang="en-US" sz="1050" dirty="0">
                <a:solidFill>
                  <a:srgbClr val="8FA3BF"/>
                </a:solidFill>
                <a:latin typeface="Calibri" pitchFamily="34" charset="0"/>
                <a:ea typeface="Calibri" pitchFamily="34" charset="-122"/>
                <a:cs typeface="Calibri" pitchFamily="34" charset="-120"/>
              </a:rPr>
              <a:t>Independent share: 60% → 42% since 2012</a:t>
            </a:r>
            <a:endParaRPr lang="en-US" sz="1050" dirty="0"/>
          </a:p>
        </p:txBody>
      </p:sp>
      <p:sp>
        <p:nvSpPr>
          <p:cNvPr id="19" name="Text 17"/>
          <p:cNvSpPr/>
          <p:nvPr/>
        </p:nvSpPr>
        <p:spPr>
          <a:xfrm>
            <a:off x="457200" y="4526280"/>
            <a:ext cx="8229600" cy="274320"/>
          </a:xfrm>
          <a:prstGeom prst="rect">
            <a:avLst/>
          </a:prstGeom>
          <a:noFill/>
          <a:ln/>
        </p:spPr>
        <p:txBody>
          <a:bodyPr wrap="square" lIns="0" tIns="0" rIns="0" bIns="0" rtlCol="0" anchor="ctr"/>
          <a:lstStyle/>
          <a:p>
            <a:pPr indent="0" marL="0">
              <a:buNone/>
            </a:pPr>
            <a:r>
              <a:rPr lang="en-US" sz="1100" i="1" dirty="0">
                <a:solidFill>
                  <a:srgbClr val="5EEAD4"/>
                </a:solidFill>
                <a:latin typeface="Calibri" pitchFamily="34" charset="0"/>
                <a:ea typeface="Calibri" pitchFamily="34" charset="-122"/>
                <a:cs typeface="Calibri" pitchFamily="34" charset="-120"/>
              </a:rPr>
              <a:t>Every number on this slide is first-person, from practice owners we interviewed in the last 60 days.</a:t>
            </a:r>
            <a:endParaRPr lang="en-US" sz="1100" dirty="0"/>
          </a:p>
        </p:txBody>
      </p:sp>
      <p:sp>
        <p:nvSpPr>
          <p:cNvPr id="20" name="Text 18"/>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03  /  THE SOLUTION</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A wedge earning revenue today. A platform that owns the layer.</a:t>
            </a:r>
            <a:endParaRPr lang="en-US" sz="2200" dirty="0"/>
          </a:p>
        </p:txBody>
      </p:sp>
      <p:sp>
        <p:nvSpPr>
          <p:cNvPr id="4" name="Shape 2"/>
          <p:cNvSpPr/>
          <p:nvPr/>
        </p:nvSpPr>
        <p:spPr>
          <a:xfrm>
            <a:off x="457200" y="1280160"/>
            <a:ext cx="3794760" cy="2971800"/>
          </a:xfrm>
          <a:prstGeom prst="rect">
            <a:avLst/>
          </a:prstGeom>
          <a:solidFill>
            <a:srgbClr val="1B2942"/>
          </a:solidFill>
          <a:ln/>
        </p:spPr>
      </p:sp>
      <p:sp>
        <p:nvSpPr>
          <p:cNvPr id="5" name="Text 3"/>
          <p:cNvSpPr/>
          <p:nvPr/>
        </p:nvSpPr>
        <p:spPr>
          <a:xfrm>
            <a:off x="658368" y="1463040"/>
            <a:ext cx="338328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TODAY · THE WEDGE</a:t>
            </a:r>
            <a:endParaRPr lang="en-US" sz="1050" dirty="0"/>
          </a:p>
        </p:txBody>
      </p:sp>
      <p:sp>
        <p:nvSpPr>
          <p:cNvPr id="6" name="Text 4"/>
          <p:cNvSpPr/>
          <p:nvPr/>
        </p:nvSpPr>
        <p:spPr>
          <a:xfrm>
            <a:off x="658368" y="1755648"/>
            <a:ext cx="3383280" cy="365760"/>
          </a:xfrm>
          <a:prstGeom prst="rect">
            <a:avLst/>
          </a:prstGeom>
          <a:noFill/>
          <a:ln/>
        </p:spPr>
        <p:txBody>
          <a:bodyPr wrap="square" lIns="0" tIns="0" rIns="0" bIns="0" rtlCol="0" anchor="ctr"/>
          <a:lstStyle/>
          <a:p>
            <a:pPr indent="0" marL="0">
              <a:buNone/>
            </a:pPr>
            <a:r>
              <a:rPr lang="en-US" sz="1600" b="1" dirty="0">
                <a:solidFill>
                  <a:srgbClr val="FFFFFF"/>
                </a:solidFill>
                <a:latin typeface="Trebuchet MS" pitchFamily="34" charset="0"/>
                <a:ea typeface="Trebuchet MS" pitchFamily="34" charset="-122"/>
                <a:cs typeface="Trebuchet MS" pitchFamily="34" charset="-120"/>
              </a:rPr>
              <a:t>First-Year Financial Clarity</a:t>
            </a:r>
            <a:endParaRPr lang="en-US" sz="1600" dirty="0"/>
          </a:p>
        </p:txBody>
      </p:sp>
      <p:sp>
        <p:nvSpPr>
          <p:cNvPr id="7" name="Text 5"/>
          <p:cNvSpPr/>
          <p:nvPr/>
        </p:nvSpPr>
        <p:spPr>
          <a:xfrm>
            <a:off x="658368" y="2212848"/>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Lead offer: $1,000 money-back PoC — “we find $20K you're not collecting, or it's free”</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Upsell ladder to $20K done-for-you transition</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Selling now — no software build required</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Every engagement writes the platform spec</a:t>
            </a:r>
            <a:endParaRPr lang="en-US" sz="1200" dirty="0"/>
          </a:p>
        </p:txBody>
      </p:sp>
      <p:sp>
        <p:nvSpPr>
          <p:cNvPr id="8" name="Text 6"/>
          <p:cNvSpPr/>
          <p:nvPr/>
        </p:nvSpPr>
        <p:spPr>
          <a:xfrm>
            <a:off x="4224528" y="2468880"/>
            <a:ext cx="694944" cy="548640"/>
          </a:xfrm>
          <a:prstGeom prst="rect">
            <a:avLst/>
          </a:prstGeom>
          <a:noFill/>
          <a:ln/>
        </p:spPr>
        <p:txBody>
          <a:bodyPr wrap="square" lIns="0" tIns="0" rIns="0" bIns="0" rtlCol="0" anchor="ctr"/>
          <a:lstStyle/>
          <a:p>
            <a:pPr algn="ctr" indent="0" marL="0">
              <a:buNone/>
            </a:pPr>
            <a:r>
              <a:rPr lang="en-US" sz="3000" b="1" dirty="0">
                <a:solidFill>
                  <a:srgbClr val="2DD4BF"/>
                </a:solidFill>
                <a:latin typeface="Trebuchet MS" pitchFamily="34" charset="0"/>
                <a:ea typeface="Trebuchet MS" pitchFamily="34" charset="-122"/>
                <a:cs typeface="Trebuchet MS" pitchFamily="34" charset="-120"/>
              </a:rPr>
              <a:t>→</a:t>
            </a:r>
            <a:endParaRPr lang="en-US" sz="3000" dirty="0"/>
          </a:p>
        </p:txBody>
      </p:sp>
      <p:sp>
        <p:nvSpPr>
          <p:cNvPr id="9" name="Shape 7"/>
          <p:cNvSpPr/>
          <p:nvPr/>
        </p:nvSpPr>
        <p:spPr>
          <a:xfrm>
            <a:off x="4892040" y="1280160"/>
            <a:ext cx="3794760" cy="2971800"/>
          </a:xfrm>
          <a:prstGeom prst="rect">
            <a:avLst/>
          </a:prstGeom>
          <a:solidFill>
            <a:srgbClr val="1B2942"/>
          </a:solidFill>
          <a:ln/>
        </p:spPr>
      </p:sp>
      <p:sp>
        <p:nvSpPr>
          <p:cNvPr id="10" name="Text 8"/>
          <p:cNvSpPr/>
          <p:nvPr/>
        </p:nvSpPr>
        <p:spPr>
          <a:xfrm>
            <a:off x="5093208" y="1463040"/>
            <a:ext cx="3383280" cy="274320"/>
          </a:xfrm>
          <a:prstGeom prst="rect">
            <a:avLst/>
          </a:prstGeom>
          <a:noFill/>
          <a:ln/>
        </p:spPr>
        <p:txBody>
          <a:bodyPr wrap="square" lIns="0" tIns="0" rIns="0" bIns="0" rtlCol="0" anchor="ctr"/>
          <a:lstStyle/>
          <a:p>
            <a:pPr indent="0" marL="0">
              <a:buNone/>
            </a:pPr>
            <a:r>
              <a:rPr lang="en-US" sz="1050" b="1" spc="200" kern="0" dirty="0">
                <a:solidFill>
                  <a:srgbClr val="818CF8"/>
                </a:solidFill>
                <a:latin typeface="Trebuchet MS" pitchFamily="34" charset="0"/>
                <a:ea typeface="Trebuchet MS" pitchFamily="34" charset="-122"/>
                <a:cs typeface="Trebuchet MS" pitchFamily="34" charset="-120"/>
              </a:rPr>
              <a:t>NEXT · THE PLATFORM</a:t>
            </a:r>
            <a:endParaRPr lang="en-US" sz="1050" dirty="0"/>
          </a:p>
        </p:txBody>
      </p:sp>
      <p:sp>
        <p:nvSpPr>
          <p:cNvPr id="11" name="Text 9"/>
          <p:cNvSpPr/>
          <p:nvPr/>
        </p:nvSpPr>
        <p:spPr>
          <a:xfrm>
            <a:off x="5093208" y="1755648"/>
            <a:ext cx="3383280" cy="365760"/>
          </a:xfrm>
          <a:prstGeom prst="rect">
            <a:avLst/>
          </a:prstGeom>
          <a:noFill/>
          <a:ln/>
        </p:spPr>
        <p:txBody>
          <a:bodyPr wrap="square" lIns="0" tIns="0" rIns="0" bIns="0" rtlCol="0" anchor="ctr"/>
          <a:lstStyle/>
          <a:p>
            <a:pPr indent="0" marL="0">
              <a:buNone/>
            </a:pPr>
            <a:r>
              <a:rPr lang="en-US" sz="1700" b="1" dirty="0">
                <a:solidFill>
                  <a:srgbClr val="FFFFFF"/>
                </a:solidFill>
                <a:latin typeface="Trebuchet MS" pitchFamily="34" charset="0"/>
                <a:ea typeface="Trebuchet MS" pitchFamily="34" charset="-122"/>
                <a:cs typeface="Trebuchet MS" pitchFamily="34" charset="-120"/>
              </a:rPr>
              <a:t>AI-Native Financial OS</a:t>
            </a:r>
            <a:endParaRPr lang="en-US" sz="1700" dirty="0"/>
          </a:p>
        </p:txBody>
      </p:sp>
      <p:sp>
        <p:nvSpPr>
          <p:cNvPr id="12" name="Text 10"/>
          <p:cNvSpPr/>
          <p:nvPr/>
        </p:nvSpPr>
        <p:spPr>
          <a:xfrm>
            <a:off x="5093208" y="2212848"/>
            <a:ext cx="338328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Real-time P&amp;L and ROI on every staffing and growth decision</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Revenue-leak, denial and credentialing intelligence</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Sits above the EHR — zero migration</a:t>
            </a:r>
            <a:endParaRPr lang="en-US" sz="1200" dirty="0"/>
          </a:p>
          <a:p>
            <a:pPr marL="342900" indent="-3429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$500–799 / month per clinic</a:t>
            </a:r>
            <a:endParaRPr lang="en-US" sz="1200" dirty="0"/>
          </a:p>
        </p:txBody>
      </p:sp>
      <p:sp>
        <p:nvSpPr>
          <p:cNvPr id="13" name="Text 11"/>
          <p:cNvSpPr/>
          <p:nvPr/>
        </p:nvSpPr>
        <p:spPr>
          <a:xfrm>
            <a:off x="457200" y="4462272"/>
            <a:ext cx="8229600" cy="320040"/>
          </a:xfrm>
          <a:prstGeom prst="rect">
            <a:avLst/>
          </a:prstGeom>
          <a:noFill/>
          <a:ln/>
        </p:spPr>
        <p:txBody>
          <a:bodyPr wrap="square" lIns="0" tIns="0" rIns="0" bIns="0" rtlCol="0" anchor="ctr"/>
          <a:lstStyle/>
          <a:p>
            <a:pPr algn="ctr" indent="0" marL="0">
              <a:buNone/>
            </a:pPr>
            <a:r>
              <a:rPr lang="en-US" sz="1400" i="1" dirty="0">
                <a:solidFill>
                  <a:srgbClr val="5EEAD4"/>
                </a:solidFill>
                <a:latin typeface="Calibri" pitchFamily="34" charset="0"/>
                <a:ea typeface="Calibri" pitchFamily="34" charset="-122"/>
                <a:cs typeface="Calibri" pitchFamily="34" charset="-120"/>
              </a:rPr>
              <a:t>Every EHR is a rear-view mirror. PhysicianLabs is the windshield.</a:t>
            </a:r>
            <a:endParaRPr lang="en-US" sz="1400" dirty="0"/>
          </a:p>
        </p:txBody>
      </p:sp>
      <p:sp>
        <p:nvSpPr>
          <p:cNvPr id="14" name="Text 12"/>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04  /  LEADERSHIP</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Built by someone who has lived both sides of this problem.</a:t>
            </a:r>
            <a:endParaRPr lang="en-US" sz="2400" dirty="0"/>
          </a:p>
        </p:txBody>
      </p:sp>
      <p:sp>
        <p:nvSpPr>
          <p:cNvPr id="4" name="Shape 2"/>
          <p:cNvSpPr/>
          <p:nvPr/>
        </p:nvSpPr>
        <p:spPr>
          <a:xfrm>
            <a:off x="457200" y="1280160"/>
            <a:ext cx="2743200" cy="3108960"/>
          </a:xfrm>
          <a:prstGeom prst="rect">
            <a:avLst/>
          </a:prstGeom>
          <a:solidFill>
            <a:srgbClr val="1B2942"/>
          </a:solidFill>
          <a:ln/>
        </p:spPr>
      </p:sp>
      <p:sp>
        <p:nvSpPr>
          <p:cNvPr id="5" name="Text 3"/>
          <p:cNvSpPr/>
          <p:nvPr/>
        </p:nvSpPr>
        <p:spPr>
          <a:xfrm>
            <a:off x="658368" y="1600200"/>
            <a:ext cx="2377440" cy="36576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Ash Malleck</a:t>
            </a:r>
            <a:endParaRPr lang="en-US" sz="1900" dirty="0"/>
          </a:p>
        </p:txBody>
      </p:sp>
      <p:sp>
        <p:nvSpPr>
          <p:cNvPr id="6" name="Text 4"/>
          <p:cNvSpPr/>
          <p:nvPr/>
        </p:nvSpPr>
        <p:spPr>
          <a:xfrm>
            <a:off x="658368" y="1993392"/>
            <a:ext cx="237744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FOUNDER &amp; CEO</a:t>
            </a:r>
            <a:endParaRPr lang="en-US" sz="1050" dirty="0"/>
          </a:p>
        </p:txBody>
      </p:sp>
      <p:sp>
        <p:nvSpPr>
          <p:cNvPr id="7" name="Text 5"/>
          <p:cNvSpPr/>
          <p:nvPr/>
        </p:nvSpPr>
        <p:spPr>
          <a:xfrm>
            <a:off x="658368" y="2468880"/>
            <a:ext cx="2377440" cy="1280160"/>
          </a:xfrm>
          <a:prstGeom prst="rect">
            <a:avLst/>
          </a:prstGeom>
          <a:noFill/>
          <a:ln/>
        </p:spPr>
        <p:txBody>
          <a:bodyPr wrap="square" lIns="0" tIns="0" rIns="0" bIns="0" rtlCol="0" anchor="t"/>
          <a:lstStyle/>
          <a:p>
            <a:pPr indent="0" marL="0">
              <a:buNone/>
            </a:pPr>
            <a:r>
              <a:rPr lang="en-US" sz="1250" i="1" dirty="0">
                <a:solidFill>
                  <a:srgbClr val="FFFFFF"/>
                </a:solidFill>
                <a:latin typeface="Calibri" pitchFamily="34" charset="0"/>
                <a:ea typeface="Calibri" pitchFamily="34" charset="-122"/>
                <a:cs typeface="Calibri" pitchFamily="34" charset="-120"/>
              </a:rPr>
              <a:t>Three generations of physicians. This problem is family history, not a market report.</a:t>
            </a:r>
            <a:endParaRPr lang="en-US" sz="1250" dirty="0"/>
          </a:p>
        </p:txBody>
      </p:sp>
      <p:sp>
        <p:nvSpPr>
          <p:cNvPr id="8" name="Shape 6"/>
          <p:cNvSpPr/>
          <p:nvPr/>
        </p:nvSpPr>
        <p:spPr>
          <a:xfrm>
            <a:off x="3429000" y="1280160"/>
            <a:ext cx="5257800" cy="932688"/>
          </a:xfrm>
          <a:prstGeom prst="rect">
            <a:avLst/>
          </a:prstGeom>
          <a:solidFill>
            <a:srgbClr val="16213A"/>
          </a:solidFill>
          <a:ln/>
        </p:spPr>
      </p:sp>
      <p:sp>
        <p:nvSpPr>
          <p:cNvPr id="9" name="Text 7"/>
          <p:cNvSpPr/>
          <p:nvPr/>
        </p:nvSpPr>
        <p:spPr>
          <a:xfrm>
            <a:off x="3630168" y="1371600"/>
            <a:ext cx="4846320" cy="256032"/>
          </a:xfrm>
          <a:prstGeom prst="rect">
            <a:avLst/>
          </a:prstGeom>
          <a:noFill/>
          <a:ln/>
        </p:spPr>
        <p:txBody>
          <a:bodyPr wrap="square" lIns="0" tIns="0" rIns="0" bIns="0" rtlCol="0" anchor="ctr"/>
          <a:lstStyle/>
          <a:p>
            <a:pPr indent="0" marL="0">
              <a:buNone/>
            </a:pPr>
            <a:r>
              <a:rPr lang="en-US" sz="1150" b="1" spc="100" kern="0" dirty="0">
                <a:solidFill>
                  <a:srgbClr val="5EEAD4"/>
                </a:solidFill>
                <a:latin typeface="Trebuchet MS" pitchFamily="34" charset="0"/>
                <a:ea typeface="Trebuchet MS" pitchFamily="34" charset="-122"/>
                <a:cs typeface="Trebuchet MS" pitchFamily="34" charset="-120"/>
              </a:rPr>
              <a:t>5 YRS · McKINSEY &amp; COMPANY</a:t>
            </a:r>
            <a:endParaRPr lang="en-US" sz="1150" dirty="0"/>
          </a:p>
        </p:txBody>
      </p:sp>
      <p:sp>
        <p:nvSpPr>
          <p:cNvPr id="10" name="Text 8"/>
          <p:cNvSpPr/>
          <p:nvPr/>
        </p:nvSpPr>
        <p:spPr>
          <a:xfrm>
            <a:off x="3630168" y="1627632"/>
            <a:ext cx="4846320" cy="53035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Structured advisory on complex, high-stakes client problems — the same craft a clinic transition demands</a:t>
            </a:r>
            <a:endParaRPr lang="en-US" sz="1050" dirty="0"/>
          </a:p>
        </p:txBody>
      </p:sp>
      <p:sp>
        <p:nvSpPr>
          <p:cNvPr id="11" name="Shape 9"/>
          <p:cNvSpPr/>
          <p:nvPr/>
        </p:nvSpPr>
        <p:spPr>
          <a:xfrm>
            <a:off x="3429000" y="2350008"/>
            <a:ext cx="5257800" cy="932688"/>
          </a:xfrm>
          <a:prstGeom prst="rect">
            <a:avLst/>
          </a:prstGeom>
          <a:solidFill>
            <a:srgbClr val="16213A"/>
          </a:solidFill>
          <a:ln/>
        </p:spPr>
      </p:sp>
      <p:sp>
        <p:nvSpPr>
          <p:cNvPr id="12" name="Text 10"/>
          <p:cNvSpPr/>
          <p:nvPr/>
        </p:nvSpPr>
        <p:spPr>
          <a:xfrm>
            <a:off x="3630168" y="2441448"/>
            <a:ext cx="4846320" cy="256032"/>
          </a:xfrm>
          <a:prstGeom prst="rect">
            <a:avLst/>
          </a:prstGeom>
          <a:noFill/>
          <a:ln/>
        </p:spPr>
        <p:txBody>
          <a:bodyPr wrap="square" lIns="0" tIns="0" rIns="0" bIns="0" rtlCol="0" anchor="ctr"/>
          <a:lstStyle/>
          <a:p>
            <a:pPr indent="0" marL="0">
              <a:buNone/>
            </a:pPr>
            <a:r>
              <a:rPr lang="en-US" sz="1150" b="1" spc="100" kern="0" dirty="0">
                <a:solidFill>
                  <a:srgbClr val="5EEAD4"/>
                </a:solidFill>
                <a:latin typeface="Trebuchet MS" pitchFamily="34" charset="0"/>
                <a:ea typeface="Trebuchet MS" pitchFamily="34" charset="-122"/>
                <a:cs typeface="Trebuchet MS" pitchFamily="34" charset="-120"/>
              </a:rPr>
              <a:t>11 YRS · AMAZON, AWS &amp; EA</a:t>
            </a:r>
            <a:endParaRPr lang="en-US" sz="1150" dirty="0"/>
          </a:p>
        </p:txBody>
      </p:sp>
      <p:sp>
        <p:nvSpPr>
          <p:cNvPr id="13" name="Text 11"/>
          <p:cNvSpPr/>
          <p:nvPr/>
        </p:nvSpPr>
        <p:spPr>
          <a:xfrm>
            <a:off x="3630168" y="2697480"/>
            <a:ext cx="4846320" cy="53035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Zero-to-one product builder; shipped platforms from concept to scale</a:t>
            </a:r>
            <a:endParaRPr lang="en-US" sz="1050" dirty="0"/>
          </a:p>
        </p:txBody>
      </p:sp>
      <p:sp>
        <p:nvSpPr>
          <p:cNvPr id="14" name="Shape 12"/>
          <p:cNvSpPr/>
          <p:nvPr/>
        </p:nvSpPr>
        <p:spPr>
          <a:xfrm>
            <a:off x="3429000" y="3419856"/>
            <a:ext cx="5257800" cy="932688"/>
          </a:xfrm>
          <a:prstGeom prst="rect">
            <a:avLst/>
          </a:prstGeom>
          <a:solidFill>
            <a:srgbClr val="16213A"/>
          </a:solidFill>
          <a:ln/>
        </p:spPr>
      </p:sp>
      <p:sp>
        <p:nvSpPr>
          <p:cNvPr id="15" name="Text 13"/>
          <p:cNvSpPr/>
          <p:nvPr/>
        </p:nvSpPr>
        <p:spPr>
          <a:xfrm>
            <a:off x="3630168" y="3511296"/>
            <a:ext cx="4846320" cy="256032"/>
          </a:xfrm>
          <a:prstGeom prst="rect">
            <a:avLst/>
          </a:prstGeom>
          <a:noFill/>
          <a:ln/>
        </p:spPr>
        <p:txBody>
          <a:bodyPr wrap="square" lIns="0" tIns="0" rIns="0" bIns="0" rtlCol="0" anchor="ctr"/>
          <a:lstStyle/>
          <a:p>
            <a:pPr indent="0" marL="0">
              <a:buNone/>
            </a:pPr>
            <a:r>
              <a:rPr lang="en-US" sz="1150" b="1" spc="100" kern="0" dirty="0">
                <a:solidFill>
                  <a:srgbClr val="5EEAD4"/>
                </a:solidFill>
                <a:latin typeface="Trebuchet MS" pitchFamily="34" charset="0"/>
                <a:ea typeface="Trebuchet MS" pitchFamily="34" charset="-122"/>
                <a:cs typeface="Trebuchet MS" pitchFamily="34" charset="-120"/>
              </a:rPr>
              <a:t>ADVISORY BENCH + FIRST HIRES</a:t>
            </a:r>
            <a:endParaRPr lang="en-US" sz="1150" dirty="0"/>
          </a:p>
        </p:txBody>
      </p:sp>
      <p:sp>
        <p:nvSpPr>
          <p:cNvPr id="16" name="Text 14"/>
          <p:cNvSpPr/>
          <p:nvPr/>
        </p:nvSpPr>
        <p:spPr>
          <a:xfrm>
            <a:off x="3630168" y="3767328"/>
            <a:ext cx="4846320" cy="530352"/>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RCM operators, specialist accountants and attorneys, physicians across 5 specialties. This round hires the founding engineer + clinical ops lead.</a:t>
            </a:r>
            <a:endParaRPr lang="en-US" sz="1050" dirty="0"/>
          </a:p>
        </p:txBody>
      </p:sp>
      <p:sp>
        <p:nvSpPr>
          <p:cNvPr id="17" name="Text 15"/>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05  /  MARKET</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A $65B market with an unserved financial layer.</a:t>
            </a:r>
            <a:endParaRPr lang="en-US" sz="2400" dirty="0"/>
          </a:p>
        </p:txBody>
      </p:sp>
      <p:sp>
        <p:nvSpPr>
          <p:cNvPr id="4" name="Shape 2"/>
          <p:cNvSpPr/>
          <p:nvPr/>
        </p:nvSpPr>
        <p:spPr>
          <a:xfrm>
            <a:off x="457200" y="1280160"/>
            <a:ext cx="4663440" cy="932688"/>
          </a:xfrm>
          <a:prstGeom prst="rect">
            <a:avLst/>
          </a:prstGeom>
          <a:solidFill>
            <a:srgbClr val="16213A"/>
          </a:solidFill>
          <a:ln/>
        </p:spPr>
      </p:sp>
      <p:sp>
        <p:nvSpPr>
          <p:cNvPr id="5" name="Text 3"/>
          <p:cNvSpPr/>
          <p:nvPr/>
        </p:nvSpPr>
        <p:spPr>
          <a:xfrm>
            <a:off x="658368" y="1389888"/>
            <a:ext cx="4297680" cy="365760"/>
          </a:xfrm>
          <a:prstGeom prst="rect">
            <a:avLst/>
          </a:prstGeom>
          <a:noFill/>
          <a:ln/>
        </p:spPr>
        <p:txBody>
          <a:bodyPr wrap="square" lIns="0" tIns="0" rIns="0" bIns="0" rtlCol="0" anchor="ctr"/>
          <a:lstStyle/>
          <a:p>
            <a:pPr indent="0" marL="0">
              <a:buNone/>
            </a:pPr>
            <a:r>
              <a:rPr lang="en-US" sz="1900" b="1" dirty="0">
                <a:solidFill>
                  <a:srgbClr val="2DD4BF"/>
                </a:solidFill>
                <a:latin typeface="Trebuchet MS" pitchFamily="34" charset="0"/>
                <a:ea typeface="Trebuchet MS" pitchFamily="34" charset="-122"/>
                <a:cs typeface="Trebuchet MS" pitchFamily="34" charset="-120"/>
              </a:rPr>
              <a:t>$65.4B → $196B</a:t>
            </a:r>
            <a:endParaRPr lang="en-US" sz="1900" dirty="0"/>
          </a:p>
        </p:txBody>
      </p:sp>
      <p:sp>
        <p:nvSpPr>
          <p:cNvPr id="6" name="Text 4"/>
          <p:cNvSpPr/>
          <p:nvPr/>
        </p:nvSpPr>
        <p:spPr>
          <a:xfrm>
            <a:off x="658368" y="1783080"/>
            <a:ext cx="4297680" cy="36576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US revenue cycle management, 2025 → 2035 (11.6% CAGR)</a:t>
            </a:r>
            <a:endParaRPr lang="en-US" sz="1100" dirty="0"/>
          </a:p>
        </p:txBody>
      </p:sp>
      <p:sp>
        <p:nvSpPr>
          <p:cNvPr id="7" name="Shape 5"/>
          <p:cNvSpPr/>
          <p:nvPr/>
        </p:nvSpPr>
        <p:spPr>
          <a:xfrm>
            <a:off x="457200" y="2350008"/>
            <a:ext cx="4663440" cy="932688"/>
          </a:xfrm>
          <a:prstGeom prst="rect">
            <a:avLst/>
          </a:prstGeom>
          <a:solidFill>
            <a:srgbClr val="16213A"/>
          </a:solidFill>
          <a:ln/>
        </p:spPr>
      </p:sp>
      <p:sp>
        <p:nvSpPr>
          <p:cNvPr id="8" name="Text 6"/>
          <p:cNvSpPr/>
          <p:nvPr/>
        </p:nvSpPr>
        <p:spPr>
          <a:xfrm>
            <a:off x="658368" y="2459736"/>
            <a:ext cx="4297680" cy="36576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$480M</a:t>
            </a:r>
            <a:endParaRPr lang="en-US" sz="1900" dirty="0"/>
          </a:p>
        </p:txBody>
      </p:sp>
      <p:sp>
        <p:nvSpPr>
          <p:cNvPr id="9" name="Text 7"/>
          <p:cNvSpPr/>
          <p:nvPr/>
        </p:nvSpPr>
        <p:spPr>
          <a:xfrm>
            <a:off x="658368" y="2852928"/>
            <a:ext cx="4297680" cy="36576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serviceable market: 100,000 independent practices × $4,800 / yr</a:t>
            </a:r>
            <a:endParaRPr lang="en-US" sz="1100" dirty="0"/>
          </a:p>
        </p:txBody>
      </p:sp>
      <p:sp>
        <p:nvSpPr>
          <p:cNvPr id="10" name="Shape 8"/>
          <p:cNvSpPr/>
          <p:nvPr/>
        </p:nvSpPr>
        <p:spPr>
          <a:xfrm>
            <a:off x="457200" y="3419856"/>
            <a:ext cx="4663440" cy="932688"/>
          </a:xfrm>
          <a:prstGeom prst="rect">
            <a:avLst/>
          </a:prstGeom>
          <a:solidFill>
            <a:srgbClr val="16213A"/>
          </a:solidFill>
          <a:ln/>
        </p:spPr>
      </p:sp>
      <p:sp>
        <p:nvSpPr>
          <p:cNvPr id="11" name="Text 9"/>
          <p:cNvSpPr/>
          <p:nvPr/>
        </p:nvSpPr>
        <p:spPr>
          <a:xfrm>
            <a:off x="658368" y="3529584"/>
            <a:ext cx="4297680" cy="365760"/>
          </a:xfrm>
          <a:prstGeom prst="rect">
            <a:avLst/>
          </a:prstGeom>
          <a:noFill/>
          <a:ln/>
        </p:spPr>
        <p:txBody>
          <a:bodyPr wrap="square" lIns="0" tIns="0" rIns="0" bIns="0" rtlCol="0" anchor="ctr"/>
          <a:lstStyle/>
          <a:p>
            <a:pPr indent="0" marL="0">
              <a:buNone/>
            </a:pPr>
            <a:r>
              <a:rPr lang="en-US" sz="1900" b="1" dirty="0">
                <a:solidFill>
                  <a:srgbClr val="FFFFFF"/>
                </a:solidFill>
                <a:latin typeface="Trebuchet MS" pitchFamily="34" charset="0"/>
                <a:ea typeface="Trebuchet MS" pitchFamily="34" charset="-122"/>
                <a:cs typeface="Trebuchet MS" pitchFamily="34" charset="-120"/>
              </a:rPr>
              <a:t>$23–46M / yr</a:t>
            </a:r>
            <a:endParaRPr lang="en-US" sz="1900" dirty="0"/>
          </a:p>
        </p:txBody>
      </p:sp>
      <p:sp>
        <p:nvSpPr>
          <p:cNvPr id="12" name="Text 10"/>
          <p:cNvSpPr/>
          <p:nvPr/>
        </p:nvSpPr>
        <p:spPr>
          <a:xfrm>
            <a:off x="658368" y="3922776"/>
            <a:ext cx="4297680" cy="36576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wedge entry: 5–10K practices in their first year, every year</a:t>
            </a:r>
            <a:endParaRPr lang="en-US" sz="1100" dirty="0"/>
          </a:p>
        </p:txBody>
      </p:sp>
      <p:sp>
        <p:nvSpPr>
          <p:cNvPr id="13" name="Shape 11"/>
          <p:cNvSpPr/>
          <p:nvPr/>
        </p:nvSpPr>
        <p:spPr>
          <a:xfrm>
            <a:off x="5349240" y="1280160"/>
            <a:ext cx="3337560" cy="3072384"/>
          </a:xfrm>
          <a:prstGeom prst="rect">
            <a:avLst/>
          </a:prstGeom>
          <a:solidFill>
            <a:srgbClr val="1B2942"/>
          </a:solidFill>
          <a:ln/>
        </p:spPr>
      </p:sp>
      <p:sp>
        <p:nvSpPr>
          <p:cNvPr id="14" name="Text 12"/>
          <p:cNvSpPr/>
          <p:nvPr/>
        </p:nvSpPr>
        <p:spPr>
          <a:xfrm>
            <a:off x="5550408" y="1463040"/>
            <a:ext cx="2926080" cy="274320"/>
          </a:xfrm>
          <a:prstGeom prst="rect">
            <a:avLst/>
          </a:prstGeom>
          <a:noFill/>
          <a:ln/>
        </p:spPr>
        <p:txBody>
          <a:bodyPr wrap="square" lIns="0" tIns="0" rIns="0" bIns="0" rtlCol="0" anchor="ctr"/>
          <a:lstStyle/>
          <a:p>
            <a:pPr indent="0" marL="0">
              <a:buNone/>
            </a:pPr>
            <a:r>
              <a:rPr lang="en-US" sz="1050" b="1" spc="200" kern="0" dirty="0">
                <a:solidFill>
                  <a:srgbClr val="FBBF24"/>
                </a:solidFill>
                <a:latin typeface="Trebuchet MS" pitchFamily="34" charset="0"/>
                <a:ea typeface="Trebuchet MS" pitchFamily="34" charset="-122"/>
                <a:cs typeface="Trebuchet MS" pitchFamily="34" charset="-120"/>
              </a:rPr>
              <a:t>THE HONEST TREND</a:t>
            </a:r>
            <a:endParaRPr lang="en-US" sz="1050" dirty="0"/>
          </a:p>
        </p:txBody>
      </p:sp>
      <p:sp>
        <p:nvSpPr>
          <p:cNvPr id="15" name="Text 13"/>
          <p:cNvSpPr/>
          <p:nvPr/>
        </p:nvSpPr>
        <p:spPr>
          <a:xfrm>
            <a:off x="5550408" y="1783080"/>
            <a:ext cx="2926080" cy="10058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Independent share fell 60% → 42% since 2012. We name it, because it is the point:</a:t>
            </a:r>
            <a:endParaRPr lang="en-US" sz="1200" dirty="0"/>
          </a:p>
        </p:txBody>
      </p:sp>
      <p:sp>
        <p:nvSpPr>
          <p:cNvPr id="16" name="Text 14"/>
          <p:cNvSpPr/>
          <p:nvPr/>
        </p:nvSpPr>
        <p:spPr>
          <a:xfrm>
            <a:off x="5550408" y="2788920"/>
            <a:ext cx="2926080" cy="1463040"/>
          </a:xfrm>
          <a:prstGeom prst="rect">
            <a:avLst/>
          </a:prstGeom>
          <a:noFill/>
          <a:ln/>
        </p:spPr>
        <p:txBody>
          <a:bodyPr wrap="square" lIns="0" tIns="0" rIns="0" bIns="0" rtlCol="0" anchor="t"/>
          <a:lstStyle/>
          <a:p>
            <a:pPr indent="0" marL="0">
              <a:buNone/>
            </a:pPr>
            <a:r>
              <a:rPr lang="en-US" sz="1200" dirty="0">
                <a:solidFill>
                  <a:srgbClr val="5EEAD4"/>
                </a:solidFill>
                <a:latin typeface="Calibri" pitchFamily="34" charset="0"/>
                <a:ea typeface="Calibri" pitchFamily="34" charset="-122"/>
                <a:cs typeface="Calibri" pitchFamily="34" charset="-120"/>
              </a:rPr>
              <a:t>today's independents choose it with conviction. Direct Primary Care is a $61B market growing 10–15% a year, with 9 new physician-ownership platforms launched in 2025.</a:t>
            </a:r>
            <a:endParaRPr lang="en-US" sz="1200" dirty="0"/>
          </a:p>
        </p:txBody>
      </p:sp>
      <p:sp>
        <p:nvSpPr>
          <p:cNvPr id="17" name="Text 15"/>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06  /  CUSTOMERS, UNIT ECONOMICS &amp; CAC</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A wedge that pays for its own customer acquisition.</a:t>
            </a:r>
            <a:endParaRPr lang="en-US" sz="2400" dirty="0"/>
          </a:p>
        </p:txBody>
      </p:sp>
      <p:sp>
        <p:nvSpPr>
          <p:cNvPr id="4" name="Shape 2"/>
          <p:cNvSpPr/>
          <p:nvPr/>
        </p:nvSpPr>
        <p:spPr>
          <a:xfrm>
            <a:off x="457200" y="1280160"/>
            <a:ext cx="3200400" cy="3200400"/>
          </a:xfrm>
          <a:prstGeom prst="rect">
            <a:avLst/>
          </a:prstGeom>
          <a:solidFill>
            <a:srgbClr val="1B2942"/>
          </a:solidFill>
          <a:ln/>
        </p:spPr>
      </p:sp>
      <p:sp>
        <p:nvSpPr>
          <p:cNvPr id="5" name="Text 3"/>
          <p:cNvSpPr/>
          <p:nvPr/>
        </p:nvSpPr>
        <p:spPr>
          <a:xfrm>
            <a:off x="658368" y="1463040"/>
            <a:ext cx="278892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THE CUSTOMER</a:t>
            </a:r>
            <a:endParaRPr lang="en-US" sz="1050" dirty="0"/>
          </a:p>
        </p:txBody>
      </p:sp>
      <p:sp>
        <p:nvSpPr>
          <p:cNvPr id="6" name="Text 4"/>
          <p:cNvSpPr/>
          <p:nvPr/>
        </p:nvSpPr>
        <p:spPr>
          <a:xfrm>
            <a:off x="658368" y="1783080"/>
            <a:ext cx="2788920" cy="105156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Hospital-employed physician, 5–15 years in, deliberately exiting to independent or concierge practice.</a:t>
            </a:r>
            <a:endParaRPr lang="en-US" sz="1200" dirty="0"/>
          </a:p>
        </p:txBody>
      </p:sp>
      <p:sp>
        <p:nvSpPr>
          <p:cNvPr id="7" name="Text 5"/>
          <p:cNvSpPr/>
          <p:nvPr/>
        </p:nvSpPr>
        <p:spPr>
          <a:xfrm>
            <a:off x="658368" y="2834640"/>
            <a:ext cx="2788920" cy="960120"/>
          </a:xfrm>
          <a:prstGeom prst="rect">
            <a:avLst/>
          </a:prstGeom>
          <a:noFill/>
          <a:ln/>
        </p:spPr>
        <p:txBody>
          <a:bodyPr wrap="square" lIns="0" tIns="0" rIns="0" bIns="0" rtlCol="0" anchor="t"/>
          <a:lstStyle/>
          <a:p>
            <a:pPr indent="0" marL="0">
              <a:buNone/>
            </a:pPr>
            <a:r>
              <a:rPr lang="en-US" sz="1100" dirty="0">
                <a:solidFill>
                  <a:srgbClr val="8FA3BF"/>
                </a:solidFill>
                <a:latin typeface="Calibri" pitchFamily="34" charset="0"/>
                <a:ea typeface="Calibri" pitchFamily="34" charset="-122"/>
                <a:cs typeface="Calibri" pitchFamily="34" charset="-120"/>
              </a:rPr>
              <a:t>Disposable income, high stakes, zero tolerance for guesswork. Hottest buyers: launched within the last 6–12 months.</a:t>
            </a:r>
            <a:endParaRPr lang="en-US" sz="1100" dirty="0"/>
          </a:p>
        </p:txBody>
      </p:sp>
      <p:sp>
        <p:nvSpPr>
          <p:cNvPr id="8" name="Text 6"/>
          <p:cNvSpPr/>
          <p:nvPr/>
        </p:nvSpPr>
        <p:spPr>
          <a:xfrm>
            <a:off x="658368" y="3794760"/>
            <a:ext cx="2788920" cy="594360"/>
          </a:xfrm>
          <a:prstGeom prst="rect">
            <a:avLst/>
          </a:prstGeom>
          <a:noFill/>
          <a:ln/>
        </p:spPr>
        <p:txBody>
          <a:bodyPr wrap="square" lIns="0" tIns="0" rIns="0" bIns="0" rtlCol="0" anchor="t"/>
          <a:lstStyle/>
          <a:p>
            <a:pPr indent="0" marL="0">
              <a:buNone/>
            </a:pPr>
            <a:r>
              <a:rPr lang="en-US" sz="1100" b="1" i="1" dirty="0">
                <a:solidFill>
                  <a:srgbClr val="5EEAD4"/>
                </a:solidFill>
                <a:latin typeface="Calibri" pitchFamily="34" charset="0"/>
                <a:ea typeface="Calibri" pitchFamily="34" charset="-122"/>
                <a:cs typeface="Calibri" pitchFamily="34" charset="-120"/>
              </a:rPr>
              <a:t>WTP on record: $1K prospective, $10K retrospective — same surgeon.</a:t>
            </a:r>
            <a:endParaRPr lang="en-US" sz="1100" dirty="0"/>
          </a:p>
        </p:txBody>
      </p:sp>
      <p:sp>
        <p:nvSpPr>
          <p:cNvPr id="9" name="Shape 7"/>
          <p:cNvSpPr/>
          <p:nvPr/>
        </p:nvSpPr>
        <p:spPr>
          <a:xfrm>
            <a:off x="3886200" y="1280160"/>
            <a:ext cx="2286000" cy="1508760"/>
          </a:xfrm>
          <a:prstGeom prst="rect">
            <a:avLst/>
          </a:prstGeom>
          <a:solidFill>
            <a:srgbClr val="16213A"/>
          </a:solidFill>
          <a:ln/>
        </p:spPr>
      </p:sp>
      <p:sp>
        <p:nvSpPr>
          <p:cNvPr id="10" name="Text 8"/>
          <p:cNvSpPr/>
          <p:nvPr/>
        </p:nvSpPr>
        <p:spPr>
          <a:xfrm>
            <a:off x="4069080" y="1426464"/>
            <a:ext cx="1920240" cy="502920"/>
          </a:xfrm>
          <a:prstGeom prst="rect">
            <a:avLst/>
          </a:prstGeom>
          <a:noFill/>
          <a:ln/>
        </p:spPr>
        <p:txBody>
          <a:bodyPr wrap="square" lIns="0" tIns="0" rIns="0" bIns="0" rtlCol="0" anchor="ctr"/>
          <a:lstStyle/>
          <a:p>
            <a:pPr indent="0" marL="0">
              <a:buNone/>
            </a:pPr>
            <a:r>
              <a:rPr lang="en-US" sz="2600" b="1" dirty="0">
                <a:solidFill>
                  <a:srgbClr val="2DD4BF"/>
                </a:solidFill>
                <a:latin typeface="Trebuchet MS" pitchFamily="34" charset="0"/>
                <a:ea typeface="Trebuchet MS" pitchFamily="34" charset="-122"/>
                <a:cs typeface="Trebuchet MS" pitchFamily="34" charset="-120"/>
              </a:rPr>
              <a:t>$12K</a:t>
            </a:r>
            <a:endParaRPr lang="en-US" sz="2600" dirty="0"/>
          </a:p>
        </p:txBody>
      </p:sp>
      <p:sp>
        <p:nvSpPr>
          <p:cNvPr id="11" name="Text 9"/>
          <p:cNvSpPr/>
          <p:nvPr/>
        </p:nvSpPr>
        <p:spPr>
          <a:xfrm>
            <a:off x="4069080" y="1965960"/>
            <a:ext cx="1920240"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year-1 revenue per clinic (program + subscription)</a:t>
            </a:r>
            <a:endParaRPr lang="en-US" sz="1050" dirty="0"/>
          </a:p>
        </p:txBody>
      </p:sp>
      <p:sp>
        <p:nvSpPr>
          <p:cNvPr id="12" name="Shape 10"/>
          <p:cNvSpPr/>
          <p:nvPr/>
        </p:nvSpPr>
        <p:spPr>
          <a:xfrm>
            <a:off x="6355080" y="1280160"/>
            <a:ext cx="2286000" cy="1508760"/>
          </a:xfrm>
          <a:prstGeom prst="rect">
            <a:avLst/>
          </a:prstGeom>
          <a:solidFill>
            <a:srgbClr val="16213A"/>
          </a:solidFill>
          <a:ln/>
        </p:spPr>
      </p:sp>
      <p:sp>
        <p:nvSpPr>
          <p:cNvPr id="13" name="Text 11"/>
          <p:cNvSpPr/>
          <p:nvPr/>
        </p:nvSpPr>
        <p:spPr>
          <a:xfrm>
            <a:off x="6537960" y="1426464"/>
            <a:ext cx="1920240" cy="502920"/>
          </a:xfrm>
          <a:prstGeom prst="rect">
            <a:avLst/>
          </a:prstGeom>
          <a:noFill/>
          <a:ln/>
        </p:spPr>
        <p:txBody>
          <a:bodyPr wrap="square" lIns="0" tIns="0" rIns="0" bIns="0" rtlCol="0" anchor="ctr"/>
          <a:lstStyle/>
          <a:p>
            <a:pPr indent="0" marL="0">
              <a:buNone/>
            </a:pPr>
            <a:r>
              <a:rPr lang="en-US" sz="2600" b="1" dirty="0">
                <a:solidFill>
                  <a:srgbClr val="2DD4BF"/>
                </a:solidFill>
                <a:latin typeface="Trebuchet MS" pitchFamily="34" charset="0"/>
                <a:ea typeface="Trebuchet MS" pitchFamily="34" charset="-122"/>
                <a:cs typeface="Trebuchet MS" pitchFamily="34" charset="-120"/>
              </a:rPr>
              <a:t>$400</a:t>
            </a:r>
            <a:endParaRPr lang="en-US" sz="2600" dirty="0"/>
          </a:p>
        </p:txBody>
      </p:sp>
      <p:sp>
        <p:nvSpPr>
          <p:cNvPr id="14" name="Text 12"/>
          <p:cNvSpPr/>
          <p:nvPr/>
        </p:nvSpPr>
        <p:spPr>
          <a:xfrm>
            <a:off x="6537960" y="1965960"/>
            <a:ext cx="1920240"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CAC — organic, warm-network motion</a:t>
            </a:r>
            <a:endParaRPr lang="en-US" sz="1050" dirty="0"/>
          </a:p>
        </p:txBody>
      </p:sp>
      <p:sp>
        <p:nvSpPr>
          <p:cNvPr id="15" name="Shape 13"/>
          <p:cNvSpPr/>
          <p:nvPr/>
        </p:nvSpPr>
        <p:spPr>
          <a:xfrm>
            <a:off x="3886200" y="2926080"/>
            <a:ext cx="2286000" cy="1508760"/>
          </a:xfrm>
          <a:prstGeom prst="rect">
            <a:avLst/>
          </a:prstGeom>
          <a:solidFill>
            <a:srgbClr val="16213A"/>
          </a:solidFill>
          <a:ln/>
        </p:spPr>
      </p:sp>
      <p:sp>
        <p:nvSpPr>
          <p:cNvPr id="16" name="Text 14"/>
          <p:cNvSpPr/>
          <p:nvPr/>
        </p:nvSpPr>
        <p:spPr>
          <a:xfrm>
            <a:off x="4069080" y="3072384"/>
            <a:ext cx="1920240" cy="502920"/>
          </a:xfrm>
          <a:prstGeom prst="rect">
            <a:avLst/>
          </a:prstGeom>
          <a:noFill/>
          <a:ln/>
        </p:spPr>
        <p:txBody>
          <a:bodyPr wrap="square" lIns="0" tIns="0" rIns="0" bIns="0" rtlCol="0" anchor="ctr"/>
          <a:lstStyle/>
          <a:p>
            <a:pPr indent="0" marL="0">
              <a:buNone/>
            </a:pPr>
            <a:r>
              <a:rPr lang="en-US" sz="2600" b="1" dirty="0">
                <a:solidFill>
                  <a:srgbClr val="2DD4BF"/>
                </a:solidFill>
                <a:latin typeface="Trebuchet MS" pitchFamily="34" charset="0"/>
                <a:ea typeface="Trebuchet MS" pitchFamily="34" charset="-122"/>
                <a:cs typeface="Trebuchet MS" pitchFamily="34" charset="-120"/>
              </a:rPr>
              <a:t>30:1</a:t>
            </a:r>
            <a:endParaRPr lang="en-US" sz="2600" dirty="0"/>
          </a:p>
        </p:txBody>
      </p:sp>
      <p:sp>
        <p:nvSpPr>
          <p:cNvPr id="17" name="Text 15"/>
          <p:cNvSpPr/>
          <p:nvPr/>
        </p:nvSpPr>
        <p:spPr>
          <a:xfrm>
            <a:off x="4069080" y="3611880"/>
            <a:ext cx="1920240"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LTV:CAC today; 6–8:1 at paid scale</a:t>
            </a:r>
            <a:endParaRPr lang="en-US" sz="1050" dirty="0"/>
          </a:p>
        </p:txBody>
      </p:sp>
      <p:sp>
        <p:nvSpPr>
          <p:cNvPr id="18" name="Shape 16"/>
          <p:cNvSpPr/>
          <p:nvPr/>
        </p:nvSpPr>
        <p:spPr>
          <a:xfrm>
            <a:off x="6355080" y="2926080"/>
            <a:ext cx="2286000" cy="1508760"/>
          </a:xfrm>
          <a:prstGeom prst="rect">
            <a:avLst/>
          </a:prstGeom>
          <a:solidFill>
            <a:srgbClr val="16213A"/>
          </a:solidFill>
          <a:ln/>
        </p:spPr>
      </p:sp>
      <p:sp>
        <p:nvSpPr>
          <p:cNvPr id="19" name="Text 17"/>
          <p:cNvSpPr/>
          <p:nvPr/>
        </p:nvSpPr>
        <p:spPr>
          <a:xfrm>
            <a:off x="6537960" y="3072384"/>
            <a:ext cx="1920240" cy="502920"/>
          </a:xfrm>
          <a:prstGeom prst="rect">
            <a:avLst/>
          </a:prstGeom>
          <a:noFill/>
          <a:ln/>
        </p:spPr>
        <p:txBody>
          <a:bodyPr wrap="square" lIns="0" tIns="0" rIns="0" bIns="0" rtlCol="0" anchor="ctr"/>
          <a:lstStyle/>
          <a:p>
            <a:pPr indent="0" marL="0">
              <a:buNone/>
            </a:pPr>
            <a:r>
              <a:rPr lang="en-US" sz="2600" b="1" dirty="0">
                <a:solidFill>
                  <a:srgbClr val="2DD4BF"/>
                </a:solidFill>
                <a:latin typeface="Trebuchet MS" pitchFamily="34" charset="0"/>
                <a:ea typeface="Trebuchet MS" pitchFamily="34" charset="-122"/>
                <a:cs typeface="Trebuchet MS" pitchFamily="34" charset="-120"/>
              </a:rPr>
              <a:t>&lt;1 mo</a:t>
            </a:r>
            <a:endParaRPr lang="en-US" sz="2600" dirty="0"/>
          </a:p>
        </p:txBody>
      </p:sp>
      <p:sp>
        <p:nvSpPr>
          <p:cNvPr id="20" name="Text 18"/>
          <p:cNvSpPr/>
          <p:nvPr/>
        </p:nvSpPr>
        <p:spPr>
          <a:xfrm>
            <a:off x="6537960" y="3611880"/>
            <a:ext cx="1920240" cy="73152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payback — program fee collected up front</a:t>
            </a:r>
            <a:endParaRPr lang="en-US" sz="1050" dirty="0"/>
          </a:p>
        </p:txBody>
      </p:sp>
      <p:sp>
        <p:nvSpPr>
          <p:cNvPr id="21" name="Text 19"/>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07  /  GO-TO-MARKET</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Precision before scale — a channel we already operate.</a:t>
            </a:r>
            <a:endParaRPr lang="en-US" sz="2400" dirty="0"/>
          </a:p>
        </p:txBody>
      </p:sp>
      <p:sp>
        <p:nvSpPr>
          <p:cNvPr id="4" name="Shape 2"/>
          <p:cNvSpPr/>
          <p:nvPr/>
        </p:nvSpPr>
        <p:spPr>
          <a:xfrm>
            <a:off x="457200" y="1280160"/>
            <a:ext cx="2715768" cy="2834640"/>
          </a:xfrm>
          <a:prstGeom prst="rect">
            <a:avLst/>
          </a:prstGeom>
          <a:solidFill>
            <a:srgbClr val="1B2942"/>
          </a:solidFill>
          <a:ln/>
        </p:spPr>
      </p:sp>
      <p:sp>
        <p:nvSpPr>
          <p:cNvPr id="5" name="Shape 3"/>
          <p:cNvSpPr/>
          <p:nvPr/>
        </p:nvSpPr>
        <p:spPr>
          <a:xfrm>
            <a:off x="658368" y="1481328"/>
            <a:ext cx="457200" cy="457200"/>
          </a:xfrm>
          <a:prstGeom prst="ellipse">
            <a:avLst/>
          </a:prstGeom>
          <a:solidFill>
            <a:srgbClr val="2DD4BF"/>
          </a:solidFill>
          <a:ln/>
        </p:spPr>
      </p:sp>
      <p:sp>
        <p:nvSpPr>
          <p:cNvPr id="6" name="Text 4"/>
          <p:cNvSpPr/>
          <p:nvPr/>
        </p:nvSpPr>
        <p:spPr>
          <a:xfrm>
            <a:off x="658368" y="1481328"/>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658368" y="2103120"/>
            <a:ext cx="2331720" cy="457200"/>
          </a:xfrm>
          <a:prstGeom prst="rect">
            <a:avLst/>
          </a:prstGeom>
          <a:noFill/>
          <a:ln/>
        </p:spPr>
        <p:txBody>
          <a:bodyPr wrap="square" lIns="0" tIns="0" rIns="0" bIns="0" rtlCol="0" anchor="ctr"/>
          <a:lstStyle/>
          <a:p>
            <a:pPr indent="0" marL="0">
              <a:buNone/>
            </a:pPr>
            <a:r>
              <a:rPr lang="en-US" sz="1100" b="1" spc="100" kern="0" dirty="0">
                <a:solidFill>
                  <a:srgbClr val="5EEAD4"/>
                </a:solidFill>
                <a:latin typeface="Trebuchet MS" pitchFamily="34" charset="0"/>
                <a:ea typeface="Trebuchet MS" pitchFamily="34" charset="-122"/>
                <a:cs typeface="Trebuchet MS" pitchFamily="34" charset="-120"/>
              </a:rPr>
              <a:t>WARM NETWORK · NOW</a:t>
            </a:r>
            <a:endParaRPr lang="en-US" sz="1100" dirty="0"/>
          </a:p>
        </p:txBody>
      </p:sp>
      <p:sp>
        <p:nvSpPr>
          <p:cNvPr id="8" name="Text 6"/>
          <p:cNvSpPr/>
          <p:nvPr/>
        </p:nvSpPr>
        <p:spPr>
          <a:xfrm>
            <a:off x="658368" y="2606040"/>
            <a:ext cx="2331720" cy="1417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Named pipeline from three generations of physician relationships: surgical specialists, IPA pods splitting off, direct referrals from interview subjects</a:t>
            </a:r>
            <a:endParaRPr lang="en-US" sz="1150" dirty="0"/>
          </a:p>
        </p:txBody>
      </p:sp>
      <p:sp>
        <p:nvSpPr>
          <p:cNvPr id="9" name="Shape 7"/>
          <p:cNvSpPr/>
          <p:nvPr/>
        </p:nvSpPr>
        <p:spPr>
          <a:xfrm>
            <a:off x="3355848" y="1280160"/>
            <a:ext cx="2715768" cy="2834640"/>
          </a:xfrm>
          <a:prstGeom prst="rect">
            <a:avLst/>
          </a:prstGeom>
          <a:solidFill>
            <a:srgbClr val="1B2942"/>
          </a:solidFill>
          <a:ln/>
        </p:spPr>
      </p:sp>
      <p:sp>
        <p:nvSpPr>
          <p:cNvPr id="10" name="Shape 8"/>
          <p:cNvSpPr/>
          <p:nvPr/>
        </p:nvSpPr>
        <p:spPr>
          <a:xfrm>
            <a:off x="3557016" y="1481328"/>
            <a:ext cx="457200" cy="457200"/>
          </a:xfrm>
          <a:prstGeom prst="ellipse">
            <a:avLst/>
          </a:prstGeom>
          <a:solidFill>
            <a:srgbClr val="2DD4BF"/>
          </a:solidFill>
          <a:ln/>
        </p:spPr>
      </p:sp>
      <p:sp>
        <p:nvSpPr>
          <p:cNvPr id="11" name="Text 9"/>
          <p:cNvSpPr/>
          <p:nvPr/>
        </p:nvSpPr>
        <p:spPr>
          <a:xfrm>
            <a:off x="3557016" y="1481328"/>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Trebuchet MS" pitchFamily="34" charset="0"/>
                <a:ea typeface="Trebuchet MS" pitchFamily="34" charset="-122"/>
                <a:cs typeface="Trebuchet MS" pitchFamily="34" charset="-120"/>
              </a:rPr>
              <a:t>2</a:t>
            </a:r>
            <a:endParaRPr lang="en-US" sz="1800" dirty="0"/>
          </a:p>
        </p:txBody>
      </p:sp>
      <p:sp>
        <p:nvSpPr>
          <p:cNvPr id="12" name="Text 10"/>
          <p:cNvSpPr/>
          <p:nvPr/>
        </p:nvSpPr>
        <p:spPr>
          <a:xfrm>
            <a:off x="3557016" y="2103120"/>
            <a:ext cx="2331720" cy="457200"/>
          </a:xfrm>
          <a:prstGeom prst="rect">
            <a:avLst/>
          </a:prstGeom>
          <a:noFill/>
          <a:ln/>
        </p:spPr>
        <p:txBody>
          <a:bodyPr wrap="square" lIns="0" tIns="0" rIns="0" bIns="0" rtlCol="0" anchor="ctr"/>
          <a:lstStyle/>
          <a:p>
            <a:pPr indent="0" marL="0">
              <a:buNone/>
            </a:pPr>
            <a:r>
              <a:rPr lang="en-US" sz="1100" b="1" spc="100" kern="0" dirty="0">
                <a:solidFill>
                  <a:srgbClr val="5EEAD4"/>
                </a:solidFill>
                <a:latin typeface="Trebuchet MS" pitchFamily="34" charset="0"/>
                <a:ea typeface="Trebuchet MS" pitchFamily="34" charset="-122"/>
                <a:cs typeface="Trebuchet MS" pitchFamily="34" charset="-120"/>
              </a:rPr>
              <a:t>COMMUNITIES &amp; IPAs · NEXT</a:t>
            </a:r>
            <a:endParaRPr lang="en-US" sz="1100" dirty="0"/>
          </a:p>
        </p:txBody>
      </p:sp>
      <p:sp>
        <p:nvSpPr>
          <p:cNvPr id="13" name="Text 11"/>
          <p:cNvSpPr/>
          <p:nvPr/>
        </p:nvSpPr>
        <p:spPr>
          <a:xfrm>
            <a:off x="3557016" y="2606040"/>
            <a:ext cx="2331720" cy="1417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AAPP, DPC Frontier (2,600+ practices), r/whitecoatinvestor (200K+ members), physician associations: Pro Alliance, WWMG</a:t>
            </a:r>
            <a:endParaRPr lang="en-US" sz="1150" dirty="0"/>
          </a:p>
        </p:txBody>
      </p:sp>
      <p:sp>
        <p:nvSpPr>
          <p:cNvPr id="14" name="Shape 12"/>
          <p:cNvSpPr/>
          <p:nvPr/>
        </p:nvSpPr>
        <p:spPr>
          <a:xfrm>
            <a:off x="6254496" y="1280160"/>
            <a:ext cx="2715768" cy="2834640"/>
          </a:xfrm>
          <a:prstGeom prst="rect">
            <a:avLst/>
          </a:prstGeom>
          <a:solidFill>
            <a:srgbClr val="1B2942"/>
          </a:solidFill>
          <a:ln/>
        </p:spPr>
      </p:sp>
      <p:sp>
        <p:nvSpPr>
          <p:cNvPr id="15" name="Shape 13"/>
          <p:cNvSpPr/>
          <p:nvPr/>
        </p:nvSpPr>
        <p:spPr>
          <a:xfrm>
            <a:off x="6455664" y="1481328"/>
            <a:ext cx="457200" cy="457200"/>
          </a:xfrm>
          <a:prstGeom prst="ellipse">
            <a:avLst/>
          </a:prstGeom>
          <a:solidFill>
            <a:srgbClr val="2DD4BF"/>
          </a:solidFill>
          <a:ln/>
        </p:spPr>
      </p:sp>
      <p:sp>
        <p:nvSpPr>
          <p:cNvPr id="16" name="Text 14"/>
          <p:cNvSpPr/>
          <p:nvPr/>
        </p:nvSpPr>
        <p:spPr>
          <a:xfrm>
            <a:off x="6455664" y="1481328"/>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Trebuchet MS" pitchFamily="34" charset="0"/>
                <a:ea typeface="Trebuchet MS" pitchFamily="34" charset="-122"/>
                <a:cs typeface="Trebuchet MS" pitchFamily="34" charset="-120"/>
              </a:rPr>
              <a:t>3</a:t>
            </a:r>
            <a:endParaRPr lang="en-US" sz="1800" dirty="0"/>
          </a:p>
        </p:txBody>
      </p:sp>
      <p:sp>
        <p:nvSpPr>
          <p:cNvPr id="17" name="Text 15"/>
          <p:cNvSpPr/>
          <p:nvPr/>
        </p:nvSpPr>
        <p:spPr>
          <a:xfrm>
            <a:off x="6455664" y="2103120"/>
            <a:ext cx="2331720" cy="457200"/>
          </a:xfrm>
          <a:prstGeom prst="rect">
            <a:avLst/>
          </a:prstGeom>
          <a:noFill/>
          <a:ln/>
        </p:spPr>
        <p:txBody>
          <a:bodyPr wrap="square" lIns="0" tIns="0" rIns="0" bIns="0" rtlCol="0" anchor="ctr"/>
          <a:lstStyle/>
          <a:p>
            <a:pPr indent="0" marL="0">
              <a:buNone/>
            </a:pPr>
            <a:r>
              <a:rPr lang="en-US" sz="1100" b="1" spc="100" kern="0" dirty="0">
                <a:solidFill>
                  <a:srgbClr val="5EEAD4"/>
                </a:solidFill>
                <a:latin typeface="Trebuchet MS" pitchFamily="34" charset="0"/>
                <a:ea typeface="Trebuchet MS" pitchFamily="34" charset="-122"/>
                <a:cs typeface="Trebuchet MS" pitchFamily="34" charset="-120"/>
              </a:rPr>
              <a:t>REFERRAL FLYWHEEL · SCALE</a:t>
            </a:r>
            <a:endParaRPr lang="en-US" sz="1100" dirty="0"/>
          </a:p>
        </p:txBody>
      </p:sp>
      <p:sp>
        <p:nvSpPr>
          <p:cNvPr id="18" name="Text 16"/>
          <p:cNvSpPr/>
          <p:nvPr/>
        </p:nvSpPr>
        <p:spPr>
          <a:xfrm>
            <a:off x="6455664" y="2606040"/>
            <a:ext cx="2331720" cy="14173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A doctor who avoids a $280K mistake tells colleagues. Shared benchmark reports recruit the next cohort.</a:t>
            </a:r>
            <a:endParaRPr lang="en-US" sz="1150" dirty="0"/>
          </a:p>
        </p:txBody>
      </p:sp>
      <p:sp>
        <p:nvSpPr>
          <p:cNvPr id="19" name="Text 17"/>
          <p:cNvSpPr/>
          <p:nvPr/>
        </p:nvSpPr>
        <p:spPr>
          <a:xfrm>
            <a:off x="457200" y="4343400"/>
            <a:ext cx="8229600" cy="320040"/>
          </a:xfrm>
          <a:prstGeom prst="rect">
            <a:avLst/>
          </a:prstGeom>
          <a:noFill/>
          <a:ln/>
        </p:spPr>
        <p:txBody>
          <a:bodyPr wrap="square" lIns="0" tIns="0" rIns="0" bIns="0" rtlCol="0" anchor="ctr"/>
          <a:lstStyle/>
          <a:p>
            <a:pPr algn="ctr" indent="0" marL="0">
              <a:buNone/>
            </a:pPr>
            <a:r>
              <a:rPr lang="en-US" sz="1200" i="1" dirty="0">
                <a:solidFill>
                  <a:srgbClr val="8FA3BF"/>
                </a:solidFill>
                <a:latin typeface="Calibri" pitchFamily="34" charset="0"/>
                <a:ea typeface="Calibri" pitchFamily="34" charset="-122"/>
                <a:cs typeface="Calibri" pitchFamily="34" charset="-120"/>
              </a:rPr>
              <a:t>Zero paid acquisition in year 1. Paid channels enter only after the flywheel proves referral economics.</a:t>
            </a:r>
            <a:endParaRPr lang="en-US" sz="1200" dirty="0"/>
          </a:p>
        </p:txBody>
      </p:sp>
      <p:sp>
        <p:nvSpPr>
          <p:cNvPr id="20" name="Text 18"/>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08  /  BUSINESS MODEL</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Cash up front. Compounding subscription behind it.</a:t>
            </a:r>
            <a:endParaRPr lang="en-US" sz="2400" dirty="0"/>
          </a:p>
        </p:txBody>
      </p:sp>
      <p:sp>
        <p:nvSpPr>
          <p:cNvPr id="4" name="Shape 2"/>
          <p:cNvSpPr/>
          <p:nvPr/>
        </p:nvSpPr>
        <p:spPr>
          <a:xfrm>
            <a:off x="457200" y="1234440"/>
            <a:ext cx="5394960" cy="548640"/>
          </a:xfrm>
          <a:prstGeom prst="rect">
            <a:avLst/>
          </a:prstGeom>
          <a:solidFill>
            <a:srgbClr val="1B2942"/>
          </a:solidFill>
          <a:ln/>
        </p:spPr>
      </p:sp>
      <p:sp>
        <p:nvSpPr>
          <p:cNvPr id="5" name="Shape 3"/>
          <p:cNvSpPr/>
          <p:nvPr/>
        </p:nvSpPr>
        <p:spPr>
          <a:xfrm>
            <a:off x="457200" y="1234440"/>
            <a:ext cx="64008" cy="548640"/>
          </a:xfrm>
          <a:prstGeom prst="rect">
            <a:avLst/>
          </a:prstGeom>
          <a:solidFill>
            <a:srgbClr val="2DD4BF"/>
          </a:solidFill>
          <a:ln/>
        </p:spPr>
      </p:sp>
      <p:sp>
        <p:nvSpPr>
          <p:cNvPr id="6" name="Text 4"/>
          <p:cNvSpPr/>
          <p:nvPr/>
        </p:nvSpPr>
        <p:spPr>
          <a:xfrm>
            <a:off x="658368" y="1280160"/>
            <a:ext cx="1783080" cy="457200"/>
          </a:xfrm>
          <a:prstGeom prst="rect">
            <a:avLst/>
          </a:prstGeom>
          <a:noFill/>
          <a:ln/>
        </p:spPr>
        <p:txBody>
          <a:bodyPr wrap="square" lIns="0" tIns="0" rIns="0" bIns="0" rtlCol="0" anchor="ctr"/>
          <a:lstStyle/>
          <a:p>
            <a:pPr indent="0" marL="0">
              <a:buNone/>
            </a:pPr>
            <a:r>
              <a:rPr lang="en-US" sz="1200" b="1" dirty="0">
                <a:solidFill>
                  <a:srgbClr val="2DD4BF"/>
                </a:solidFill>
                <a:latin typeface="Trebuchet MS" pitchFamily="34" charset="0"/>
                <a:ea typeface="Trebuchet MS" pitchFamily="34" charset="-122"/>
                <a:cs typeface="Trebuchet MS" pitchFamily="34" charset="-120"/>
              </a:rPr>
              <a:t>Money-back PoC</a:t>
            </a:r>
            <a:endParaRPr lang="en-US" sz="1200" dirty="0"/>
          </a:p>
        </p:txBody>
      </p:sp>
      <p:sp>
        <p:nvSpPr>
          <p:cNvPr id="7" name="Text 5"/>
          <p:cNvSpPr/>
          <p:nvPr/>
        </p:nvSpPr>
        <p:spPr>
          <a:xfrm>
            <a:off x="2468880" y="128016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$1,000 one-time</a:t>
            </a:r>
            <a:endParaRPr lang="en-US" sz="1050" dirty="0"/>
          </a:p>
        </p:txBody>
      </p:sp>
      <p:sp>
        <p:nvSpPr>
          <p:cNvPr id="8" name="Text 6"/>
          <p:cNvSpPr/>
          <p:nvPr/>
        </p:nvSpPr>
        <p:spPr>
          <a:xfrm>
            <a:off x="4434840" y="128016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Lead offer: find $20K or it's free</a:t>
            </a:r>
            <a:endParaRPr lang="en-US" sz="900" dirty="0"/>
          </a:p>
        </p:txBody>
      </p:sp>
      <p:sp>
        <p:nvSpPr>
          <p:cNvPr id="9" name="Shape 7"/>
          <p:cNvSpPr/>
          <p:nvPr/>
        </p:nvSpPr>
        <p:spPr>
          <a:xfrm>
            <a:off x="457200" y="1874520"/>
            <a:ext cx="5394960" cy="548640"/>
          </a:xfrm>
          <a:prstGeom prst="rect">
            <a:avLst/>
          </a:prstGeom>
          <a:solidFill>
            <a:srgbClr val="16213A"/>
          </a:solidFill>
          <a:ln/>
        </p:spPr>
      </p:sp>
      <p:sp>
        <p:nvSpPr>
          <p:cNvPr id="10" name="Text 8"/>
          <p:cNvSpPr/>
          <p:nvPr/>
        </p:nvSpPr>
        <p:spPr>
          <a:xfrm>
            <a:off x="658368" y="1920240"/>
            <a:ext cx="17830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Transition Kit</a:t>
            </a:r>
            <a:endParaRPr lang="en-US" sz="1200" dirty="0"/>
          </a:p>
        </p:txBody>
      </p:sp>
      <p:sp>
        <p:nvSpPr>
          <p:cNvPr id="11" name="Text 9"/>
          <p:cNvSpPr/>
          <p:nvPr/>
        </p:nvSpPr>
        <p:spPr>
          <a:xfrm>
            <a:off x="2468880" y="192024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$750–$1,000 one-time</a:t>
            </a:r>
            <a:endParaRPr lang="en-US" sz="1050" dirty="0"/>
          </a:p>
        </p:txBody>
      </p:sp>
      <p:sp>
        <p:nvSpPr>
          <p:cNvPr id="12" name="Text 10"/>
          <p:cNvSpPr/>
          <p:nvPr/>
        </p:nvSpPr>
        <p:spPr>
          <a:xfrm>
            <a:off x="4434840" y="192024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Self-serve digital launch kit</a:t>
            </a:r>
            <a:endParaRPr lang="en-US" sz="900" dirty="0"/>
          </a:p>
        </p:txBody>
      </p:sp>
      <p:sp>
        <p:nvSpPr>
          <p:cNvPr id="13" name="Shape 11"/>
          <p:cNvSpPr/>
          <p:nvPr/>
        </p:nvSpPr>
        <p:spPr>
          <a:xfrm>
            <a:off x="457200" y="2514600"/>
            <a:ext cx="5394960" cy="548640"/>
          </a:xfrm>
          <a:prstGeom prst="rect">
            <a:avLst/>
          </a:prstGeom>
          <a:solidFill>
            <a:srgbClr val="16213A"/>
          </a:solidFill>
          <a:ln/>
        </p:spPr>
      </p:sp>
      <p:sp>
        <p:nvSpPr>
          <p:cNvPr id="14" name="Text 12"/>
          <p:cNvSpPr/>
          <p:nvPr/>
        </p:nvSpPr>
        <p:spPr>
          <a:xfrm>
            <a:off x="658368" y="2560320"/>
            <a:ext cx="17830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Transition Program</a:t>
            </a:r>
            <a:endParaRPr lang="en-US" sz="1200" dirty="0"/>
          </a:p>
        </p:txBody>
      </p:sp>
      <p:sp>
        <p:nvSpPr>
          <p:cNvPr id="15" name="Text 13"/>
          <p:cNvSpPr/>
          <p:nvPr/>
        </p:nvSpPr>
        <p:spPr>
          <a:xfrm>
            <a:off x="2468880" y="256032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$3,500–$5,000 + $500–799/mo</a:t>
            </a:r>
            <a:endParaRPr lang="en-US" sz="1050" dirty="0"/>
          </a:p>
        </p:txBody>
      </p:sp>
      <p:sp>
        <p:nvSpPr>
          <p:cNvPr id="16" name="Text 14"/>
          <p:cNvSpPr/>
          <p:nvPr/>
        </p:nvSpPr>
        <p:spPr>
          <a:xfrm>
            <a:off x="4434840" y="256032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Founder-guided, 12 weeks</a:t>
            </a:r>
            <a:endParaRPr lang="en-US" sz="900" dirty="0"/>
          </a:p>
        </p:txBody>
      </p:sp>
      <p:sp>
        <p:nvSpPr>
          <p:cNvPr id="17" name="Shape 15"/>
          <p:cNvSpPr/>
          <p:nvPr/>
        </p:nvSpPr>
        <p:spPr>
          <a:xfrm>
            <a:off x="457200" y="3154680"/>
            <a:ext cx="5394960" cy="548640"/>
          </a:xfrm>
          <a:prstGeom prst="rect">
            <a:avLst/>
          </a:prstGeom>
          <a:solidFill>
            <a:srgbClr val="16213A"/>
          </a:solidFill>
          <a:ln/>
        </p:spPr>
      </p:sp>
      <p:sp>
        <p:nvSpPr>
          <p:cNvPr id="18" name="Text 16"/>
          <p:cNvSpPr/>
          <p:nvPr/>
        </p:nvSpPr>
        <p:spPr>
          <a:xfrm>
            <a:off x="658368" y="3200400"/>
            <a:ext cx="17830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Full Transition</a:t>
            </a:r>
            <a:endParaRPr lang="en-US" sz="1200" dirty="0"/>
          </a:p>
        </p:txBody>
      </p:sp>
      <p:sp>
        <p:nvSpPr>
          <p:cNvPr id="19" name="Text 17"/>
          <p:cNvSpPr/>
          <p:nvPr/>
        </p:nvSpPr>
        <p:spPr>
          <a:xfrm>
            <a:off x="2468880" y="320040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$8,000–$20,000 + $500–799/mo</a:t>
            </a:r>
            <a:endParaRPr lang="en-US" sz="1050" dirty="0"/>
          </a:p>
        </p:txBody>
      </p:sp>
      <p:sp>
        <p:nvSpPr>
          <p:cNvPr id="20" name="Text 18"/>
          <p:cNvSpPr/>
          <p:nvPr/>
        </p:nvSpPr>
        <p:spPr>
          <a:xfrm>
            <a:off x="4434840" y="320040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Done-for-you specialists</a:t>
            </a:r>
            <a:endParaRPr lang="en-US" sz="900" dirty="0"/>
          </a:p>
        </p:txBody>
      </p:sp>
      <p:sp>
        <p:nvSpPr>
          <p:cNvPr id="21" name="Shape 19"/>
          <p:cNvSpPr/>
          <p:nvPr/>
        </p:nvSpPr>
        <p:spPr>
          <a:xfrm>
            <a:off x="457200" y="3794760"/>
            <a:ext cx="5394960" cy="548640"/>
          </a:xfrm>
          <a:prstGeom prst="rect">
            <a:avLst/>
          </a:prstGeom>
          <a:solidFill>
            <a:srgbClr val="16213A"/>
          </a:solidFill>
          <a:ln/>
        </p:spPr>
      </p:sp>
      <p:sp>
        <p:nvSpPr>
          <p:cNvPr id="22" name="Text 20"/>
          <p:cNvSpPr/>
          <p:nvPr/>
        </p:nvSpPr>
        <p:spPr>
          <a:xfrm>
            <a:off x="658368" y="3840480"/>
            <a:ext cx="1783080" cy="457200"/>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Platform OS</a:t>
            </a:r>
            <a:endParaRPr lang="en-US" sz="1200" dirty="0"/>
          </a:p>
        </p:txBody>
      </p:sp>
      <p:sp>
        <p:nvSpPr>
          <p:cNvPr id="23" name="Text 21"/>
          <p:cNvSpPr/>
          <p:nvPr/>
        </p:nvSpPr>
        <p:spPr>
          <a:xfrm>
            <a:off x="2468880" y="3840480"/>
            <a:ext cx="1920240" cy="457200"/>
          </a:xfrm>
          <a:prstGeom prst="rect">
            <a:avLst/>
          </a:prstGeom>
          <a:noFill/>
          <a:ln/>
        </p:spPr>
        <p:txBody>
          <a:bodyPr wrap="square" lIns="0" tIns="0" rIns="0" bIns="0" rtlCol="0" anchor="ctr"/>
          <a:lstStyle/>
          <a:p>
            <a:pPr indent="0" marL="0">
              <a:buNone/>
            </a:pPr>
            <a:r>
              <a:rPr lang="en-US" sz="1050" b="1" dirty="0">
                <a:solidFill>
                  <a:srgbClr val="5EEAD4"/>
                </a:solidFill>
                <a:latin typeface="Calibri" pitchFamily="34" charset="0"/>
                <a:ea typeface="Calibri" pitchFamily="34" charset="-122"/>
                <a:cs typeface="Calibri" pitchFamily="34" charset="-120"/>
              </a:rPr>
              <a:t>$500–799/mo recurring</a:t>
            </a:r>
            <a:endParaRPr lang="en-US" sz="1050" dirty="0"/>
          </a:p>
        </p:txBody>
      </p:sp>
      <p:sp>
        <p:nvSpPr>
          <p:cNvPr id="24" name="Text 22"/>
          <p:cNvSpPr/>
          <p:nvPr/>
        </p:nvSpPr>
        <p:spPr>
          <a:xfrm>
            <a:off x="4434840" y="3840480"/>
            <a:ext cx="1325880" cy="457200"/>
          </a:xfrm>
          <a:prstGeom prst="rect">
            <a:avLst/>
          </a:prstGeom>
          <a:noFill/>
          <a:ln/>
        </p:spPr>
        <p:txBody>
          <a:bodyPr wrap="square" lIns="0" tIns="0" rIns="0" bIns="0" rtlCol="0" anchor="ctr"/>
          <a:lstStyle/>
          <a:p>
            <a:pPr indent="0" marL="0">
              <a:buNone/>
            </a:pPr>
            <a:r>
              <a:rPr lang="en-US" sz="900" dirty="0">
                <a:solidFill>
                  <a:srgbClr val="8FA3BF"/>
                </a:solidFill>
                <a:latin typeface="Calibri" pitchFamily="34" charset="0"/>
                <a:ea typeface="Calibri" pitchFamily="34" charset="-122"/>
                <a:cs typeface="Calibri" pitchFamily="34" charset="-120"/>
              </a:rPr>
              <a:t>Every clinic graduates here</a:t>
            </a:r>
            <a:endParaRPr lang="en-US" sz="900" dirty="0"/>
          </a:p>
        </p:txBody>
      </p:sp>
      <p:sp>
        <p:nvSpPr>
          <p:cNvPr id="25" name="Shape 23"/>
          <p:cNvSpPr/>
          <p:nvPr/>
        </p:nvSpPr>
        <p:spPr>
          <a:xfrm>
            <a:off x="6080760" y="1280160"/>
            <a:ext cx="2606040" cy="3108960"/>
          </a:xfrm>
          <a:prstGeom prst="rect">
            <a:avLst/>
          </a:prstGeom>
          <a:solidFill>
            <a:srgbClr val="1B2942"/>
          </a:solidFill>
          <a:ln/>
        </p:spPr>
      </p:sp>
      <p:sp>
        <p:nvSpPr>
          <p:cNvPr id="26" name="Text 24"/>
          <p:cNvSpPr/>
          <p:nvPr/>
        </p:nvSpPr>
        <p:spPr>
          <a:xfrm>
            <a:off x="6281928" y="1463040"/>
            <a:ext cx="219456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WHY IT WORKS</a:t>
            </a:r>
            <a:endParaRPr lang="en-US" sz="1050" dirty="0"/>
          </a:p>
        </p:txBody>
      </p:sp>
      <p:sp>
        <p:nvSpPr>
          <p:cNvPr id="27" name="Text 25"/>
          <p:cNvSpPr/>
          <p:nvPr/>
        </p:nvSpPr>
        <p:spPr>
          <a:xfrm>
            <a:off x="6281928" y="1810512"/>
            <a:ext cx="2240280" cy="246888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&gt;80% gross margin today; &gt;70% blended at platform scale</a:t>
            </a:r>
            <a:endParaRPr lang="en-US" sz="1150" dirty="0"/>
          </a:p>
          <a:p>
            <a:pPr marL="342900" indent="-3429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Program fee covers CAC before month one ends</a:t>
            </a:r>
            <a:endParaRPr lang="en-US" sz="1150" dirty="0"/>
          </a:p>
          <a:p>
            <a:pPr marL="342900" indent="-342900">
              <a:spcAft>
                <a:spcPts val="1000"/>
              </a:spcAft>
              <a:buSzPct val="100000"/>
              <a:buChar char="•"/>
            </a:pPr>
            <a:r>
              <a:rPr lang="en-US" sz="1150" dirty="0">
                <a:solidFill>
                  <a:srgbClr val="FFFFFF"/>
                </a:solidFill>
                <a:latin typeface="Calibri" pitchFamily="34" charset="0"/>
                <a:ea typeface="Calibri" pitchFamily="34" charset="-122"/>
                <a:cs typeface="Calibri" pitchFamily="34" charset="-120"/>
              </a:rPr>
              <a:t>Wedge revenue funds the build — the round buys speed, not survival</a:t>
            </a:r>
            <a:endParaRPr lang="en-US" sz="1150" dirty="0"/>
          </a:p>
        </p:txBody>
      </p:sp>
      <p:sp>
        <p:nvSpPr>
          <p:cNvPr id="28" name="Text 26"/>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09  /  COMPETITIVE OVERVIEW</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Everyone else records the past. We run the next decision.</a:t>
            </a:r>
            <a:endParaRPr lang="en-US" sz="2100" dirty="0"/>
          </a:p>
        </p:txBody>
      </p:sp>
      <p:sp>
        <p:nvSpPr>
          <p:cNvPr id="4" name="Shape 2"/>
          <p:cNvSpPr/>
          <p:nvPr/>
        </p:nvSpPr>
        <p:spPr>
          <a:xfrm>
            <a:off x="548640" y="2834640"/>
            <a:ext cx="4846320" cy="0"/>
          </a:xfrm>
          <a:prstGeom prst="line">
            <a:avLst/>
          </a:prstGeom>
          <a:noFill/>
          <a:ln w="12700">
            <a:solidFill>
              <a:srgbClr val="8FA3BF"/>
            </a:solidFill>
            <a:prstDash val="solid"/>
          </a:ln>
        </p:spPr>
      </p:sp>
      <p:sp>
        <p:nvSpPr>
          <p:cNvPr id="5" name="Shape 3"/>
          <p:cNvSpPr/>
          <p:nvPr/>
        </p:nvSpPr>
        <p:spPr>
          <a:xfrm>
            <a:off x="2971800" y="1371600"/>
            <a:ext cx="0" cy="2926080"/>
          </a:xfrm>
          <a:prstGeom prst="line">
            <a:avLst/>
          </a:prstGeom>
          <a:noFill/>
          <a:ln w="12700">
            <a:solidFill>
              <a:srgbClr val="8FA3BF"/>
            </a:solidFill>
            <a:prstDash val="solid"/>
          </a:ln>
        </p:spPr>
      </p:sp>
      <p:sp>
        <p:nvSpPr>
          <p:cNvPr id="6" name="Text 4"/>
          <p:cNvSpPr/>
          <p:nvPr/>
        </p:nvSpPr>
        <p:spPr>
          <a:xfrm>
            <a:off x="1508760" y="1124712"/>
            <a:ext cx="2926080" cy="201168"/>
          </a:xfrm>
          <a:prstGeom prst="rect">
            <a:avLst/>
          </a:prstGeom>
          <a:noFill/>
          <a:ln/>
        </p:spPr>
        <p:txBody>
          <a:bodyPr wrap="square" lIns="0" tIns="0" rIns="0" bIns="0" rtlCol="0" anchor="ctr"/>
          <a:lstStyle/>
          <a:p>
            <a:pPr algn="ctr" indent="0" marL="0">
              <a:buNone/>
            </a:pPr>
            <a:r>
              <a:rPr lang="en-US" sz="750" spc="100" kern="0" dirty="0">
                <a:solidFill>
                  <a:srgbClr val="5EEAD4"/>
                </a:solidFill>
                <a:latin typeface="Trebuchet MS" pitchFamily="34" charset="0"/>
                <a:ea typeface="Trebuchet MS" pitchFamily="34" charset="-122"/>
                <a:cs typeface="Trebuchet MS" pitchFamily="34" charset="-120"/>
              </a:rPr>
              <a:t>DECISION INTELLIGENCE · WINDSHIELD</a:t>
            </a:r>
            <a:endParaRPr lang="en-US" sz="750" dirty="0"/>
          </a:p>
        </p:txBody>
      </p:sp>
      <p:sp>
        <p:nvSpPr>
          <p:cNvPr id="7" name="Text 5"/>
          <p:cNvSpPr/>
          <p:nvPr/>
        </p:nvSpPr>
        <p:spPr>
          <a:xfrm>
            <a:off x="1508760" y="4343400"/>
            <a:ext cx="2926080" cy="201168"/>
          </a:xfrm>
          <a:prstGeom prst="rect">
            <a:avLst/>
          </a:prstGeom>
          <a:noFill/>
          <a:ln/>
        </p:spPr>
        <p:txBody>
          <a:bodyPr wrap="square" lIns="0" tIns="0" rIns="0" bIns="0" rtlCol="0" anchor="ctr"/>
          <a:lstStyle/>
          <a:p>
            <a:pPr algn="ctr" indent="0" marL="0">
              <a:buNone/>
            </a:pPr>
            <a:r>
              <a:rPr lang="en-US" sz="750" spc="100" kern="0" dirty="0">
                <a:solidFill>
                  <a:srgbClr val="8FA3BF"/>
                </a:solidFill>
                <a:latin typeface="Trebuchet MS" pitchFamily="34" charset="0"/>
                <a:ea typeface="Trebuchet MS" pitchFamily="34" charset="-122"/>
                <a:cs typeface="Trebuchet MS" pitchFamily="34" charset="-120"/>
              </a:rPr>
              <a:t>RECORD-KEEPING · REAR-VIEW</a:t>
            </a:r>
            <a:endParaRPr lang="en-US" sz="750" dirty="0"/>
          </a:p>
        </p:txBody>
      </p:sp>
      <p:sp>
        <p:nvSpPr>
          <p:cNvPr id="8" name="Text 6"/>
          <p:cNvSpPr/>
          <p:nvPr/>
        </p:nvSpPr>
        <p:spPr>
          <a:xfrm>
            <a:off x="384048" y="2542032"/>
            <a:ext cx="914400" cy="457200"/>
          </a:xfrm>
          <a:prstGeom prst="rect">
            <a:avLst/>
          </a:prstGeom>
          <a:noFill/>
          <a:ln/>
        </p:spPr>
        <p:txBody>
          <a:bodyPr wrap="square" lIns="0" tIns="0" rIns="0" bIns="0" rtlCol="0" anchor="ctr"/>
          <a:lstStyle/>
          <a:p>
            <a:pPr indent="0" marL="0">
              <a:buNone/>
            </a:pPr>
            <a:r>
              <a:rPr lang="en-US" sz="750" spc="100" kern="0" dirty="0">
                <a:solidFill>
                  <a:srgbClr val="8FA3BF"/>
                </a:solidFill>
                <a:latin typeface="Trebuchet MS" pitchFamily="34" charset="0"/>
                <a:ea typeface="Trebuchet MS" pitchFamily="34" charset="-122"/>
                <a:cs typeface="Trebuchet MS" pitchFamily="34" charset="-120"/>
              </a:rPr>
              <a:t>MIGRATION</a:t>
            </a:r>
            <a:endParaRPr lang="en-US" sz="750" dirty="0"/>
          </a:p>
          <a:p>
            <a:pPr indent="0" marL="0">
              <a:buNone/>
            </a:pPr>
            <a:r>
              <a:rPr lang="en-US" sz="750" spc="100" kern="0" dirty="0">
                <a:solidFill>
                  <a:srgbClr val="8FA3BF"/>
                </a:solidFill>
                <a:latin typeface="Trebuchet MS" pitchFamily="34" charset="0"/>
                <a:ea typeface="Trebuchet MS" pitchFamily="34" charset="-122"/>
                <a:cs typeface="Trebuchet MS" pitchFamily="34" charset="-120"/>
              </a:rPr>
              <a:t>REQUIRED</a:t>
            </a:r>
            <a:endParaRPr lang="en-US" sz="750" dirty="0"/>
          </a:p>
        </p:txBody>
      </p:sp>
      <p:sp>
        <p:nvSpPr>
          <p:cNvPr id="9" name="Text 7"/>
          <p:cNvSpPr/>
          <p:nvPr/>
        </p:nvSpPr>
        <p:spPr>
          <a:xfrm>
            <a:off x="4617720" y="2542032"/>
            <a:ext cx="914400" cy="457200"/>
          </a:xfrm>
          <a:prstGeom prst="rect">
            <a:avLst/>
          </a:prstGeom>
          <a:noFill/>
          <a:ln/>
        </p:spPr>
        <p:txBody>
          <a:bodyPr wrap="square" lIns="0" tIns="0" rIns="0" bIns="0" rtlCol="0" anchor="ctr"/>
          <a:lstStyle/>
          <a:p>
            <a:pPr algn="r" indent="0" marL="0">
              <a:buNone/>
            </a:pPr>
            <a:r>
              <a:rPr lang="en-US" sz="750" spc="100" kern="0" dirty="0">
                <a:solidFill>
                  <a:srgbClr val="8FA3BF"/>
                </a:solidFill>
                <a:latin typeface="Trebuchet MS" pitchFamily="34" charset="0"/>
                <a:ea typeface="Trebuchet MS" pitchFamily="34" charset="-122"/>
                <a:cs typeface="Trebuchet MS" pitchFamily="34" charset="-120"/>
              </a:rPr>
              <a:t>NO</a:t>
            </a:r>
            <a:endParaRPr lang="en-US" sz="750" dirty="0"/>
          </a:p>
          <a:p>
            <a:pPr algn="r" indent="0" marL="0">
              <a:buNone/>
            </a:pPr>
            <a:r>
              <a:rPr lang="en-US" sz="750" spc="100" kern="0" dirty="0">
                <a:solidFill>
                  <a:srgbClr val="8FA3BF"/>
                </a:solidFill>
                <a:latin typeface="Trebuchet MS" pitchFamily="34" charset="0"/>
                <a:ea typeface="Trebuchet MS" pitchFamily="34" charset="-122"/>
                <a:cs typeface="Trebuchet MS" pitchFamily="34" charset="-120"/>
              </a:rPr>
              <a:t>MIGRATION</a:t>
            </a:r>
            <a:endParaRPr lang="en-US" sz="750" dirty="0"/>
          </a:p>
        </p:txBody>
      </p:sp>
      <p:sp>
        <p:nvSpPr>
          <p:cNvPr id="10" name="Text 8"/>
          <p:cNvSpPr/>
          <p:nvPr/>
        </p:nvSpPr>
        <p:spPr>
          <a:xfrm>
            <a:off x="685800" y="1664208"/>
            <a:ext cx="2057400" cy="777240"/>
          </a:xfrm>
          <a:prstGeom prst="rect">
            <a:avLst/>
          </a:prstGeom>
          <a:noFill/>
          <a:ln/>
        </p:spPr>
        <p:txBody>
          <a:bodyPr wrap="square" lIns="0" tIns="0" rIns="0" bIns="0" rtlCol="0" anchor="t"/>
          <a:lstStyle/>
          <a:p>
            <a:pPr indent="0" marL="0">
              <a:buNone/>
            </a:pPr>
            <a:r>
              <a:rPr lang="en-US" sz="950" dirty="0">
                <a:solidFill>
                  <a:srgbClr val="8FA3BF"/>
                </a:solidFill>
                <a:latin typeface="Calibri" pitchFamily="34" charset="0"/>
                <a:ea typeface="Calibri" pitchFamily="34" charset="-122"/>
                <a:cs typeface="Calibri" pitchFamily="34" charset="-120"/>
              </a:rPr>
              <a:t>Enterprise RCM / BI (R1-tier)</a:t>
            </a:r>
            <a:endParaRPr lang="en-US" sz="950" dirty="0"/>
          </a:p>
          <a:p>
            <a:pPr indent="0" marL="0">
              <a:buNone/>
            </a:pPr>
            <a:r>
              <a:rPr lang="en-US" sz="950" dirty="0">
                <a:solidFill>
                  <a:srgbClr val="8FA3BF"/>
                </a:solidFill>
                <a:latin typeface="Calibri" pitchFamily="34" charset="0"/>
                <a:ea typeface="Calibri" pitchFamily="34" charset="-122"/>
                <a:cs typeface="Calibri" pitchFamily="34" charset="-120"/>
              </a:rPr>
              <a:t>$30–60K consultants — heavy, manual</a:t>
            </a:r>
            <a:endParaRPr lang="en-US" sz="950" dirty="0"/>
          </a:p>
        </p:txBody>
      </p:sp>
      <p:sp>
        <p:nvSpPr>
          <p:cNvPr id="11" name="Text 9"/>
          <p:cNvSpPr/>
          <p:nvPr/>
        </p:nvSpPr>
        <p:spPr>
          <a:xfrm>
            <a:off x="685800" y="3090672"/>
            <a:ext cx="2057400" cy="731520"/>
          </a:xfrm>
          <a:prstGeom prst="rect">
            <a:avLst/>
          </a:prstGeom>
          <a:noFill/>
          <a:ln/>
        </p:spPr>
        <p:txBody>
          <a:bodyPr wrap="square" lIns="0" tIns="0" rIns="0" bIns="0" rtlCol="0" anchor="t"/>
          <a:lstStyle/>
          <a:p>
            <a:pPr indent="0" marL="0">
              <a:buNone/>
            </a:pPr>
            <a:r>
              <a:rPr lang="en-US" sz="950" dirty="0">
                <a:solidFill>
                  <a:srgbClr val="8FA3BF"/>
                </a:solidFill>
                <a:latin typeface="Calibri" pitchFamily="34" charset="0"/>
                <a:ea typeface="Calibri" pitchFamily="34" charset="-122"/>
                <a:cs typeface="Calibri" pitchFamily="34" charset="-120"/>
              </a:rPr>
              <a:t>Tebra ($250M) · Jane ($1.8B)</a:t>
            </a:r>
            <a:endParaRPr lang="en-US" sz="950" dirty="0"/>
          </a:p>
          <a:p>
            <a:pPr indent="0" marL="0">
              <a:buNone/>
            </a:pPr>
            <a:r>
              <a:rPr lang="en-US" sz="950" dirty="0">
                <a:solidFill>
                  <a:srgbClr val="8FA3BF"/>
                </a:solidFill>
                <a:latin typeface="Calibri" pitchFamily="34" charset="0"/>
                <a:ea typeface="Calibri" pitchFamily="34" charset="-122"/>
                <a:cs typeface="Calibri" pitchFamily="34" charset="-120"/>
              </a:rPr>
              <a:t>athenahealth · WebPT</a:t>
            </a:r>
            <a:endParaRPr lang="en-US" sz="950" dirty="0"/>
          </a:p>
        </p:txBody>
      </p:sp>
      <p:sp>
        <p:nvSpPr>
          <p:cNvPr id="12" name="Text 10"/>
          <p:cNvSpPr/>
          <p:nvPr/>
        </p:nvSpPr>
        <p:spPr>
          <a:xfrm>
            <a:off x="3200400" y="3090672"/>
            <a:ext cx="2057400" cy="731520"/>
          </a:xfrm>
          <a:prstGeom prst="rect">
            <a:avLst/>
          </a:prstGeom>
          <a:noFill/>
          <a:ln/>
        </p:spPr>
        <p:txBody>
          <a:bodyPr wrap="square" lIns="0" tIns="0" rIns="0" bIns="0" rtlCol="0" anchor="t"/>
          <a:lstStyle/>
          <a:p>
            <a:pPr indent="0" marL="0">
              <a:buNone/>
            </a:pPr>
            <a:r>
              <a:rPr lang="en-US" sz="950" dirty="0">
                <a:solidFill>
                  <a:srgbClr val="8FA3BF"/>
                </a:solidFill>
                <a:latin typeface="Calibri" pitchFamily="34" charset="0"/>
                <a:ea typeface="Calibri" pitchFamily="34" charset="-122"/>
                <a:cs typeface="Calibri" pitchFamily="34" charset="-120"/>
              </a:rPr>
              <a:t>Outsourced billing</a:t>
            </a:r>
            <a:endParaRPr lang="en-US" sz="950" dirty="0"/>
          </a:p>
          <a:p>
            <a:pPr indent="0" marL="0">
              <a:buNone/>
            </a:pPr>
            <a:r>
              <a:rPr lang="en-US" sz="950" dirty="0">
                <a:solidFill>
                  <a:srgbClr val="8FA3BF"/>
                </a:solidFill>
                <a:latin typeface="Calibri" pitchFamily="34" charset="0"/>
                <a:ea typeface="Calibri" pitchFamily="34" charset="-122"/>
                <a:cs typeface="Calibri" pitchFamily="34" charset="-120"/>
              </a:rPr>
              <a:t>Spreadsheets + inertia</a:t>
            </a:r>
            <a:endParaRPr lang="en-US" sz="950" dirty="0"/>
          </a:p>
        </p:txBody>
      </p:sp>
      <p:sp>
        <p:nvSpPr>
          <p:cNvPr id="13" name="Shape 11"/>
          <p:cNvSpPr/>
          <p:nvPr/>
        </p:nvSpPr>
        <p:spPr>
          <a:xfrm>
            <a:off x="3291840" y="1755648"/>
            <a:ext cx="1920240" cy="685800"/>
          </a:xfrm>
          <a:prstGeom prst="rect">
            <a:avLst/>
          </a:prstGeom>
          <a:solidFill>
            <a:srgbClr val="2DD4BF"/>
          </a:solidFill>
          <a:ln/>
        </p:spPr>
      </p:sp>
      <p:sp>
        <p:nvSpPr>
          <p:cNvPr id="14" name="Text 12"/>
          <p:cNvSpPr/>
          <p:nvPr/>
        </p:nvSpPr>
        <p:spPr>
          <a:xfrm>
            <a:off x="3291840" y="1755648"/>
            <a:ext cx="1920240" cy="685800"/>
          </a:xfrm>
          <a:prstGeom prst="rect">
            <a:avLst/>
          </a:prstGeom>
          <a:noFill/>
          <a:ln/>
        </p:spPr>
        <p:txBody>
          <a:bodyPr wrap="square" lIns="0" tIns="0" rIns="0" bIns="0" rtlCol="0" anchor="ctr"/>
          <a:lstStyle/>
          <a:p>
            <a:pPr algn="ctr" indent="0" marL="0">
              <a:buNone/>
            </a:pPr>
            <a:r>
              <a:rPr lang="en-US" sz="1300" b="1" spc="100" kern="0" dirty="0">
                <a:solidFill>
                  <a:srgbClr val="0F172A"/>
                </a:solidFill>
                <a:latin typeface="Trebuchet MS" pitchFamily="34" charset="0"/>
                <a:ea typeface="Trebuchet MS" pitchFamily="34" charset="-122"/>
                <a:cs typeface="Trebuchet MS" pitchFamily="34" charset="-120"/>
              </a:rPr>
              <a:t>PHYSICIANLABS</a:t>
            </a:r>
            <a:endParaRPr lang="en-US" sz="1300" dirty="0"/>
          </a:p>
        </p:txBody>
      </p:sp>
      <p:sp>
        <p:nvSpPr>
          <p:cNvPr id="15" name="Shape 13"/>
          <p:cNvSpPr/>
          <p:nvPr/>
        </p:nvSpPr>
        <p:spPr>
          <a:xfrm>
            <a:off x="5760720" y="1371600"/>
            <a:ext cx="2926080" cy="2926080"/>
          </a:xfrm>
          <a:prstGeom prst="rect">
            <a:avLst/>
          </a:prstGeom>
          <a:solidFill>
            <a:srgbClr val="1B2942"/>
          </a:solidFill>
          <a:ln/>
        </p:spPr>
      </p:sp>
      <p:sp>
        <p:nvSpPr>
          <p:cNvPr id="16" name="Text 14"/>
          <p:cNvSpPr/>
          <p:nvPr/>
        </p:nvSpPr>
        <p:spPr>
          <a:xfrm>
            <a:off x="5961888" y="1536192"/>
            <a:ext cx="2514600" cy="274320"/>
          </a:xfrm>
          <a:prstGeom prst="rect">
            <a:avLst/>
          </a:prstGeom>
          <a:noFill/>
          <a:ln/>
        </p:spPr>
        <p:txBody>
          <a:bodyPr wrap="square" lIns="0" tIns="0" rIns="0" bIns="0" rtlCol="0" anchor="ctr"/>
          <a:lstStyle/>
          <a:p>
            <a:pPr indent="0" marL="0">
              <a:buNone/>
            </a:pPr>
            <a:r>
              <a:rPr lang="en-US" sz="1050" b="1" spc="100" kern="0" dirty="0">
                <a:solidFill>
                  <a:srgbClr val="2DD4BF"/>
                </a:solidFill>
                <a:latin typeface="Trebuchet MS" pitchFamily="34" charset="0"/>
                <a:ea typeface="Trebuchet MS" pitchFamily="34" charset="-122"/>
                <a:cs typeface="Trebuchet MS" pitchFamily="34" charset="-120"/>
              </a:rPr>
              <a:t>WHY THEY CAN'T FOLLOW</a:t>
            </a:r>
            <a:endParaRPr lang="en-US" sz="1050" dirty="0"/>
          </a:p>
        </p:txBody>
      </p:sp>
      <p:sp>
        <p:nvSpPr>
          <p:cNvPr id="17" name="Text 15"/>
          <p:cNvSpPr/>
          <p:nvPr/>
        </p:nvSpPr>
        <p:spPr>
          <a:xfrm>
            <a:off x="5961888" y="1865376"/>
            <a:ext cx="2514600" cy="233172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Incumbents are systems of record — they log what happened; they don't guide the next decision</a:t>
            </a:r>
            <a:endParaRPr lang="en-US" sz="1050" dirty="0"/>
          </a:p>
          <a:p>
            <a:pPr marL="342900" indent="-3429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Their model depends on you migrating onto them; we sit on top of the stack you already run</a:t>
            </a:r>
            <a:endParaRPr lang="en-US" sz="1050" dirty="0"/>
          </a:p>
          <a:p>
            <a:pPr marL="342900" indent="-342900">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Real-time financial intelligence has only existed for hospital systems — never the first-year independent</a:t>
            </a:r>
            <a:endParaRPr lang="en-US" sz="1050" dirty="0"/>
          </a:p>
        </p:txBody>
      </p:sp>
      <p:sp>
        <p:nvSpPr>
          <p:cNvPr id="18" name="Text 16"/>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10  /  TECHNOLOGY STATUS</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Honest status: foundation built. Platform v1 is what this round funds.</a:t>
            </a:r>
            <a:endParaRPr lang="en-US" sz="2100" dirty="0"/>
          </a:p>
        </p:txBody>
      </p:sp>
      <p:sp>
        <p:nvSpPr>
          <p:cNvPr id="4" name="Shape 2"/>
          <p:cNvSpPr/>
          <p:nvPr/>
        </p:nvSpPr>
        <p:spPr>
          <a:xfrm>
            <a:off x="457200" y="1325880"/>
            <a:ext cx="8229600" cy="731520"/>
          </a:xfrm>
          <a:prstGeom prst="rect">
            <a:avLst/>
          </a:prstGeom>
          <a:solidFill>
            <a:srgbClr val="16213A"/>
          </a:solidFill>
          <a:ln/>
        </p:spPr>
      </p:sp>
      <p:sp>
        <p:nvSpPr>
          <p:cNvPr id="5" name="Text 3"/>
          <p:cNvSpPr/>
          <p:nvPr/>
        </p:nvSpPr>
        <p:spPr>
          <a:xfrm>
            <a:off x="658368" y="1399032"/>
            <a:ext cx="411480" cy="548640"/>
          </a:xfrm>
          <a:prstGeom prst="rect">
            <a:avLst/>
          </a:prstGeom>
          <a:noFill/>
          <a:ln/>
        </p:spPr>
        <p:txBody>
          <a:bodyPr wrap="square" lIns="0" tIns="0" rIns="0" bIns="0" rtlCol="0" anchor="ctr"/>
          <a:lstStyle/>
          <a:p>
            <a:pPr indent="0" marL="0">
              <a:buNone/>
            </a:pPr>
            <a:r>
              <a:rPr lang="en-US" sz="2000" b="1" dirty="0">
                <a:solidFill>
                  <a:srgbClr val="2DD4BF"/>
                </a:solidFill>
                <a:latin typeface="Trebuchet MS" pitchFamily="34" charset="0"/>
                <a:ea typeface="Trebuchet MS" pitchFamily="34" charset="-122"/>
                <a:cs typeface="Trebuchet MS" pitchFamily="34" charset="-120"/>
              </a:rPr>
              <a:t>✓</a:t>
            </a:r>
            <a:endParaRPr lang="en-US" sz="2000" dirty="0"/>
          </a:p>
        </p:txBody>
      </p:sp>
      <p:sp>
        <p:nvSpPr>
          <p:cNvPr id="6" name="Text 4"/>
          <p:cNvSpPr/>
          <p:nvPr/>
        </p:nvSpPr>
        <p:spPr>
          <a:xfrm>
            <a:off x="1143000" y="1417320"/>
            <a:ext cx="2697480" cy="54864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Platform foundation live</a:t>
            </a:r>
            <a:endParaRPr lang="en-US" sz="1250" dirty="0"/>
          </a:p>
        </p:txBody>
      </p:sp>
      <p:sp>
        <p:nvSpPr>
          <p:cNvPr id="7" name="Text 5"/>
          <p:cNvSpPr/>
          <p:nvPr/>
        </p:nvSpPr>
        <p:spPr>
          <a:xfrm>
            <a:off x="3931920" y="1417320"/>
            <a:ext cx="4572000" cy="548640"/>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Next.js 16 application + AI (MCP) service layer, branch-scoped PostgreSQL, CI — in the repo today</a:t>
            </a:r>
            <a:endParaRPr lang="en-US" sz="1050" dirty="0"/>
          </a:p>
        </p:txBody>
      </p:sp>
      <p:sp>
        <p:nvSpPr>
          <p:cNvPr id="8" name="Shape 6"/>
          <p:cNvSpPr/>
          <p:nvPr/>
        </p:nvSpPr>
        <p:spPr>
          <a:xfrm>
            <a:off x="457200" y="2167128"/>
            <a:ext cx="8229600" cy="731520"/>
          </a:xfrm>
          <a:prstGeom prst="rect">
            <a:avLst/>
          </a:prstGeom>
          <a:solidFill>
            <a:srgbClr val="16213A"/>
          </a:solidFill>
          <a:ln/>
        </p:spPr>
      </p:sp>
      <p:sp>
        <p:nvSpPr>
          <p:cNvPr id="9" name="Text 7"/>
          <p:cNvSpPr/>
          <p:nvPr/>
        </p:nvSpPr>
        <p:spPr>
          <a:xfrm>
            <a:off x="658368" y="2240280"/>
            <a:ext cx="411480" cy="548640"/>
          </a:xfrm>
          <a:prstGeom prst="rect">
            <a:avLst/>
          </a:prstGeom>
          <a:noFill/>
          <a:ln/>
        </p:spPr>
        <p:txBody>
          <a:bodyPr wrap="square" lIns="0" tIns="0" rIns="0" bIns="0" rtlCol="0" anchor="ctr"/>
          <a:lstStyle/>
          <a:p>
            <a:pPr indent="0" marL="0">
              <a:buNone/>
            </a:pPr>
            <a:r>
              <a:rPr lang="en-US" sz="2000" b="1" dirty="0">
                <a:solidFill>
                  <a:srgbClr val="2DD4BF"/>
                </a:solidFill>
                <a:latin typeface="Trebuchet MS" pitchFamily="34" charset="0"/>
                <a:ea typeface="Trebuchet MS" pitchFamily="34" charset="-122"/>
                <a:cs typeface="Trebuchet MS" pitchFamily="34" charset="-120"/>
              </a:rPr>
              <a:t>✓</a:t>
            </a:r>
            <a:endParaRPr lang="en-US" sz="2000" dirty="0"/>
          </a:p>
        </p:txBody>
      </p:sp>
      <p:sp>
        <p:nvSpPr>
          <p:cNvPr id="10" name="Text 8"/>
          <p:cNvSpPr/>
          <p:nvPr/>
        </p:nvSpPr>
        <p:spPr>
          <a:xfrm>
            <a:off x="1143000" y="2258568"/>
            <a:ext cx="2697480" cy="54864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Two working prototypes from real interviews</a:t>
            </a:r>
            <a:endParaRPr lang="en-US" sz="1250" dirty="0"/>
          </a:p>
        </p:txBody>
      </p:sp>
      <p:sp>
        <p:nvSpPr>
          <p:cNvPr id="11" name="Text 9"/>
          <p:cNvSpPr/>
          <p:nvPr/>
        </p:nvSpPr>
        <p:spPr>
          <a:xfrm>
            <a:off x="3931920" y="2258568"/>
            <a:ext cx="4572000" cy="548640"/>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A private-equity exit decision framework and a multi-practice P&amp;L dashboard, each built for a named physician</a:t>
            </a:r>
            <a:endParaRPr lang="en-US" sz="1050" dirty="0"/>
          </a:p>
        </p:txBody>
      </p:sp>
      <p:sp>
        <p:nvSpPr>
          <p:cNvPr id="12" name="Shape 10"/>
          <p:cNvSpPr/>
          <p:nvPr/>
        </p:nvSpPr>
        <p:spPr>
          <a:xfrm>
            <a:off x="457200" y="3008376"/>
            <a:ext cx="8229600" cy="731520"/>
          </a:xfrm>
          <a:prstGeom prst="rect">
            <a:avLst/>
          </a:prstGeom>
          <a:solidFill>
            <a:srgbClr val="16213A"/>
          </a:solidFill>
          <a:ln/>
        </p:spPr>
      </p:sp>
      <p:sp>
        <p:nvSpPr>
          <p:cNvPr id="13" name="Text 11"/>
          <p:cNvSpPr/>
          <p:nvPr/>
        </p:nvSpPr>
        <p:spPr>
          <a:xfrm>
            <a:off x="658368" y="3081528"/>
            <a:ext cx="411480" cy="548640"/>
          </a:xfrm>
          <a:prstGeom prst="rect">
            <a:avLst/>
          </a:prstGeom>
          <a:noFill/>
          <a:ln/>
        </p:spPr>
        <p:txBody>
          <a:bodyPr wrap="square" lIns="0" tIns="0" rIns="0" bIns="0" rtlCol="0" anchor="ctr"/>
          <a:lstStyle/>
          <a:p>
            <a:pPr indent="0" marL="0">
              <a:buNone/>
            </a:pPr>
            <a:r>
              <a:rPr lang="en-US" sz="2000" b="1" dirty="0">
                <a:solidFill>
                  <a:srgbClr val="2DD4BF"/>
                </a:solidFill>
                <a:latin typeface="Trebuchet MS" pitchFamily="34" charset="0"/>
                <a:ea typeface="Trebuchet MS" pitchFamily="34" charset="-122"/>
                <a:cs typeface="Trebuchet MS" pitchFamily="34" charset="-120"/>
              </a:rPr>
              <a:t>✓</a:t>
            </a:r>
            <a:endParaRPr lang="en-US" sz="2000" dirty="0"/>
          </a:p>
        </p:txBody>
      </p:sp>
      <p:sp>
        <p:nvSpPr>
          <p:cNvPr id="14" name="Text 12"/>
          <p:cNvSpPr/>
          <p:nvPr/>
        </p:nvSpPr>
        <p:spPr>
          <a:xfrm>
            <a:off x="1143000" y="3099816"/>
            <a:ext cx="2697480" cy="54864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HIPAA-clean by design</a:t>
            </a:r>
            <a:endParaRPr lang="en-US" sz="1250" dirty="0"/>
          </a:p>
        </p:txBody>
      </p:sp>
      <p:sp>
        <p:nvSpPr>
          <p:cNvPr id="15" name="Text 13"/>
          <p:cNvSpPr/>
          <p:nvPr/>
        </p:nvSpPr>
        <p:spPr>
          <a:xfrm>
            <a:off x="3931920" y="3099816"/>
            <a:ext cx="4572000" cy="548640"/>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Business and financial data only — zero PHI. Practices onboard without a compliance review</a:t>
            </a:r>
            <a:endParaRPr lang="en-US" sz="1050" dirty="0"/>
          </a:p>
        </p:txBody>
      </p:sp>
      <p:sp>
        <p:nvSpPr>
          <p:cNvPr id="16" name="Shape 14"/>
          <p:cNvSpPr/>
          <p:nvPr/>
        </p:nvSpPr>
        <p:spPr>
          <a:xfrm>
            <a:off x="457200" y="3849624"/>
            <a:ext cx="8229600" cy="731520"/>
          </a:xfrm>
          <a:prstGeom prst="rect">
            <a:avLst/>
          </a:prstGeom>
          <a:solidFill>
            <a:srgbClr val="1B2942"/>
          </a:solidFill>
          <a:ln/>
        </p:spPr>
      </p:sp>
      <p:sp>
        <p:nvSpPr>
          <p:cNvPr id="17" name="Text 15"/>
          <p:cNvSpPr/>
          <p:nvPr/>
        </p:nvSpPr>
        <p:spPr>
          <a:xfrm>
            <a:off x="658368" y="3922776"/>
            <a:ext cx="411480" cy="548640"/>
          </a:xfrm>
          <a:prstGeom prst="rect">
            <a:avLst/>
          </a:prstGeom>
          <a:noFill/>
          <a:ln/>
        </p:spPr>
        <p:txBody>
          <a:bodyPr wrap="square" lIns="0" tIns="0" rIns="0" bIns="0" rtlCol="0" anchor="ctr"/>
          <a:lstStyle/>
          <a:p>
            <a:pPr indent="0" marL="0">
              <a:buNone/>
            </a:pPr>
            <a:r>
              <a:rPr lang="en-US" sz="2000" b="1" dirty="0">
                <a:solidFill>
                  <a:srgbClr val="818CF8"/>
                </a:solidFill>
                <a:latin typeface="Trebuchet MS" pitchFamily="34" charset="0"/>
                <a:ea typeface="Trebuchet MS" pitchFamily="34" charset="-122"/>
                <a:cs typeface="Trebuchet MS" pitchFamily="34" charset="-120"/>
              </a:rPr>
              <a:t>→</a:t>
            </a:r>
            <a:endParaRPr lang="en-US" sz="2000" dirty="0"/>
          </a:p>
        </p:txBody>
      </p:sp>
      <p:sp>
        <p:nvSpPr>
          <p:cNvPr id="18" name="Text 16"/>
          <p:cNvSpPr/>
          <p:nvPr/>
        </p:nvSpPr>
        <p:spPr>
          <a:xfrm>
            <a:off x="1143000" y="3941064"/>
            <a:ext cx="2697480" cy="548640"/>
          </a:xfrm>
          <a:prstGeom prst="rect">
            <a:avLst/>
          </a:prstGeom>
          <a:noFill/>
          <a:ln/>
        </p:spPr>
        <p:txBody>
          <a:bodyPr wrap="square" lIns="0" tIns="0" rIns="0" bIns="0" rtlCol="0" anchor="ctr"/>
          <a:lstStyle/>
          <a:p>
            <a:pPr indent="0" marL="0">
              <a:buNone/>
            </a:pPr>
            <a:r>
              <a:rPr lang="en-US" sz="1250" b="1" dirty="0">
                <a:solidFill>
                  <a:srgbClr val="FFFFFF"/>
                </a:solidFill>
                <a:latin typeface="Trebuchet MS" pitchFamily="34" charset="0"/>
                <a:ea typeface="Trebuchet MS" pitchFamily="34" charset="-122"/>
                <a:cs typeface="Trebuchet MS" pitchFamily="34" charset="-120"/>
              </a:rPr>
              <a:t>Pre-seed builds</a:t>
            </a:r>
            <a:endParaRPr lang="en-US" sz="1250" dirty="0"/>
          </a:p>
        </p:txBody>
      </p:sp>
      <p:sp>
        <p:nvSpPr>
          <p:cNvPr id="19" name="Text 17"/>
          <p:cNvSpPr/>
          <p:nvPr/>
        </p:nvSpPr>
        <p:spPr>
          <a:xfrm>
            <a:off x="3931920" y="3941064"/>
            <a:ext cx="4572000" cy="548640"/>
          </a:xfrm>
          <a:prstGeom prst="rect">
            <a:avLst/>
          </a:prstGeom>
          <a:noFill/>
          <a:ln/>
        </p:spPr>
        <p:txBody>
          <a:bodyPr wrap="square" lIns="0" tIns="0" rIns="0" bIns="0" rtlCol="0" anchor="ctr"/>
          <a:lstStyle/>
          <a:p>
            <a:pPr indent="0" marL="0">
              <a:buNone/>
            </a:pPr>
            <a:r>
              <a:rPr lang="en-US" sz="1050" dirty="0">
                <a:solidFill>
                  <a:srgbClr val="8FA3BF"/>
                </a:solidFill>
                <a:latin typeface="Calibri" pitchFamily="34" charset="0"/>
                <a:ea typeface="Calibri" pitchFamily="34" charset="-122"/>
                <a:cs typeface="Calibri" pitchFamily="34" charset="-120"/>
              </a:rPr>
              <a:t>AI financial engine v1 + first 2 EHR integrations (CMS FHIR mandate collapses the cost) + 20-clinic deployment</a:t>
            </a:r>
            <a:endParaRPr lang="en-US" sz="1050" dirty="0"/>
          </a:p>
        </p:txBody>
      </p:sp>
      <p:sp>
        <p:nvSpPr>
          <p:cNvPr id="20" name="Text 18"/>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11  /  FORECASTED FINANCIALS</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Bottoms-up to $28M ARR in five years.</a:t>
            </a:r>
            <a:endParaRPr lang="en-US" sz="2400" dirty="0"/>
          </a:p>
        </p:txBody>
      </p:sp>
      <p:graphicFrame>
        <p:nvGraphicFramePr>
          <p:cNvPr id="4" name="Chart 0" descr=""/>
          <p:cNvGraphicFramePr/>
          <p:nvPr/>
        </p:nvGraphicFramePr>
        <p:xfrm>
          <a:off x="457200" y="1234440"/>
          <a:ext cx="5394960" cy="310896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80760" y="1234440"/>
            <a:ext cx="2606040" cy="3108960"/>
          </a:xfrm>
          <a:prstGeom prst="rect">
            <a:avLst/>
          </a:prstGeom>
          <a:solidFill>
            <a:srgbClr val="1B2942"/>
          </a:solidFill>
          <a:ln/>
        </p:spPr>
      </p:sp>
      <p:sp>
        <p:nvSpPr>
          <p:cNvPr id="6" name="Text 3"/>
          <p:cNvSpPr/>
          <p:nvPr/>
        </p:nvSpPr>
        <p:spPr>
          <a:xfrm>
            <a:off x="6281928" y="1417320"/>
            <a:ext cx="219456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THE ENGINE</a:t>
            </a:r>
            <a:endParaRPr lang="en-US" sz="1050" dirty="0"/>
          </a:p>
        </p:txBody>
      </p:sp>
      <p:sp>
        <p:nvSpPr>
          <p:cNvPr id="7" name="Text 4"/>
          <p:cNvSpPr/>
          <p:nvPr/>
        </p:nvSpPr>
        <p:spPr>
          <a:xfrm>
            <a:off x="6281928" y="1764792"/>
            <a:ext cx="2240280" cy="2468880"/>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20 → 100 → 400 → 1,200 → 3,000 paying clinics (~3% of SAM)</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$9.6–12K blended revenue per clinic per year</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&gt;70% blended gross margin</a:t>
            </a:r>
            <a:endParaRPr lang="en-US" sz="1100" dirty="0"/>
          </a:p>
          <a:p>
            <a:pPr marL="342900" indent="-342900">
              <a:spcAft>
                <a:spcPts val="800"/>
              </a:spcAft>
              <a:buSzPct val="100000"/>
              <a:buChar char="•"/>
            </a:pPr>
            <a:r>
              <a:rPr lang="en-US" sz="1100" dirty="0">
                <a:solidFill>
                  <a:srgbClr val="FFFFFF"/>
                </a:solidFill>
                <a:latin typeface="Calibri" pitchFamily="34" charset="0"/>
                <a:ea typeface="Calibri" pitchFamily="34" charset="-122"/>
                <a:cs typeface="Calibri" pitchFamily="34" charset="-120"/>
              </a:rPr>
              <a:t>FY28 onward assumes the $10M seed closes on the 20-clinic proof</a:t>
            </a:r>
            <a:endParaRPr lang="en-US" sz="1100" dirty="0"/>
          </a:p>
        </p:txBody>
      </p:sp>
      <p:sp>
        <p:nvSpPr>
          <p:cNvPr id="8" name="Text 5"/>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12  /  COMPS, EXIT &amp; EXPECTED ROI</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RCM is one of healthcare's most proven exit markets.</a:t>
            </a:r>
            <a:endParaRPr lang="en-US" sz="2400" dirty="0"/>
          </a:p>
        </p:txBody>
      </p:sp>
      <p:sp>
        <p:nvSpPr>
          <p:cNvPr id="4" name="Shape 2"/>
          <p:cNvSpPr/>
          <p:nvPr/>
        </p:nvSpPr>
        <p:spPr>
          <a:xfrm>
            <a:off x="457200" y="1280160"/>
            <a:ext cx="1975104" cy="1188720"/>
          </a:xfrm>
          <a:prstGeom prst="rect">
            <a:avLst/>
          </a:prstGeom>
          <a:solidFill>
            <a:srgbClr val="16213A"/>
          </a:solidFill>
          <a:ln/>
        </p:spPr>
      </p:sp>
      <p:sp>
        <p:nvSpPr>
          <p:cNvPr id="5" name="Text 3"/>
          <p:cNvSpPr/>
          <p:nvPr/>
        </p:nvSpPr>
        <p:spPr>
          <a:xfrm>
            <a:off x="621792" y="1389888"/>
            <a:ext cx="1691640" cy="457200"/>
          </a:xfrm>
          <a:prstGeom prst="rect">
            <a:avLst/>
          </a:prstGeom>
          <a:noFill/>
          <a:ln/>
        </p:spPr>
        <p:txBody>
          <a:bodyPr wrap="square" lIns="0" tIns="0" rIns="0" bIns="0" rtlCol="0" anchor="ctr"/>
          <a:lstStyle/>
          <a:p>
            <a:pPr indent="0" marL="0">
              <a:buNone/>
            </a:pPr>
            <a:r>
              <a:rPr lang="en-US" sz="2200" b="1" dirty="0">
                <a:solidFill>
                  <a:srgbClr val="2DD4BF"/>
                </a:solidFill>
                <a:latin typeface="Trebuchet MS" pitchFamily="34" charset="0"/>
                <a:ea typeface="Trebuchet MS" pitchFamily="34" charset="-122"/>
                <a:cs typeface="Trebuchet MS" pitchFamily="34" charset="-120"/>
              </a:rPr>
              <a:t>$8.9B</a:t>
            </a:r>
            <a:endParaRPr lang="en-US" sz="2200" dirty="0"/>
          </a:p>
        </p:txBody>
      </p:sp>
      <p:sp>
        <p:nvSpPr>
          <p:cNvPr id="6" name="Text 4"/>
          <p:cNvSpPr/>
          <p:nvPr/>
        </p:nvSpPr>
        <p:spPr>
          <a:xfrm>
            <a:off x="621792" y="1874520"/>
            <a:ext cx="1691640" cy="502920"/>
          </a:xfrm>
          <a:prstGeom prst="rect">
            <a:avLst/>
          </a:prstGeom>
          <a:noFill/>
          <a:ln/>
        </p:spPr>
        <p:txBody>
          <a:bodyPr wrap="square" lIns="0" tIns="0" rIns="0" bIns="0" rtlCol="0" anchor="t"/>
          <a:lstStyle/>
          <a:p>
            <a:pPr indent="0" marL="0">
              <a:buNone/>
            </a:pPr>
            <a:r>
              <a:rPr lang="en-US" sz="1000" dirty="0">
                <a:solidFill>
                  <a:srgbClr val="8FA3BF"/>
                </a:solidFill>
                <a:latin typeface="Calibri" pitchFamily="34" charset="0"/>
                <a:ea typeface="Calibri" pitchFamily="34" charset="-122"/>
                <a:cs typeface="Calibri" pitchFamily="34" charset="-120"/>
              </a:rPr>
              <a:t>R1 RCM take-private, 2024</a:t>
            </a:r>
            <a:endParaRPr lang="en-US" sz="1000" dirty="0"/>
          </a:p>
        </p:txBody>
      </p:sp>
      <p:sp>
        <p:nvSpPr>
          <p:cNvPr id="7" name="Shape 5"/>
          <p:cNvSpPr/>
          <p:nvPr/>
        </p:nvSpPr>
        <p:spPr>
          <a:xfrm>
            <a:off x="2569464" y="1280160"/>
            <a:ext cx="1975104" cy="1188720"/>
          </a:xfrm>
          <a:prstGeom prst="rect">
            <a:avLst/>
          </a:prstGeom>
          <a:solidFill>
            <a:srgbClr val="16213A"/>
          </a:solidFill>
          <a:ln/>
        </p:spPr>
      </p:sp>
      <p:sp>
        <p:nvSpPr>
          <p:cNvPr id="8" name="Text 6"/>
          <p:cNvSpPr/>
          <p:nvPr/>
        </p:nvSpPr>
        <p:spPr>
          <a:xfrm>
            <a:off x="2734056" y="1389888"/>
            <a:ext cx="1691640" cy="457200"/>
          </a:xfrm>
          <a:prstGeom prst="rect">
            <a:avLst/>
          </a:prstGeom>
          <a:noFill/>
          <a:ln/>
        </p:spPr>
        <p:txBody>
          <a:bodyPr wrap="square" lIns="0" tIns="0" rIns="0" bIns="0" rtlCol="0" anchor="ctr"/>
          <a:lstStyle/>
          <a:p>
            <a:pPr indent="0" marL="0">
              <a:buNone/>
            </a:pPr>
            <a:r>
              <a:rPr lang="en-US" sz="2200" b="1" dirty="0">
                <a:solidFill>
                  <a:srgbClr val="2DD4BF"/>
                </a:solidFill>
                <a:latin typeface="Trebuchet MS" pitchFamily="34" charset="0"/>
                <a:ea typeface="Trebuchet MS" pitchFamily="34" charset="-122"/>
                <a:cs typeface="Trebuchet MS" pitchFamily="34" charset="-120"/>
              </a:rPr>
              <a:t>$17B</a:t>
            </a:r>
            <a:endParaRPr lang="en-US" sz="2200" dirty="0"/>
          </a:p>
        </p:txBody>
      </p:sp>
      <p:sp>
        <p:nvSpPr>
          <p:cNvPr id="9" name="Text 7"/>
          <p:cNvSpPr/>
          <p:nvPr/>
        </p:nvSpPr>
        <p:spPr>
          <a:xfrm>
            <a:off x="2734056" y="1874520"/>
            <a:ext cx="1691640" cy="502920"/>
          </a:xfrm>
          <a:prstGeom prst="rect">
            <a:avLst/>
          </a:prstGeom>
          <a:noFill/>
          <a:ln/>
        </p:spPr>
        <p:txBody>
          <a:bodyPr wrap="square" lIns="0" tIns="0" rIns="0" bIns="0" rtlCol="0" anchor="t"/>
          <a:lstStyle/>
          <a:p>
            <a:pPr indent="0" marL="0">
              <a:buNone/>
            </a:pPr>
            <a:r>
              <a:rPr lang="en-US" sz="1000" dirty="0">
                <a:solidFill>
                  <a:srgbClr val="8FA3BF"/>
                </a:solidFill>
                <a:latin typeface="Calibri" pitchFamily="34" charset="0"/>
                <a:ea typeface="Calibri" pitchFamily="34" charset="-122"/>
                <a:cs typeface="Calibri" pitchFamily="34" charset="-120"/>
              </a:rPr>
              <a:t>athenahealth take-private, 2022</a:t>
            </a:r>
            <a:endParaRPr lang="en-US" sz="1000" dirty="0"/>
          </a:p>
        </p:txBody>
      </p:sp>
      <p:sp>
        <p:nvSpPr>
          <p:cNvPr id="10" name="Shape 8"/>
          <p:cNvSpPr/>
          <p:nvPr/>
        </p:nvSpPr>
        <p:spPr>
          <a:xfrm>
            <a:off x="4681728" y="1280160"/>
            <a:ext cx="1975104" cy="1188720"/>
          </a:xfrm>
          <a:prstGeom prst="rect">
            <a:avLst/>
          </a:prstGeom>
          <a:solidFill>
            <a:srgbClr val="16213A"/>
          </a:solidFill>
          <a:ln/>
        </p:spPr>
      </p:sp>
      <p:sp>
        <p:nvSpPr>
          <p:cNvPr id="11" name="Text 9"/>
          <p:cNvSpPr/>
          <p:nvPr/>
        </p:nvSpPr>
        <p:spPr>
          <a:xfrm>
            <a:off x="4846320" y="1389888"/>
            <a:ext cx="1691640" cy="457200"/>
          </a:xfrm>
          <a:prstGeom prst="rect">
            <a:avLst/>
          </a:prstGeom>
          <a:noFill/>
          <a:ln/>
        </p:spPr>
        <p:txBody>
          <a:bodyPr wrap="square" lIns="0" tIns="0" rIns="0" bIns="0" rtlCol="0" anchor="ctr"/>
          <a:lstStyle/>
          <a:p>
            <a:pPr indent="0" marL="0">
              <a:buNone/>
            </a:pPr>
            <a:r>
              <a:rPr lang="en-US" sz="2200" b="1" dirty="0">
                <a:solidFill>
                  <a:srgbClr val="2DD4BF"/>
                </a:solidFill>
                <a:latin typeface="Trebuchet MS" pitchFamily="34" charset="0"/>
                <a:ea typeface="Trebuchet MS" pitchFamily="34" charset="-122"/>
                <a:cs typeface="Trebuchet MS" pitchFamily="34" charset="-120"/>
              </a:rPr>
              <a:t>$1.8B</a:t>
            </a:r>
            <a:endParaRPr lang="en-US" sz="2200" dirty="0"/>
          </a:p>
        </p:txBody>
      </p:sp>
      <p:sp>
        <p:nvSpPr>
          <p:cNvPr id="12" name="Text 10"/>
          <p:cNvSpPr/>
          <p:nvPr/>
        </p:nvSpPr>
        <p:spPr>
          <a:xfrm>
            <a:off x="4846320" y="1874520"/>
            <a:ext cx="1691640" cy="502920"/>
          </a:xfrm>
          <a:prstGeom prst="rect">
            <a:avLst/>
          </a:prstGeom>
          <a:noFill/>
          <a:ln/>
        </p:spPr>
        <p:txBody>
          <a:bodyPr wrap="square" lIns="0" tIns="0" rIns="0" bIns="0" rtlCol="0" anchor="t"/>
          <a:lstStyle/>
          <a:p>
            <a:pPr indent="0" marL="0">
              <a:buNone/>
            </a:pPr>
            <a:r>
              <a:rPr lang="en-US" sz="1000" dirty="0">
                <a:solidFill>
                  <a:srgbClr val="8FA3BF"/>
                </a:solidFill>
                <a:latin typeface="Calibri" pitchFamily="34" charset="0"/>
                <a:ea typeface="Calibri" pitchFamily="34" charset="-122"/>
                <a:cs typeface="Calibri" pitchFamily="34" charset="-120"/>
              </a:rPr>
              <a:t>Jane App valuation</a:t>
            </a:r>
            <a:endParaRPr lang="en-US" sz="1000" dirty="0"/>
          </a:p>
        </p:txBody>
      </p:sp>
      <p:sp>
        <p:nvSpPr>
          <p:cNvPr id="13" name="Shape 11"/>
          <p:cNvSpPr/>
          <p:nvPr/>
        </p:nvSpPr>
        <p:spPr>
          <a:xfrm>
            <a:off x="6793992" y="1280160"/>
            <a:ext cx="1975104" cy="1188720"/>
          </a:xfrm>
          <a:prstGeom prst="rect">
            <a:avLst/>
          </a:prstGeom>
          <a:solidFill>
            <a:srgbClr val="16213A"/>
          </a:solidFill>
          <a:ln/>
        </p:spPr>
      </p:sp>
      <p:sp>
        <p:nvSpPr>
          <p:cNvPr id="14" name="Text 12"/>
          <p:cNvSpPr/>
          <p:nvPr/>
        </p:nvSpPr>
        <p:spPr>
          <a:xfrm>
            <a:off x="6958584" y="1389888"/>
            <a:ext cx="1691640" cy="457200"/>
          </a:xfrm>
          <a:prstGeom prst="rect">
            <a:avLst/>
          </a:prstGeom>
          <a:noFill/>
          <a:ln/>
        </p:spPr>
        <p:txBody>
          <a:bodyPr wrap="square" lIns="0" tIns="0" rIns="0" bIns="0" rtlCol="0" anchor="ctr"/>
          <a:lstStyle/>
          <a:p>
            <a:pPr indent="0" marL="0">
              <a:buNone/>
            </a:pPr>
            <a:r>
              <a:rPr lang="en-US" sz="2200" b="1" dirty="0">
                <a:solidFill>
                  <a:srgbClr val="2DD4BF"/>
                </a:solidFill>
                <a:latin typeface="Trebuchet MS" pitchFamily="34" charset="0"/>
                <a:ea typeface="Trebuchet MS" pitchFamily="34" charset="-122"/>
                <a:cs typeface="Trebuchet MS" pitchFamily="34" charset="-120"/>
              </a:rPr>
              <a:t>$250M</a:t>
            </a:r>
            <a:endParaRPr lang="en-US" sz="2200" dirty="0"/>
          </a:p>
        </p:txBody>
      </p:sp>
      <p:sp>
        <p:nvSpPr>
          <p:cNvPr id="15" name="Text 13"/>
          <p:cNvSpPr/>
          <p:nvPr/>
        </p:nvSpPr>
        <p:spPr>
          <a:xfrm>
            <a:off x="6958584" y="1874520"/>
            <a:ext cx="1691640" cy="502920"/>
          </a:xfrm>
          <a:prstGeom prst="rect">
            <a:avLst/>
          </a:prstGeom>
          <a:noFill/>
          <a:ln/>
        </p:spPr>
        <p:txBody>
          <a:bodyPr wrap="square" lIns="0" tIns="0" rIns="0" bIns="0" rtlCol="0" anchor="t"/>
          <a:lstStyle/>
          <a:p>
            <a:pPr indent="0" marL="0">
              <a:buNone/>
            </a:pPr>
            <a:r>
              <a:rPr lang="en-US" sz="1000" dirty="0">
                <a:solidFill>
                  <a:srgbClr val="8FA3BF"/>
                </a:solidFill>
                <a:latin typeface="Calibri" pitchFamily="34" charset="0"/>
                <a:ea typeface="Calibri" pitchFamily="34" charset="-122"/>
                <a:cs typeface="Calibri" pitchFamily="34" charset="-120"/>
              </a:rPr>
              <a:t>Tebra raise, Jan 2026</a:t>
            </a:r>
            <a:endParaRPr lang="en-US" sz="1000" dirty="0"/>
          </a:p>
        </p:txBody>
      </p:sp>
      <p:sp>
        <p:nvSpPr>
          <p:cNvPr id="16" name="Shape 14"/>
          <p:cNvSpPr/>
          <p:nvPr/>
        </p:nvSpPr>
        <p:spPr>
          <a:xfrm>
            <a:off x="457200" y="2697480"/>
            <a:ext cx="4023360" cy="1783080"/>
          </a:xfrm>
          <a:prstGeom prst="rect">
            <a:avLst/>
          </a:prstGeom>
          <a:solidFill>
            <a:srgbClr val="1B2942"/>
          </a:solidFill>
          <a:ln/>
        </p:spPr>
      </p:sp>
      <p:sp>
        <p:nvSpPr>
          <p:cNvPr id="17" name="Text 15"/>
          <p:cNvSpPr/>
          <p:nvPr/>
        </p:nvSpPr>
        <p:spPr>
          <a:xfrm>
            <a:off x="658368" y="2862072"/>
            <a:ext cx="365760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DEAL MULTIPLES</a:t>
            </a:r>
            <a:endParaRPr lang="en-US" sz="1050" dirty="0"/>
          </a:p>
        </p:txBody>
      </p:sp>
      <p:sp>
        <p:nvSpPr>
          <p:cNvPr id="18" name="Text 16"/>
          <p:cNvSpPr/>
          <p:nvPr/>
        </p:nvSpPr>
        <p:spPr>
          <a:xfrm>
            <a:off x="658368" y="3182112"/>
            <a:ext cx="3657600" cy="11887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Recent RCM platform deals at ~4.3× revenue and ~17× EBITDA. Consolidators — R1, Waystar, EHR vendors, PE — are actively acquiring.</a:t>
            </a:r>
            <a:endParaRPr lang="en-US" sz="1150" dirty="0"/>
          </a:p>
        </p:txBody>
      </p:sp>
      <p:sp>
        <p:nvSpPr>
          <p:cNvPr id="19" name="Shape 17"/>
          <p:cNvSpPr/>
          <p:nvPr/>
        </p:nvSpPr>
        <p:spPr>
          <a:xfrm>
            <a:off x="4663440" y="2697480"/>
            <a:ext cx="4023360" cy="1783080"/>
          </a:xfrm>
          <a:prstGeom prst="rect">
            <a:avLst/>
          </a:prstGeom>
          <a:solidFill>
            <a:srgbClr val="1B2942"/>
          </a:solidFill>
          <a:ln/>
        </p:spPr>
      </p:sp>
      <p:sp>
        <p:nvSpPr>
          <p:cNvPr id="20" name="Text 18"/>
          <p:cNvSpPr/>
          <p:nvPr/>
        </p:nvSpPr>
        <p:spPr>
          <a:xfrm>
            <a:off x="4864608" y="2862072"/>
            <a:ext cx="365760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RETURN MATH</a:t>
            </a:r>
            <a:endParaRPr lang="en-US" sz="1050" dirty="0"/>
          </a:p>
        </p:txBody>
      </p:sp>
      <p:sp>
        <p:nvSpPr>
          <p:cNvPr id="21" name="Text 19"/>
          <p:cNvSpPr/>
          <p:nvPr/>
        </p:nvSpPr>
        <p:spPr>
          <a:xfrm>
            <a:off x="4864608" y="3182112"/>
            <a:ext cx="3657600" cy="1188720"/>
          </a:xfrm>
          <a:prstGeom prst="rect">
            <a:avLst/>
          </a:prstGeom>
          <a:noFill/>
          <a:ln/>
        </p:spPr>
        <p:txBody>
          <a:bodyPr wrap="square" lIns="0" tIns="0" rIns="0" bIns="0" rtlCol="0" anchor="t"/>
          <a:lstStyle/>
          <a:p>
            <a:pPr indent="0" marL="0">
              <a:buNone/>
            </a:pPr>
            <a:r>
              <a:rPr lang="en-US" sz="1150" dirty="0">
                <a:solidFill>
                  <a:srgbClr val="FFFFFF"/>
                </a:solidFill>
                <a:latin typeface="Calibri" pitchFamily="34" charset="0"/>
                <a:ea typeface="Calibri" pitchFamily="34" charset="-122"/>
                <a:cs typeface="Calibri" pitchFamily="34" charset="-120"/>
              </a:rPr>
              <a:t>Base: ~5× on $28M ARR is a $140M+ outcome → 15–25× on this round.  Upside: category-leader comp (Jane App) → 50×+.</a:t>
            </a:r>
            <a:endParaRPr lang="en-US" sz="1150" dirty="0"/>
          </a:p>
        </p:txBody>
      </p:sp>
      <p:sp>
        <p:nvSpPr>
          <p:cNvPr id="22" name="Text 20"/>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13  /  THE ASK</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$2.5M pre-seed — and three doors only you can open.</a:t>
            </a:r>
            <a:endParaRPr lang="en-US" sz="2400" dirty="0"/>
          </a:p>
        </p:txBody>
      </p:sp>
      <p:sp>
        <p:nvSpPr>
          <p:cNvPr id="4" name="Text 2"/>
          <p:cNvSpPr/>
          <p:nvPr/>
        </p:nvSpPr>
        <p:spPr>
          <a:xfrm>
            <a:off x="457200" y="1188720"/>
            <a:ext cx="2560320" cy="685800"/>
          </a:xfrm>
          <a:prstGeom prst="rect">
            <a:avLst/>
          </a:prstGeom>
          <a:noFill/>
          <a:ln/>
        </p:spPr>
        <p:txBody>
          <a:bodyPr wrap="square" lIns="0" tIns="0" rIns="0" bIns="0" rtlCol="0" anchor="ctr"/>
          <a:lstStyle/>
          <a:p>
            <a:pPr indent="0" marL="0">
              <a:buNone/>
            </a:pPr>
            <a:r>
              <a:rPr lang="en-US" sz="4400" b="1" dirty="0">
                <a:solidFill>
                  <a:srgbClr val="2DD4BF"/>
                </a:solidFill>
                <a:latin typeface="Trebuchet MS" pitchFamily="34" charset="0"/>
                <a:ea typeface="Trebuchet MS" pitchFamily="34" charset="-122"/>
                <a:cs typeface="Trebuchet MS" pitchFamily="34" charset="-120"/>
              </a:rPr>
              <a:t>$2.5M</a:t>
            </a:r>
            <a:endParaRPr lang="en-US" sz="4400" dirty="0"/>
          </a:p>
        </p:txBody>
      </p:sp>
      <p:sp>
        <p:nvSpPr>
          <p:cNvPr id="5" name="Text 3"/>
          <p:cNvSpPr/>
          <p:nvPr/>
        </p:nvSpPr>
        <p:spPr>
          <a:xfrm>
            <a:off x="3017520" y="1389888"/>
            <a:ext cx="2377440" cy="365760"/>
          </a:xfrm>
          <a:prstGeom prst="rect">
            <a:avLst/>
          </a:prstGeom>
          <a:noFill/>
          <a:ln/>
        </p:spPr>
        <p:txBody>
          <a:bodyPr wrap="square" lIns="0" tIns="0" rIns="0" bIns="0" rtlCol="0" anchor="ctr"/>
          <a:lstStyle/>
          <a:p>
            <a:pPr indent="0" marL="0">
              <a:buNone/>
            </a:pPr>
            <a:r>
              <a:rPr lang="en-US" sz="1300" dirty="0">
                <a:solidFill>
                  <a:srgbClr val="8FA3BF"/>
                </a:solidFill>
                <a:latin typeface="Calibri" pitchFamily="34" charset="0"/>
                <a:ea typeface="Calibri" pitchFamily="34" charset="-122"/>
                <a:cs typeface="Calibri" pitchFamily="34" charset="-120"/>
              </a:rPr>
              <a:t>pre-seed · 18–20 months</a:t>
            </a:r>
            <a:endParaRPr lang="en-US" sz="1300" dirty="0"/>
          </a:p>
        </p:txBody>
      </p:sp>
      <p:sp>
        <p:nvSpPr>
          <p:cNvPr id="6" name="Shape 4"/>
          <p:cNvSpPr/>
          <p:nvPr/>
        </p:nvSpPr>
        <p:spPr>
          <a:xfrm>
            <a:off x="457200" y="2057400"/>
            <a:ext cx="2011680" cy="292608"/>
          </a:xfrm>
          <a:prstGeom prst="rect">
            <a:avLst/>
          </a:prstGeom>
          <a:solidFill>
            <a:srgbClr val="2DD4BF"/>
          </a:solidFill>
          <a:ln w="12700">
            <a:solidFill>
              <a:srgbClr val="2DD4BF"/>
            </a:solidFill>
            <a:prstDash val="solid"/>
          </a:ln>
        </p:spPr>
      </p:sp>
      <p:sp>
        <p:nvSpPr>
          <p:cNvPr id="7" name="Text 5"/>
          <p:cNvSpPr/>
          <p:nvPr/>
        </p:nvSpPr>
        <p:spPr>
          <a:xfrm>
            <a:off x="2560320" y="2039112"/>
            <a:ext cx="548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45%</a:t>
            </a:r>
            <a:endParaRPr lang="en-US" sz="1200" dirty="0"/>
          </a:p>
        </p:txBody>
      </p:sp>
      <p:sp>
        <p:nvSpPr>
          <p:cNvPr id="8" name="Text 6"/>
          <p:cNvSpPr/>
          <p:nvPr/>
        </p:nvSpPr>
        <p:spPr>
          <a:xfrm>
            <a:off x="2971800" y="2039112"/>
            <a:ext cx="2423160" cy="32918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Product &amp; engineering — AI engine v1, 2 EHR integrations</a:t>
            </a:r>
            <a:endParaRPr lang="en-US" sz="950" dirty="0"/>
          </a:p>
        </p:txBody>
      </p:sp>
      <p:sp>
        <p:nvSpPr>
          <p:cNvPr id="9" name="Shape 7"/>
          <p:cNvSpPr/>
          <p:nvPr/>
        </p:nvSpPr>
        <p:spPr>
          <a:xfrm>
            <a:off x="457200" y="2624328"/>
            <a:ext cx="1117600" cy="292608"/>
          </a:xfrm>
          <a:prstGeom prst="rect">
            <a:avLst/>
          </a:prstGeom>
          <a:solidFill>
            <a:srgbClr val="1B2942"/>
          </a:solidFill>
          <a:ln w="9525">
            <a:solidFill>
              <a:srgbClr val="2DD4BF"/>
            </a:solidFill>
            <a:prstDash val="solid"/>
          </a:ln>
        </p:spPr>
      </p:sp>
      <p:sp>
        <p:nvSpPr>
          <p:cNvPr id="10" name="Text 8"/>
          <p:cNvSpPr/>
          <p:nvPr/>
        </p:nvSpPr>
        <p:spPr>
          <a:xfrm>
            <a:off x="1666240" y="2606040"/>
            <a:ext cx="548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25%</a:t>
            </a:r>
            <a:endParaRPr lang="en-US" sz="1200" dirty="0"/>
          </a:p>
        </p:txBody>
      </p:sp>
      <p:sp>
        <p:nvSpPr>
          <p:cNvPr id="11" name="Text 9"/>
          <p:cNvSpPr/>
          <p:nvPr/>
        </p:nvSpPr>
        <p:spPr>
          <a:xfrm>
            <a:off x="2971800" y="2606040"/>
            <a:ext cx="2423160" cy="32918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Go-to-market — founder-led sales + first GTM hire</a:t>
            </a:r>
            <a:endParaRPr lang="en-US" sz="950" dirty="0"/>
          </a:p>
        </p:txBody>
      </p:sp>
      <p:sp>
        <p:nvSpPr>
          <p:cNvPr id="12" name="Shape 10"/>
          <p:cNvSpPr/>
          <p:nvPr/>
        </p:nvSpPr>
        <p:spPr>
          <a:xfrm>
            <a:off x="457200" y="3191256"/>
            <a:ext cx="670560" cy="292608"/>
          </a:xfrm>
          <a:prstGeom prst="rect">
            <a:avLst/>
          </a:prstGeom>
          <a:solidFill>
            <a:srgbClr val="1B2942"/>
          </a:solidFill>
          <a:ln w="9525">
            <a:solidFill>
              <a:srgbClr val="2DD4BF"/>
            </a:solidFill>
            <a:prstDash val="solid"/>
          </a:ln>
        </p:spPr>
      </p:sp>
      <p:sp>
        <p:nvSpPr>
          <p:cNvPr id="13" name="Text 11"/>
          <p:cNvSpPr/>
          <p:nvPr/>
        </p:nvSpPr>
        <p:spPr>
          <a:xfrm>
            <a:off x="1219200" y="3172968"/>
            <a:ext cx="548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15%</a:t>
            </a:r>
            <a:endParaRPr lang="en-US" sz="1200" dirty="0"/>
          </a:p>
        </p:txBody>
      </p:sp>
      <p:sp>
        <p:nvSpPr>
          <p:cNvPr id="14" name="Text 12"/>
          <p:cNvSpPr/>
          <p:nvPr/>
        </p:nvSpPr>
        <p:spPr>
          <a:xfrm>
            <a:off x="2971800" y="3172968"/>
            <a:ext cx="2423160" cy="32918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Clinical &amp; compliance network</a:t>
            </a:r>
            <a:endParaRPr lang="en-US" sz="950" dirty="0"/>
          </a:p>
        </p:txBody>
      </p:sp>
      <p:sp>
        <p:nvSpPr>
          <p:cNvPr id="15" name="Shape 13"/>
          <p:cNvSpPr/>
          <p:nvPr/>
        </p:nvSpPr>
        <p:spPr>
          <a:xfrm>
            <a:off x="457200" y="3758184"/>
            <a:ext cx="670560" cy="292608"/>
          </a:xfrm>
          <a:prstGeom prst="rect">
            <a:avLst/>
          </a:prstGeom>
          <a:solidFill>
            <a:srgbClr val="1B2942"/>
          </a:solidFill>
          <a:ln w="9525">
            <a:solidFill>
              <a:srgbClr val="2DD4BF"/>
            </a:solidFill>
            <a:prstDash val="solid"/>
          </a:ln>
        </p:spPr>
      </p:sp>
      <p:sp>
        <p:nvSpPr>
          <p:cNvPr id="16" name="Text 14"/>
          <p:cNvSpPr/>
          <p:nvPr/>
        </p:nvSpPr>
        <p:spPr>
          <a:xfrm>
            <a:off x="1219200" y="3739896"/>
            <a:ext cx="548640" cy="329184"/>
          </a:xfrm>
          <a:prstGeom prst="rect">
            <a:avLst/>
          </a:prstGeom>
          <a:noFill/>
          <a:ln/>
        </p:spPr>
        <p:txBody>
          <a:bodyPr wrap="square" lIns="0" tIns="0" rIns="0" bIns="0"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15%</a:t>
            </a:r>
            <a:endParaRPr lang="en-US" sz="1200" dirty="0"/>
          </a:p>
        </p:txBody>
      </p:sp>
      <p:sp>
        <p:nvSpPr>
          <p:cNvPr id="17" name="Text 15"/>
          <p:cNvSpPr/>
          <p:nvPr/>
        </p:nvSpPr>
        <p:spPr>
          <a:xfrm>
            <a:off x="2971800" y="3739896"/>
            <a:ext cx="2423160" cy="329184"/>
          </a:xfrm>
          <a:prstGeom prst="rect">
            <a:avLst/>
          </a:prstGeom>
          <a:noFill/>
          <a:ln/>
        </p:spPr>
        <p:txBody>
          <a:bodyPr wrap="square" lIns="0" tIns="0" rIns="0" bIns="0" rtlCol="0" anchor="ctr"/>
          <a:lstStyle/>
          <a:p>
            <a:pPr indent="0" marL="0">
              <a:buNone/>
            </a:pPr>
            <a:r>
              <a:rPr lang="en-US" sz="950" dirty="0">
                <a:solidFill>
                  <a:srgbClr val="8FA3BF"/>
                </a:solidFill>
                <a:latin typeface="Calibri" pitchFamily="34" charset="0"/>
                <a:ea typeface="Calibri" pitchFamily="34" charset="-122"/>
                <a:cs typeface="Calibri" pitchFamily="34" charset="-120"/>
              </a:rPr>
              <a:t>Operations &amp; runway buffer</a:t>
            </a:r>
            <a:endParaRPr lang="en-US" sz="950" dirty="0"/>
          </a:p>
        </p:txBody>
      </p:sp>
      <p:sp>
        <p:nvSpPr>
          <p:cNvPr id="18" name="Text 16"/>
          <p:cNvSpPr/>
          <p:nvPr/>
        </p:nvSpPr>
        <p:spPr>
          <a:xfrm>
            <a:off x="457200" y="4434840"/>
            <a:ext cx="5120640" cy="502920"/>
          </a:xfrm>
          <a:prstGeom prst="rect">
            <a:avLst/>
          </a:prstGeom>
          <a:noFill/>
          <a:ln/>
        </p:spPr>
        <p:txBody>
          <a:bodyPr wrap="square" lIns="0" tIns="0" rIns="0" bIns="0" rtlCol="0" anchor="t"/>
          <a:lstStyle/>
          <a:p>
            <a:pPr indent="0" marL="0">
              <a:buNone/>
            </a:pPr>
            <a:r>
              <a:rPr lang="en-US" sz="1150" b="1" dirty="0">
                <a:solidFill>
                  <a:srgbClr val="5EEAD4"/>
                </a:solidFill>
                <a:latin typeface="Calibri" pitchFamily="34" charset="0"/>
                <a:ea typeface="Calibri" pitchFamily="34" charset="-122"/>
                <a:cs typeface="Calibri" pitchFamily="34" charset="-120"/>
              </a:rPr>
              <a:t>30 days: first paid clinic  →  20 paying clinics · $200K revenue · platform v1  →  $10M seed</a:t>
            </a:r>
            <a:endParaRPr lang="en-US" sz="1150" dirty="0"/>
          </a:p>
        </p:txBody>
      </p:sp>
      <p:sp>
        <p:nvSpPr>
          <p:cNvPr id="19" name="Shape 17"/>
          <p:cNvSpPr/>
          <p:nvPr/>
        </p:nvSpPr>
        <p:spPr>
          <a:xfrm>
            <a:off x="5623560" y="1188720"/>
            <a:ext cx="3063240" cy="3611880"/>
          </a:xfrm>
          <a:prstGeom prst="rect">
            <a:avLst/>
          </a:prstGeom>
          <a:solidFill>
            <a:srgbClr val="1B2942"/>
          </a:solidFill>
          <a:ln/>
        </p:spPr>
      </p:sp>
      <p:sp>
        <p:nvSpPr>
          <p:cNvPr id="20" name="Text 18"/>
          <p:cNvSpPr/>
          <p:nvPr/>
        </p:nvSpPr>
        <p:spPr>
          <a:xfrm>
            <a:off x="5824728" y="1371600"/>
            <a:ext cx="2697480" cy="274320"/>
          </a:xfrm>
          <a:prstGeom prst="rect">
            <a:avLst/>
          </a:prstGeom>
          <a:noFill/>
          <a:ln/>
        </p:spPr>
        <p:txBody>
          <a:bodyPr wrap="square" lIns="0" tIns="0" rIns="0" bIns="0" rtlCol="0" anchor="ctr"/>
          <a:lstStyle/>
          <a:p>
            <a:pPr indent="0" marL="0">
              <a:buNone/>
            </a:pPr>
            <a:r>
              <a:rPr lang="en-US" sz="1050" b="1" spc="100" kern="0" dirty="0">
                <a:solidFill>
                  <a:srgbClr val="2DD4BF"/>
                </a:solidFill>
                <a:latin typeface="Trebuchet MS" pitchFamily="34" charset="0"/>
                <a:ea typeface="Trebuchet MS" pitchFamily="34" charset="-122"/>
                <a:cs typeface="Trebuchet MS" pitchFamily="34" charset="-120"/>
              </a:rPr>
              <a:t>OF SOFTBANK &amp; NEC-X, TODAY</a:t>
            </a:r>
            <a:endParaRPr lang="en-US" sz="1050" dirty="0"/>
          </a:p>
        </p:txBody>
      </p:sp>
      <p:sp>
        <p:nvSpPr>
          <p:cNvPr id="21" name="Text 19"/>
          <p:cNvSpPr/>
          <p:nvPr/>
        </p:nvSpPr>
        <p:spPr>
          <a:xfrm>
            <a:off x="5824728" y="1737360"/>
            <a:ext cx="2697480" cy="29260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1.  Define the bar — what must we prove in 2–3 months for you to invest?</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2.  Two or three design-partner intros from your healthcare network</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3.  One door into an RCM or payer data partner</a:t>
            </a:r>
            <a:endParaRPr lang="en-US" sz="1250" dirty="0"/>
          </a:p>
        </p:txBody>
      </p:sp>
      <p:sp>
        <p:nvSpPr>
          <p:cNvPr id="22" name="Text 20"/>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14  /  WHY NOW + TRACTION</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The window is open. Here is what we will prove next.</a:t>
            </a:r>
            <a:endParaRPr lang="en-US" sz="2400" dirty="0"/>
          </a:p>
        </p:txBody>
      </p:sp>
      <p:sp>
        <p:nvSpPr>
          <p:cNvPr id="4" name="Shape 2"/>
          <p:cNvSpPr/>
          <p:nvPr/>
        </p:nvSpPr>
        <p:spPr>
          <a:xfrm>
            <a:off x="457200" y="1234440"/>
            <a:ext cx="4023360" cy="2286000"/>
          </a:xfrm>
          <a:prstGeom prst="rect">
            <a:avLst/>
          </a:prstGeom>
          <a:solidFill>
            <a:srgbClr val="1B2942"/>
          </a:solidFill>
          <a:ln/>
        </p:spPr>
      </p:sp>
      <p:sp>
        <p:nvSpPr>
          <p:cNvPr id="5" name="Text 3"/>
          <p:cNvSpPr/>
          <p:nvPr/>
        </p:nvSpPr>
        <p:spPr>
          <a:xfrm>
            <a:off x="658368" y="1389888"/>
            <a:ext cx="3657600" cy="274320"/>
          </a:xfrm>
          <a:prstGeom prst="rect">
            <a:avLst/>
          </a:prstGeom>
          <a:noFill/>
          <a:ln/>
        </p:spPr>
        <p:txBody>
          <a:bodyPr wrap="square" lIns="0" tIns="0" rIns="0" bIns="0" rtlCol="0" anchor="ctr"/>
          <a:lstStyle/>
          <a:p>
            <a:pPr indent="0" marL="0">
              <a:buNone/>
            </a:pPr>
            <a:r>
              <a:rPr lang="en-US" sz="1050" b="1" spc="200" kern="0" dirty="0">
                <a:solidFill>
                  <a:srgbClr val="2DD4BF"/>
                </a:solidFill>
                <a:latin typeface="Trebuchet MS" pitchFamily="34" charset="0"/>
                <a:ea typeface="Trebuchet MS" pitchFamily="34" charset="-122"/>
                <a:cs typeface="Trebuchet MS" pitchFamily="34" charset="-120"/>
              </a:rPr>
              <a:t>WHY NOW</a:t>
            </a:r>
            <a:endParaRPr lang="en-US" sz="1050" dirty="0"/>
          </a:p>
        </p:txBody>
      </p:sp>
      <p:sp>
        <p:nvSpPr>
          <p:cNvPr id="6" name="Text 4"/>
          <p:cNvSpPr/>
          <p:nvPr/>
        </p:nvSpPr>
        <p:spPr>
          <a:xfrm>
            <a:off x="658368" y="1719072"/>
            <a:ext cx="365760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CMS interoperability mandate: EHR data by right — integration cost collapsing</a:t>
            </a:r>
            <a:endParaRPr lang="en-US" sz="1050" dirty="0"/>
          </a:p>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AI inflection: a financial brain for 1,000 clinics is now a seed-stage build</a:t>
            </a:r>
            <a:endParaRPr lang="en-US" sz="1050" dirty="0"/>
          </a:p>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The conviction cohort grows (DPC +10–15%/yr) while incumbents chase established multi-year practices — the first year is ours</a:t>
            </a:r>
            <a:endParaRPr lang="en-US" sz="1050" dirty="0"/>
          </a:p>
        </p:txBody>
      </p:sp>
      <p:sp>
        <p:nvSpPr>
          <p:cNvPr id="7" name="Shape 5"/>
          <p:cNvSpPr/>
          <p:nvPr/>
        </p:nvSpPr>
        <p:spPr>
          <a:xfrm>
            <a:off x="4663440" y="1234440"/>
            <a:ext cx="4023360" cy="2286000"/>
          </a:xfrm>
          <a:prstGeom prst="rect">
            <a:avLst/>
          </a:prstGeom>
          <a:solidFill>
            <a:srgbClr val="1B2942"/>
          </a:solidFill>
          <a:ln/>
        </p:spPr>
      </p:sp>
      <p:sp>
        <p:nvSpPr>
          <p:cNvPr id="8" name="Text 6"/>
          <p:cNvSpPr/>
          <p:nvPr/>
        </p:nvSpPr>
        <p:spPr>
          <a:xfrm>
            <a:off x="4864608" y="1389888"/>
            <a:ext cx="3657600" cy="274320"/>
          </a:xfrm>
          <a:prstGeom prst="rect">
            <a:avLst/>
          </a:prstGeom>
          <a:noFill/>
          <a:ln/>
        </p:spPr>
        <p:txBody>
          <a:bodyPr wrap="square" lIns="0" tIns="0" rIns="0" bIns="0" rtlCol="0" anchor="ctr"/>
          <a:lstStyle/>
          <a:p>
            <a:pPr indent="0" marL="0">
              <a:buNone/>
            </a:pPr>
            <a:r>
              <a:rPr lang="en-US" sz="1050" b="1" spc="100" kern="0" dirty="0">
                <a:solidFill>
                  <a:srgbClr val="2DD4BF"/>
                </a:solidFill>
                <a:latin typeface="Trebuchet MS" pitchFamily="34" charset="0"/>
                <a:ea typeface="Trebuchet MS" pitchFamily="34" charset="-122"/>
                <a:cs typeface="Trebuchet MS" pitchFamily="34" charset="-120"/>
              </a:rPr>
              <a:t>TRACTION — STATED HONESTLY</a:t>
            </a:r>
            <a:endParaRPr lang="en-US" sz="1050" dirty="0"/>
          </a:p>
        </p:txBody>
      </p:sp>
      <p:sp>
        <p:nvSpPr>
          <p:cNvPr id="9" name="Text 7"/>
          <p:cNvSpPr/>
          <p:nvPr/>
        </p:nvSpPr>
        <p:spPr>
          <a:xfrm>
            <a:off x="4864608" y="1719072"/>
            <a:ext cx="3657600" cy="169164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7 discovery sessions · 5 physicians · 2 countries · 5 specialties</a:t>
            </a:r>
            <a:endParaRPr lang="en-US" sz="1050" dirty="0"/>
          </a:p>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First paid PoC commitment confirmed; first arm's-length close targeted inside 30 days</a:t>
            </a:r>
            <a:endParaRPr lang="en-US" sz="1050" dirty="0"/>
          </a:p>
          <a:p>
            <a:pPr marL="342900" indent="-342900">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WTP on record ($1K / $10K) · working prototypes · live warm pipeline</a:t>
            </a:r>
            <a:endParaRPr lang="en-US" sz="1050" dirty="0"/>
          </a:p>
        </p:txBody>
      </p:sp>
      <p:sp>
        <p:nvSpPr>
          <p:cNvPr id="10" name="Text 8"/>
          <p:cNvSpPr/>
          <p:nvPr/>
        </p:nvSpPr>
        <p:spPr>
          <a:xfrm>
            <a:off x="640080" y="3749040"/>
            <a:ext cx="7863840" cy="457200"/>
          </a:xfrm>
          <a:prstGeom prst="rect">
            <a:avLst/>
          </a:prstGeom>
          <a:noFill/>
          <a:ln/>
        </p:spPr>
        <p:txBody>
          <a:bodyPr wrap="square" lIns="0" tIns="0" rIns="0" bIns="0" rtlCol="0" anchor="ctr"/>
          <a:lstStyle/>
          <a:p>
            <a:pPr algn="ctr" indent="0" marL="0">
              <a:buNone/>
            </a:pPr>
            <a:r>
              <a:rPr lang="en-US" sz="1600" i="1" dirty="0">
                <a:solidFill>
                  <a:srgbClr val="FFFFFF"/>
                </a:solidFill>
                <a:latin typeface="Calibri" pitchFamily="34" charset="0"/>
                <a:ea typeface="Calibri" pitchFamily="34" charset="-122"/>
                <a:cs typeface="Calibri" pitchFamily="34" charset="-120"/>
              </a:rPr>
              <a:t>“If I spend a day in the ICU vs. the clinic, I don't know where I am financially.”</a:t>
            </a:r>
            <a:endParaRPr lang="en-US" sz="1600" dirty="0"/>
          </a:p>
        </p:txBody>
      </p:sp>
      <p:sp>
        <p:nvSpPr>
          <p:cNvPr id="11" name="Text 9"/>
          <p:cNvSpPr/>
          <p:nvPr/>
        </p:nvSpPr>
        <p:spPr>
          <a:xfrm>
            <a:off x="640080" y="4224528"/>
            <a:ext cx="7863840" cy="274320"/>
          </a:xfrm>
          <a:prstGeom prst="rect">
            <a:avLst/>
          </a:prstGeom>
          <a:noFill/>
          <a:ln/>
        </p:spPr>
        <p:txBody>
          <a:bodyPr wrap="square" lIns="0" tIns="0" rIns="0" bIns="0" rtlCol="0" anchor="ctr"/>
          <a:lstStyle/>
          <a:p>
            <a:pPr algn="ctr" indent="0" marL="0">
              <a:buNone/>
            </a:pPr>
            <a:r>
              <a:rPr lang="en-US" sz="1050" dirty="0">
                <a:solidFill>
                  <a:srgbClr val="8FA3BF"/>
                </a:solidFill>
                <a:latin typeface="Calibri" pitchFamily="34" charset="0"/>
                <a:ea typeface="Calibri" pitchFamily="34" charset="-122"/>
                <a:cs typeface="Calibri" pitchFamily="34" charset="-120"/>
              </a:rPr>
              <a:t>ICU surgeon and practice owner — interview on record, May 2026</a:t>
            </a:r>
            <a:endParaRPr lang="en-US" sz="1050" dirty="0"/>
          </a:p>
        </p:txBody>
      </p:sp>
      <p:sp>
        <p:nvSpPr>
          <p:cNvPr id="12" name="Text 10"/>
          <p:cNvSpPr/>
          <p:nvPr/>
        </p:nvSpPr>
        <p:spPr>
          <a:xfrm>
            <a:off x="640080" y="4617720"/>
            <a:ext cx="7863840" cy="320040"/>
          </a:xfrm>
          <a:prstGeom prst="rect">
            <a:avLst/>
          </a:prstGeom>
          <a:noFill/>
          <a:ln/>
        </p:spPr>
        <p:txBody>
          <a:bodyPr wrap="square" lIns="0" tIns="0" rIns="0" bIns="0" rtlCol="0" anchor="ctr"/>
          <a:lstStyle/>
          <a:p>
            <a:pPr algn="ctr" indent="0" marL="0">
              <a:buNone/>
            </a:pPr>
            <a:r>
              <a:rPr lang="en-US" sz="1200" b="1" dirty="0">
                <a:solidFill>
                  <a:srgbClr val="2DD4BF"/>
                </a:solidFill>
                <a:latin typeface="Trebuchet MS" pitchFamily="34" charset="0"/>
                <a:ea typeface="Trebuchet MS" pitchFamily="34" charset="-122"/>
                <a:cs typeface="Trebuchet MS" pitchFamily="34" charset="-120"/>
              </a:rPr>
              <a:t>Put doctors back in the driver's seat of their own financial future.</a:t>
            </a:r>
            <a:endParaRPr lang="en-US" sz="1200" dirty="0"/>
          </a:p>
        </p:txBody>
      </p:sp>
      <p:sp>
        <p:nvSpPr>
          <p:cNvPr id="13" name="Text 11"/>
          <p:cNvSpPr/>
          <p:nvPr/>
        </p:nvSpPr>
        <p:spPr>
          <a:xfrm>
            <a:off x="8549640" y="4846320"/>
            <a:ext cx="411480" cy="228600"/>
          </a:xfrm>
          <a:prstGeom prst="rect">
            <a:avLst/>
          </a:prstGeom>
          <a:noFill/>
          <a:ln/>
        </p:spPr>
        <p:txBody>
          <a:bodyPr wrap="square" lIns="0" tIns="0" rIns="0" bIns="0" rtlCol="0" anchor="ctr"/>
          <a:lstStyle/>
          <a:p>
            <a:pPr algn="r" indent="0" marL="0">
              <a:buNone/>
            </a:pPr>
            <a:r>
              <a:rPr lang="en-US" sz="900" dirty="0">
                <a:solidFill>
                  <a:srgbClr val="8FA3BF"/>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274320"/>
            <a:ext cx="6858000" cy="274320"/>
          </a:xfrm>
          <a:prstGeom prst="rect">
            <a:avLst/>
          </a:prstGeom>
          <a:noFill/>
          <a:ln/>
        </p:spPr>
        <p:txBody>
          <a:bodyPr wrap="square" lIns="0" tIns="0" rIns="0" bIns="0" rtlCol="0" anchor="ctr"/>
          <a:lstStyle/>
          <a:p>
            <a:pPr indent="0" marL="0">
              <a:buNone/>
            </a:pPr>
            <a:r>
              <a:rPr lang="en-US" sz="1000" b="1" spc="300" kern="0" dirty="0">
                <a:solidFill>
                  <a:srgbClr val="2DD4BF"/>
                </a:solidFill>
                <a:latin typeface="Trebuchet MS" pitchFamily="34" charset="0"/>
                <a:ea typeface="Trebuchet MS" pitchFamily="34" charset="-122"/>
                <a:cs typeface="Trebuchet MS" pitchFamily="34" charset="-120"/>
              </a:rPr>
              <a:t>APPENDIX  /  COMPETITIVE LANDSCAPE</a:t>
            </a:r>
            <a:endParaRPr lang="en-US" sz="1000" dirty="0"/>
          </a:p>
        </p:txBody>
      </p:sp>
      <p:sp>
        <p:nvSpPr>
          <p:cNvPr id="3" name="Text 1"/>
          <p:cNvSpPr/>
          <p:nvPr/>
        </p:nvSpPr>
        <p:spPr>
          <a:xfrm>
            <a:off x="457200" y="566928"/>
            <a:ext cx="8229600" cy="502920"/>
          </a:xfrm>
          <a:prstGeom prst="rect">
            <a:avLst/>
          </a:prstGeom>
          <a:noFill/>
          <a:ln/>
        </p:spPr>
        <p:txBody>
          <a:bodyPr wrap="square" lIns="0" tIns="0" rIns="0" bIns="0"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We own the rows that matter. Incumbents own the past.</a:t>
            </a:r>
            <a:endParaRPr lang="en-US" sz="2100" dirty="0"/>
          </a:p>
        </p:txBody>
      </p:sp>
      <p:sp>
        <p:nvSpPr>
          <p:cNvPr id="4" name="Shape 2"/>
          <p:cNvSpPr/>
          <p:nvPr/>
        </p:nvSpPr>
        <p:spPr>
          <a:xfrm>
            <a:off x="7479792" y="1325880"/>
            <a:ext cx="960120" cy="3108960"/>
          </a:xfrm>
          <a:prstGeom prst="rect">
            <a:avLst/>
          </a:prstGeom>
          <a:solidFill>
            <a:srgbClr val="12303A"/>
          </a:solidFill>
          <a:ln/>
        </p:spPr>
      </p:sp>
      <p:sp>
        <p:nvSpPr>
          <p:cNvPr id="5" name="Text 3"/>
          <p:cNvSpPr/>
          <p:nvPr/>
        </p:nvSpPr>
        <p:spPr>
          <a:xfrm>
            <a:off x="3200400"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Tebra</a:t>
            </a:r>
            <a:endParaRPr lang="en-US" sz="850" dirty="0"/>
          </a:p>
        </p:txBody>
      </p:sp>
      <p:sp>
        <p:nvSpPr>
          <p:cNvPr id="6" name="Text 4"/>
          <p:cNvSpPr/>
          <p:nvPr/>
        </p:nvSpPr>
        <p:spPr>
          <a:xfrm>
            <a:off x="3913632"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athena</a:t>
            </a:r>
            <a:endParaRPr lang="en-US" sz="850" dirty="0"/>
          </a:p>
        </p:txBody>
      </p:sp>
      <p:sp>
        <p:nvSpPr>
          <p:cNvPr id="7" name="Text 5"/>
          <p:cNvSpPr/>
          <p:nvPr/>
        </p:nvSpPr>
        <p:spPr>
          <a:xfrm>
            <a:off x="4626864"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Jane</a:t>
            </a:r>
            <a:endParaRPr lang="en-US" sz="850" dirty="0"/>
          </a:p>
        </p:txBody>
      </p:sp>
      <p:sp>
        <p:nvSpPr>
          <p:cNvPr id="8" name="Text 6"/>
          <p:cNvSpPr/>
          <p:nvPr/>
        </p:nvSpPr>
        <p:spPr>
          <a:xfrm>
            <a:off x="5340096"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Chiro-</a:t>
            </a:r>
            <a:endParaRPr lang="en-US" sz="850" dirty="0"/>
          </a:p>
          <a:p>
            <a:pPr algn="ctr" indent="0" marL="0">
              <a:buNone/>
            </a:pPr>
            <a:r>
              <a:rPr lang="en-US" sz="850" b="1" dirty="0">
                <a:solidFill>
                  <a:srgbClr val="8FA3BF"/>
                </a:solidFill>
                <a:latin typeface="Trebuchet MS" pitchFamily="34" charset="0"/>
                <a:ea typeface="Trebuchet MS" pitchFamily="34" charset="-122"/>
                <a:cs typeface="Trebuchet MS" pitchFamily="34" charset="-120"/>
              </a:rPr>
              <a:t>Touch</a:t>
            </a:r>
            <a:endParaRPr lang="en-US" sz="850" dirty="0"/>
          </a:p>
        </p:txBody>
      </p:sp>
      <p:sp>
        <p:nvSpPr>
          <p:cNvPr id="9" name="Text 7"/>
          <p:cNvSpPr/>
          <p:nvPr/>
        </p:nvSpPr>
        <p:spPr>
          <a:xfrm>
            <a:off x="6053328"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Meroka</a:t>
            </a:r>
            <a:endParaRPr lang="en-US" sz="850" dirty="0"/>
          </a:p>
        </p:txBody>
      </p:sp>
      <p:sp>
        <p:nvSpPr>
          <p:cNvPr id="10" name="Text 8"/>
          <p:cNvSpPr/>
          <p:nvPr/>
        </p:nvSpPr>
        <p:spPr>
          <a:xfrm>
            <a:off x="6766560" y="1325880"/>
            <a:ext cx="713232" cy="457200"/>
          </a:xfrm>
          <a:prstGeom prst="rect">
            <a:avLst/>
          </a:prstGeom>
          <a:noFill/>
          <a:ln/>
        </p:spPr>
        <p:txBody>
          <a:bodyPr wrap="square" lIns="0" tIns="0" rIns="0" bIns="0" rtlCol="0" anchor="ctr"/>
          <a:lstStyle/>
          <a:p>
            <a:pPr algn="ctr" indent="0" marL="0">
              <a:buNone/>
            </a:pPr>
            <a:r>
              <a:rPr lang="en-US" sz="850" b="1" dirty="0">
                <a:solidFill>
                  <a:srgbClr val="8FA3BF"/>
                </a:solidFill>
                <a:latin typeface="Trebuchet MS" pitchFamily="34" charset="0"/>
                <a:ea typeface="Trebuchet MS" pitchFamily="34" charset="-122"/>
                <a:cs typeface="Trebuchet MS" pitchFamily="34" charset="-120"/>
              </a:rPr>
              <a:t>Status</a:t>
            </a:r>
            <a:endParaRPr lang="en-US" sz="850" dirty="0"/>
          </a:p>
          <a:p>
            <a:pPr algn="ctr" indent="0" marL="0">
              <a:buNone/>
            </a:pPr>
            <a:r>
              <a:rPr lang="en-US" sz="850" b="1" dirty="0">
                <a:solidFill>
                  <a:srgbClr val="8FA3BF"/>
                </a:solidFill>
                <a:latin typeface="Trebuchet MS" pitchFamily="34" charset="0"/>
                <a:ea typeface="Trebuchet MS" pitchFamily="34" charset="-122"/>
                <a:cs typeface="Trebuchet MS" pitchFamily="34" charset="-120"/>
              </a:rPr>
              <a:t>quo</a:t>
            </a:r>
            <a:endParaRPr lang="en-US" sz="850" dirty="0"/>
          </a:p>
        </p:txBody>
      </p:sp>
      <p:sp>
        <p:nvSpPr>
          <p:cNvPr id="11" name="Text 9"/>
          <p:cNvSpPr/>
          <p:nvPr/>
        </p:nvSpPr>
        <p:spPr>
          <a:xfrm>
            <a:off x="7479792" y="1325880"/>
            <a:ext cx="960120" cy="457200"/>
          </a:xfrm>
          <a:prstGeom prst="rect">
            <a:avLst/>
          </a:prstGeom>
          <a:noFill/>
          <a:ln/>
        </p:spPr>
        <p:txBody>
          <a:bodyPr wrap="square" lIns="0" tIns="0" rIns="0" bIns="0" rtlCol="0" anchor="ctr"/>
          <a:lstStyle/>
          <a:p>
            <a:pPr algn="ctr" indent="0" marL="0">
              <a:buNone/>
            </a:pPr>
            <a:r>
              <a:rPr lang="en-US" sz="1000" b="1" dirty="0">
                <a:solidFill>
                  <a:srgbClr val="2DD4BF"/>
                </a:solidFill>
                <a:latin typeface="Trebuchet MS" pitchFamily="34" charset="0"/>
                <a:ea typeface="Trebuchet MS" pitchFamily="34" charset="-122"/>
                <a:cs typeface="Trebuchet MS" pitchFamily="34" charset="-120"/>
              </a:rPr>
              <a:t>Physician</a:t>
            </a:r>
            <a:endParaRPr lang="en-US" sz="1000" dirty="0"/>
          </a:p>
          <a:p>
            <a:pPr algn="ctr" indent="0" marL="0">
              <a:buNone/>
            </a:pPr>
            <a:r>
              <a:rPr lang="en-US" sz="1000" b="1" dirty="0">
                <a:solidFill>
                  <a:srgbClr val="2DD4BF"/>
                </a:solidFill>
                <a:latin typeface="Trebuchet MS" pitchFamily="34" charset="0"/>
                <a:ea typeface="Trebuchet MS" pitchFamily="34" charset="-122"/>
                <a:cs typeface="Trebuchet MS" pitchFamily="34" charset="-120"/>
              </a:rPr>
              <a:t>Labs</a:t>
            </a:r>
            <a:endParaRPr lang="en-US" sz="1000" dirty="0"/>
          </a:p>
        </p:txBody>
      </p:sp>
      <p:sp>
        <p:nvSpPr>
          <p:cNvPr id="12" name="Text 10"/>
          <p:cNvSpPr/>
          <p:nvPr/>
        </p:nvSpPr>
        <p:spPr>
          <a:xfrm>
            <a:off x="521208" y="1783080"/>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AI-native forward-looking financial intelligence</a:t>
            </a:r>
            <a:endParaRPr lang="en-US" sz="1000" dirty="0"/>
          </a:p>
        </p:txBody>
      </p:sp>
      <p:sp>
        <p:nvSpPr>
          <p:cNvPr id="13" name="Text 11"/>
          <p:cNvSpPr/>
          <p:nvPr/>
        </p:nvSpPr>
        <p:spPr>
          <a:xfrm>
            <a:off x="3200400" y="1783080"/>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14" name="Text 12"/>
          <p:cNvSpPr/>
          <p:nvPr/>
        </p:nvSpPr>
        <p:spPr>
          <a:xfrm>
            <a:off x="3913632" y="1783080"/>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15" name="Text 13"/>
          <p:cNvSpPr/>
          <p:nvPr/>
        </p:nvSpPr>
        <p:spPr>
          <a:xfrm>
            <a:off x="4626864" y="1783080"/>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16" name="Text 14"/>
          <p:cNvSpPr/>
          <p:nvPr/>
        </p:nvSpPr>
        <p:spPr>
          <a:xfrm>
            <a:off x="5340096" y="1783080"/>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17" name="Text 15"/>
          <p:cNvSpPr/>
          <p:nvPr/>
        </p:nvSpPr>
        <p:spPr>
          <a:xfrm>
            <a:off x="6053328" y="1783080"/>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18" name="Text 16"/>
          <p:cNvSpPr/>
          <p:nvPr/>
        </p:nvSpPr>
        <p:spPr>
          <a:xfrm>
            <a:off x="6766560" y="1783080"/>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19" name="Text 17"/>
          <p:cNvSpPr/>
          <p:nvPr/>
        </p:nvSpPr>
        <p:spPr>
          <a:xfrm>
            <a:off x="7479792" y="1783080"/>
            <a:ext cx="960120" cy="530352"/>
          </a:xfrm>
          <a:prstGeom prst="rect">
            <a:avLst/>
          </a:prstGeom>
          <a:noFill/>
          <a:ln/>
        </p:spPr>
        <p:txBody>
          <a:bodyPr wrap="square" lIns="0" tIns="0" rIns="0" bIns="0" rtlCol="0" anchor="ctr"/>
          <a:lstStyle/>
          <a:p>
            <a:pPr algn="ctr" indent="0" marL="0">
              <a:buNone/>
            </a:pPr>
            <a:r>
              <a:rPr lang="en-US" sz="1500" b="1" dirty="0">
                <a:solidFill>
                  <a:srgbClr val="5EEAD4"/>
                </a:solidFill>
                <a:latin typeface="Trebuchet MS" pitchFamily="34" charset="0"/>
                <a:ea typeface="Trebuchet MS" pitchFamily="34" charset="-122"/>
                <a:cs typeface="Trebuchet MS" pitchFamily="34" charset="-120"/>
              </a:rPr>
              <a:t>✓</a:t>
            </a:r>
            <a:endParaRPr lang="en-US" sz="1500" dirty="0"/>
          </a:p>
        </p:txBody>
      </p:sp>
      <p:sp>
        <p:nvSpPr>
          <p:cNvPr id="20" name="Shape 18"/>
          <p:cNvSpPr/>
          <p:nvPr/>
        </p:nvSpPr>
        <p:spPr>
          <a:xfrm>
            <a:off x="411480" y="2313432"/>
            <a:ext cx="7068312" cy="530352"/>
          </a:xfrm>
          <a:prstGeom prst="rect">
            <a:avLst/>
          </a:prstGeom>
          <a:solidFill>
            <a:srgbClr val="16213A"/>
          </a:solidFill>
          <a:ln/>
        </p:spPr>
      </p:sp>
      <p:sp>
        <p:nvSpPr>
          <p:cNvPr id="21" name="Text 19"/>
          <p:cNvSpPr/>
          <p:nvPr/>
        </p:nvSpPr>
        <p:spPr>
          <a:xfrm>
            <a:off x="521208" y="2313432"/>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No migration (layers on existing tools)</a:t>
            </a:r>
            <a:endParaRPr lang="en-US" sz="1000" dirty="0"/>
          </a:p>
        </p:txBody>
      </p:sp>
      <p:sp>
        <p:nvSpPr>
          <p:cNvPr id="22" name="Text 20"/>
          <p:cNvSpPr/>
          <p:nvPr/>
        </p:nvSpPr>
        <p:spPr>
          <a:xfrm>
            <a:off x="3200400"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3" name="Text 21"/>
          <p:cNvSpPr/>
          <p:nvPr/>
        </p:nvSpPr>
        <p:spPr>
          <a:xfrm>
            <a:off x="3913632"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4" name="Text 22"/>
          <p:cNvSpPr/>
          <p:nvPr/>
        </p:nvSpPr>
        <p:spPr>
          <a:xfrm>
            <a:off x="4626864"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5" name="Text 23"/>
          <p:cNvSpPr/>
          <p:nvPr/>
        </p:nvSpPr>
        <p:spPr>
          <a:xfrm>
            <a:off x="5340096"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6" name="Text 24"/>
          <p:cNvSpPr/>
          <p:nvPr/>
        </p:nvSpPr>
        <p:spPr>
          <a:xfrm>
            <a:off x="6053328" y="2313432"/>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27" name="Text 25"/>
          <p:cNvSpPr/>
          <p:nvPr/>
        </p:nvSpPr>
        <p:spPr>
          <a:xfrm>
            <a:off x="6766560" y="2313432"/>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28" name="Text 26"/>
          <p:cNvSpPr/>
          <p:nvPr/>
        </p:nvSpPr>
        <p:spPr>
          <a:xfrm>
            <a:off x="7479792" y="2313432"/>
            <a:ext cx="960120" cy="530352"/>
          </a:xfrm>
          <a:prstGeom prst="rect">
            <a:avLst/>
          </a:prstGeom>
          <a:noFill/>
          <a:ln/>
        </p:spPr>
        <p:txBody>
          <a:bodyPr wrap="square" lIns="0" tIns="0" rIns="0" bIns="0" rtlCol="0" anchor="ctr"/>
          <a:lstStyle/>
          <a:p>
            <a:pPr algn="ctr" indent="0" marL="0">
              <a:buNone/>
            </a:pPr>
            <a:r>
              <a:rPr lang="en-US" sz="1500" b="1" dirty="0">
                <a:solidFill>
                  <a:srgbClr val="5EEAD4"/>
                </a:solidFill>
                <a:latin typeface="Trebuchet MS" pitchFamily="34" charset="0"/>
                <a:ea typeface="Trebuchet MS" pitchFamily="34" charset="-122"/>
                <a:cs typeface="Trebuchet MS" pitchFamily="34" charset="-120"/>
              </a:rPr>
              <a:t>✓</a:t>
            </a:r>
            <a:endParaRPr lang="en-US" sz="1500" dirty="0"/>
          </a:p>
        </p:txBody>
      </p:sp>
      <p:sp>
        <p:nvSpPr>
          <p:cNvPr id="29" name="Text 27"/>
          <p:cNvSpPr/>
          <p:nvPr/>
        </p:nvSpPr>
        <p:spPr>
          <a:xfrm>
            <a:off x="521208" y="2843784"/>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Built for the just-launched / first-year clinic</a:t>
            </a:r>
            <a:endParaRPr lang="en-US" sz="1000" dirty="0"/>
          </a:p>
        </p:txBody>
      </p:sp>
      <p:sp>
        <p:nvSpPr>
          <p:cNvPr id="30" name="Text 28"/>
          <p:cNvSpPr/>
          <p:nvPr/>
        </p:nvSpPr>
        <p:spPr>
          <a:xfrm>
            <a:off x="3200400"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1" name="Text 29"/>
          <p:cNvSpPr/>
          <p:nvPr/>
        </p:nvSpPr>
        <p:spPr>
          <a:xfrm>
            <a:off x="3913632"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2" name="Text 30"/>
          <p:cNvSpPr/>
          <p:nvPr/>
        </p:nvSpPr>
        <p:spPr>
          <a:xfrm>
            <a:off x="4626864"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3" name="Text 31"/>
          <p:cNvSpPr/>
          <p:nvPr/>
        </p:nvSpPr>
        <p:spPr>
          <a:xfrm>
            <a:off x="5340096"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4" name="Text 32"/>
          <p:cNvSpPr/>
          <p:nvPr/>
        </p:nvSpPr>
        <p:spPr>
          <a:xfrm>
            <a:off x="6053328" y="2843784"/>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35" name="Text 33"/>
          <p:cNvSpPr/>
          <p:nvPr/>
        </p:nvSpPr>
        <p:spPr>
          <a:xfrm>
            <a:off x="6766560" y="2843784"/>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36" name="Text 34"/>
          <p:cNvSpPr/>
          <p:nvPr/>
        </p:nvSpPr>
        <p:spPr>
          <a:xfrm>
            <a:off x="7479792" y="2843784"/>
            <a:ext cx="960120" cy="530352"/>
          </a:xfrm>
          <a:prstGeom prst="rect">
            <a:avLst/>
          </a:prstGeom>
          <a:noFill/>
          <a:ln/>
        </p:spPr>
        <p:txBody>
          <a:bodyPr wrap="square" lIns="0" tIns="0" rIns="0" bIns="0" rtlCol="0" anchor="ctr"/>
          <a:lstStyle/>
          <a:p>
            <a:pPr algn="ctr" indent="0" marL="0">
              <a:buNone/>
            </a:pPr>
            <a:r>
              <a:rPr lang="en-US" sz="1500" b="1" dirty="0">
                <a:solidFill>
                  <a:srgbClr val="5EEAD4"/>
                </a:solidFill>
                <a:latin typeface="Trebuchet MS" pitchFamily="34" charset="0"/>
                <a:ea typeface="Trebuchet MS" pitchFamily="34" charset="-122"/>
                <a:cs typeface="Trebuchet MS" pitchFamily="34" charset="-120"/>
              </a:rPr>
              <a:t>✓</a:t>
            </a:r>
            <a:endParaRPr lang="en-US" sz="1500" dirty="0"/>
          </a:p>
        </p:txBody>
      </p:sp>
      <p:sp>
        <p:nvSpPr>
          <p:cNvPr id="37" name="Shape 35"/>
          <p:cNvSpPr/>
          <p:nvPr/>
        </p:nvSpPr>
        <p:spPr>
          <a:xfrm>
            <a:off x="411480" y="3374136"/>
            <a:ext cx="7068312" cy="530352"/>
          </a:xfrm>
          <a:prstGeom prst="rect">
            <a:avLst/>
          </a:prstGeom>
          <a:solidFill>
            <a:srgbClr val="16213A"/>
          </a:solidFill>
          <a:ln/>
        </p:spPr>
      </p:sp>
      <p:sp>
        <p:nvSpPr>
          <p:cNvPr id="38" name="Text 36"/>
          <p:cNvSpPr/>
          <p:nvPr/>
        </p:nvSpPr>
        <p:spPr>
          <a:xfrm>
            <a:off x="521208" y="3374136"/>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Quantified, fast ROI (in dollars)</a:t>
            </a:r>
            <a:endParaRPr lang="en-US" sz="1000" dirty="0"/>
          </a:p>
        </p:txBody>
      </p:sp>
      <p:sp>
        <p:nvSpPr>
          <p:cNvPr id="39" name="Text 37"/>
          <p:cNvSpPr/>
          <p:nvPr/>
        </p:nvSpPr>
        <p:spPr>
          <a:xfrm>
            <a:off x="3200400"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0" name="Text 38"/>
          <p:cNvSpPr/>
          <p:nvPr/>
        </p:nvSpPr>
        <p:spPr>
          <a:xfrm>
            <a:off x="3913632" y="3374136"/>
            <a:ext cx="713232"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41" name="Text 39"/>
          <p:cNvSpPr/>
          <p:nvPr/>
        </p:nvSpPr>
        <p:spPr>
          <a:xfrm>
            <a:off x="4626864"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2" name="Text 40"/>
          <p:cNvSpPr/>
          <p:nvPr/>
        </p:nvSpPr>
        <p:spPr>
          <a:xfrm>
            <a:off x="5340096"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3" name="Text 41"/>
          <p:cNvSpPr/>
          <p:nvPr/>
        </p:nvSpPr>
        <p:spPr>
          <a:xfrm>
            <a:off x="6053328"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4" name="Text 42"/>
          <p:cNvSpPr/>
          <p:nvPr/>
        </p:nvSpPr>
        <p:spPr>
          <a:xfrm>
            <a:off x="6766560" y="3374136"/>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45" name="Text 43"/>
          <p:cNvSpPr/>
          <p:nvPr/>
        </p:nvSpPr>
        <p:spPr>
          <a:xfrm>
            <a:off x="7479792" y="3374136"/>
            <a:ext cx="960120" cy="530352"/>
          </a:xfrm>
          <a:prstGeom prst="rect">
            <a:avLst/>
          </a:prstGeom>
          <a:noFill/>
          <a:ln/>
        </p:spPr>
        <p:txBody>
          <a:bodyPr wrap="square" lIns="0" tIns="0" rIns="0" bIns="0" rtlCol="0" anchor="ctr"/>
          <a:lstStyle/>
          <a:p>
            <a:pPr algn="ctr" indent="0" marL="0">
              <a:buNone/>
            </a:pPr>
            <a:r>
              <a:rPr lang="en-US" sz="1500" b="1" dirty="0">
                <a:solidFill>
                  <a:srgbClr val="5EEAD4"/>
                </a:solidFill>
                <a:latin typeface="Trebuchet MS" pitchFamily="34" charset="0"/>
                <a:ea typeface="Trebuchet MS" pitchFamily="34" charset="-122"/>
                <a:cs typeface="Trebuchet MS" pitchFamily="34" charset="-120"/>
              </a:rPr>
              <a:t>✓</a:t>
            </a:r>
            <a:endParaRPr lang="en-US" sz="1500" dirty="0"/>
          </a:p>
        </p:txBody>
      </p:sp>
      <p:sp>
        <p:nvSpPr>
          <p:cNvPr id="46" name="Text 44"/>
          <p:cNvSpPr/>
          <p:nvPr/>
        </p:nvSpPr>
        <p:spPr>
          <a:xfrm>
            <a:off x="521208" y="3904488"/>
            <a:ext cx="2606040" cy="5303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Installed base / specialty depth</a:t>
            </a:r>
            <a:endParaRPr lang="en-US" sz="1000" dirty="0"/>
          </a:p>
        </p:txBody>
      </p:sp>
      <p:sp>
        <p:nvSpPr>
          <p:cNvPr id="47" name="Text 45"/>
          <p:cNvSpPr/>
          <p:nvPr/>
        </p:nvSpPr>
        <p:spPr>
          <a:xfrm>
            <a:off x="3200400" y="3904488"/>
            <a:ext cx="713232" cy="530352"/>
          </a:xfrm>
          <a:prstGeom prst="rect">
            <a:avLst/>
          </a:prstGeom>
          <a:noFill/>
          <a:ln/>
        </p:spPr>
        <p:txBody>
          <a:bodyPr wrap="square" lIns="0" tIns="0" rIns="0" bIns="0" rtlCol="0" anchor="ctr"/>
          <a:lstStyle/>
          <a:p>
            <a:pPr algn="ctr" indent="0" marL="0">
              <a:buNone/>
            </a:pPr>
            <a:r>
              <a:rPr lang="en-US" sz="1500" b="1" dirty="0">
                <a:solidFill>
                  <a:srgbClr val="2DD4BF"/>
                </a:solidFill>
                <a:latin typeface="Trebuchet MS" pitchFamily="34" charset="0"/>
                <a:ea typeface="Trebuchet MS" pitchFamily="34" charset="-122"/>
                <a:cs typeface="Trebuchet MS" pitchFamily="34" charset="-120"/>
              </a:rPr>
              <a:t>✓</a:t>
            </a:r>
            <a:endParaRPr lang="en-US" sz="1500" dirty="0"/>
          </a:p>
        </p:txBody>
      </p:sp>
      <p:sp>
        <p:nvSpPr>
          <p:cNvPr id="48" name="Text 46"/>
          <p:cNvSpPr/>
          <p:nvPr/>
        </p:nvSpPr>
        <p:spPr>
          <a:xfrm>
            <a:off x="3913632" y="3904488"/>
            <a:ext cx="713232" cy="530352"/>
          </a:xfrm>
          <a:prstGeom prst="rect">
            <a:avLst/>
          </a:prstGeom>
          <a:noFill/>
          <a:ln/>
        </p:spPr>
        <p:txBody>
          <a:bodyPr wrap="square" lIns="0" tIns="0" rIns="0" bIns="0" rtlCol="0" anchor="ctr"/>
          <a:lstStyle/>
          <a:p>
            <a:pPr algn="ctr" indent="0" marL="0">
              <a:buNone/>
            </a:pPr>
            <a:r>
              <a:rPr lang="en-US" sz="1500" b="1" dirty="0">
                <a:solidFill>
                  <a:srgbClr val="2DD4BF"/>
                </a:solidFill>
                <a:latin typeface="Trebuchet MS" pitchFamily="34" charset="0"/>
                <a:ea typeface="Trebuchet MS" pitchFamily="34" charset="-122"/>
                <a:cs typeface="Trebuchet MS" pitchFamily="34" charset="-120"/>
              </a:rPr>
              <a:t>✓</a:t>
            </a:r>
            <a:endParaRPr lang="en-US" sz="1500" dirty="0"/>
          </a:p>
        </p:txBody>
      </p:sp>
      <p:sp>
        <p:nvSpPr>
          <p:cNvPr id="49" name="Text 47"/>
          <p:cNvSpPr/>
          <p:nvPr/>
        </p:nvSpPr>
        <p:spPr>
          <a:xfrm>
            <a:off x="4626864" y="3904488"/>
            <a:ext cx="713232" cy="530352"/>
          </a:xfrm>
          <a:prstGeom prst="rect">
            <a:avLst/>
          </a:prstGeom>
          <a:noFill/>
          <a:ln/>
        </p:spPr>
        <p:txBody>
          <a:bodyPr wrap="square" lIns="0" tIns="0" rIns="0" bIns="0" rtlCol="0" anchor="ctr"/>
          <a:lstStyle/>
          <a:p>
            <a:pPr algn="ctr" indent="0" marL="0">
              <a:buNone/>
            </a:pPr>
            <a:r>
              <a:rPr lang="en-US" sz="1500" b="1" dirty="0">
                <a:solidFill>
                  <a:srgbClr val="2DD4BF"/>
                </a:solidFill>
                <a:latin typeface="Trebuchet MS" pitchFamily="34" charset="0"/>
                <a:ea typeface="Trebuchet MS" pitchFamily="34" charset="-122"/>
                <a:cs typeface="Trebuchet MS" pitchFamily="34" charset="-120"/>
              </a:rPr>
              <a:t>✓</a:t>
            </a:r>
            <a:endParaRPr lang="en-US" sz="1500" dirty="0"/>
          </a:p>
        </p:txBody>
      </p:sp>
      <p:sp>
        <p:nvSpPr>
          <p:cNvPr id="50" name="Text 48"/>
          <p:cNvSpPr/>
          <p:nvPr/>
        </p:nvSpPr>
        <p:spPr>
          <a:xfrm>
            <a:off x="5340096" y="3904488"/>
            <a:ext cx="713232" cy="530352"/>
          </a:xfrm>
          <a:prstGeom prst="rect">
            <a:avLst/>
          </a:prstGeom>
          <a:noFill/>
          <a:ln/>
        </p:spPr>
        <p:txBody>
          <a:bodyPr wrap="square" lIns="0" tIns="0" rIns="0" bIns="0" rtlCol="0" anchor="ctr"/>
          <a:lstStyle/>
          <a:p>
            <a:pPr algn="ctr" indent="0" marL="0">
              <a:buNone/>
            </a:pPr>
            <a:r>
              <a:rPr lang="en-US" sz="1500" b="1" dirty="0">
                <a:solidFill>
                  <a:srgbClr val="2DD4BF"/>
                </a:solidFill>
                <a:latin typeface="Trebuchet MS" pitchFamily="34" charset="0"/>
                <a:ea typeface="Trebuchet MS" pitchFamily="34" charset="-122"/>
                <a:cs typeface="Trebuchet MS" pitchFamily="34" charset="-120"/>
              </a:rPr>
              <a:t>✓</a:t>
            </a:r>
            <a:endParaRPr lang="en-US" sz="1500" dirty="0"/>
          </a:p>
        </p:txBody>
      </p:sp>
      <p:sp>
        <p:nvSpPr>
          <p:cNvPr id="51" name="Text 49"/>
          <p:cNvSpPr/>
          <p:nvPr/>
        </p:nvSpPr>
        <p:spPr>
          <a:xfrm>
            <a:off x="6053328" y="3904488"/>
            <a:ext cx="713232" cy="530352"/>
          </a:xfrm>
          <a:prstGeom prst="rect">
            <a:avLst/>
          </a:prstGeom>
          <a:noFill/>
          <a:ln/>
        </p:spPr>
        <p:txBody>
          <a:bodyPr wrap="square" lIns="0" tIns="0" rIns="0" bIns="0" rtlCol="0" anchor="ctr"/>
          <a:lstStyle/>
          <a:p>
            <a:pPr algn="ctr" indent="0" marL="0">
              <a:buNone/>
            </a:pPr>
            <a:r>
              <a:rPr lang="en-US" sz="1100" dirty="0">
                <a:solidFill>
                  <a:srgbClr val="4A5A72"/>
                </a:solidFill>
                <a:latin typeface="Trebuchet MS" pitchFamily="34" charset="0"/>
                <a:ea typeface="Trebuchet MS" pitchFamily="34" charset="-122"/>
                <a:cs typeface="Trebuchet MS" pitchFamily="34" charset="-120"/>
              </a:rPr>
              <a:t>✕</a:t>
            </a:r>
            <a:endParaRPr lang="en-US" sz="1100" dirty="0"/>
          </a:p>
        </p:txBody>
      </p:sp>
      <p:sp>
        <p:nvSpPr>
          <p:cNvPr id="52" name="Text 50"/>
          <p:cNvSpPr/>
          <p:nvPr/>
        </p:nvSpPr>
        <p:spPr>
          <a:xfrm>
            <a:off x="6766560" y="3904488"/>
            <a:ext cx="713232" cy="530352"/>
          </a:xfrm>
          <a:prstGeom prst="rect">
            <a:avLst/>
          </a:prstGeom>
          <a:noFill/>
          <a:ln/>
        </p:spPr>
        <p:txBody>
          <a:bodyPr wrap="square" lIns="0" tIns="0" rIns="0" bIns="0" rtlCol="0" anchor="ctr"/>
          <a:lstStyle/>
          <a:p>
            <a:pPr algn="ctr" indent="0" marL="0">
              <a:buNone/>
            </a:pPr>
            <a:r>
              <a:rPr lang="en-US" sz="1400" dirty="0">
                <a:solidFill>
                  <a:srgbClr val="4A5A72"/>
                </a:solidFill>
                <a:latin typeface="Trebuchet MS" pitchFamily="34" charset="0"/>
                <a:ea typeface="Trebuchet MS" pitchFamily="34" charset="-122"/>
                <a:cs typeface="Trebuchet MS" pitchFamily="34" charset="-120"/>
              </a:rPr>
              <a:t>·</a:t>
            </a:r>
            <a:endParaRPr lang="en-US" sz="1400" dirty="0"/>
          </a:p>
        </p:txBody>
      </p:sp>
      <p:sp>
        <p:nvSpPr>
          <p:cNvPr id="53" name="Text 51"/>
          <p:cNvSpPr/>
          <p:nvPr/>
        </p:nvSpPr>
        <p:spPr>
          <a:xfrm>
            <a:off x="7479792" y="3904488"/>
            <a:ext cx="960120" cy="530352"/>
          </a:xfrm>
          <a:prstGeom prst="rect">
            <a:avLst/>
          </a:prstGeom>
          <a:noFill/>
          <a:ln/>
        </p:spPr>
        <p:txBody>
          <a:bodyPr wrap="square" lIns="0" tIns="0" rIns="0" bIns="0" rtlCol="0" anchor="ctr"/>
          <a:lstStyle/>
          <a:p>
            <a:pPr algn="ctr" indent="0" marL="0">
              <a:buNone/>
            </a:pPr>
            <a:r>
              <a:rPr lang="en-US" sz="1400" b="1" dirty="0">
                <a:solidFill>
                  <a:srgbClr val="FBBF24"/>
                </a:solidFill>
                <a:latin typeface="Trebuchet MS" pitchFamily="34" charset="0"/>
                <a:ea typeface="Trebuchet MS" pitchFamily="34" charset="-122"/>
                <a:cs typeface="Trebuchet MS" pitchFamily="34" charset="-120"/>
              </a:rPr>
              <a:t>~</a:t>
            </a:r>
            <a:endParaRPr lang="en-US" sz="1400" dirty="0"/>
          </a:p>
        </p:txBody>
      </p:sp>
      <p:sp>
        <p:nvSpPr>
          <p:cNvPr id="54" name="Text 52"/>
          <p:cNvSpPr/>
          <p:nvPr/>
        </p:nvSpPr>
        <p:spPr>
          <a:xfrm>
            <a:off x="521208" y="4544568"/>
            <a:ext cx="5486400" cy="274320"/>
          </a:xfrm>
          <a:prstGeom prst="rect">
            <a:avLst/>
          </a:prstGeom>
          <a:noFill/>
          <a:ln/>
        </p:spPr>
        <p:txBody>
          <a:bodyPr wrap="square" lIns="0" tIns="0" rIns="0" bIns="0" rtlCol="0" anchor="ctr"/>
          <a:lstStyle/>
          <a:p>
            <a:pPr indent="0" marL="0">
              <a:buNone/>
            </a:pPr>
            <a:r>
              <a:rPr lang="en-US" sz="900" b="1" dirty="0">
                <a:solidFill>
                  <a:srgbClr val="2DD4BF"/>
                </a:solidFill>
                <a:latin typeface="Calibri" pitchFamily="34" charset="0"/>
                <a:ea typeface="Calibri" pitchFamily="34" charset="-122"/>
                <a:cs typeface="Calibri" pitchFamily="34" charset="-120"/>
              </a:rPr>
              <a:t>✓ </a:t>
            </a:r>
            <a:pPr indent="0" marL="0">
              <a:buNone/>
            </a:pPr>
            <a:r>
              <a:rPr lang="en-US" sz="900" dirty="0">
                <a:solidFill>
                  <a:srgbClr val="8FA3BF"/>
                </a:solidFill>
                <a:latin typeface="Calibri" pitchFamily="34" charset="0"/>
                <a:ea typeface="Calibri" pitchFamily="34" charset="-122"/>
                <a:cs typeface="Calibri" pitchFamily="34" charset="-120"/>
              </a:rPr>
              <a:t>delivers    </a:t>
            </a:r>
            <a:pPr indent="0" marL="0">
              <a:buNone/>
            </a:pPr>
            <a:r>
              <a:rPr lang="en-US" sz="900" b="1" dirty="0">
                <a:solidFill>
                  <a:srgbClr val="FBBF24"/>
                </a:solidFill>
                <a:latin typeface="Calibri" pitchFamily="34" charset="0"/>
                <a:ea typeface="Calibri" pitchFamily="34" charset="-122"/>
                <a:cs typeface="Calibri" pitchFamily="34" charset="-120"/>
              </a:rPr>
              <a:t>~ </a:t>
            </a:r>
            <a:pPr indent="0" marL="0">
              <a:buNone/>
            </a:pPr>
            <a:r>
              <a:rPr lang="en-US" sz="900" dirty="0">
                <a:solidFill>
                  <a:srgbClr val="8FA3BF"/>
                </a:solidFill>
                <a:latin typeface="Calibri" pitchFamily="34" charset="0"/>
                <a:ea typeface="Calibri" pitchFamily="34" charset="-122"/>
                <a:cs typeface="Calibri" pitchFamily="34" charset="-120"/>
              </a:rPr>
              <a:t>partial    </a:t>
            </a:r>
            <a:pPr indent="0" marL="0">
              <a:buNone/>
            </a:pPr>
            <a:r>
              <a:rPr lang="en-US" sz="900" dirty="0">
                <a:solidFill>
                  <a:srgbClr val="4A5A72"/>
                </a:solidFill>
                <a:latin typeface="Calibri" pitchFamily="34" charset="0"/>
                <a:ea typeface="Calibri" pitchFamily="34" charset="-122"/>
                <a:cs typeface="Calibri" pitchFamily="34" charset="-120"/>
              </a:rPr>
              <a:t>✕ </a:t>
            </a:r>
            <a:pPr indent="0" marL="0">
              <a:buNone/>
            </a:pPr>
            <a:r>
              <a:rPr lang="en-US" sz="900" dirty="0">
                <a:solidFill>
                  <a:srgbClr val="8FA3BF"/>
                </a:solidFill>
                <a:latin typeface="Calibri" pitchFamily="34" charset="0"/>
                <a:ea typeface="Calibri" pitchFamily="34" charset="-122"/>
                <a:cs typeface="Calibri" pitchFamily="34" charset="-120"/>
              </a:rPr>
              <a:t>no</a:t>
            </a:r>
            <a:endParaRPr lang="en-US" sz="900" dirty="0"/>
          </a:p>
        </p:txBody>
      </p:sp>
      <p:sp>
        <p:nvSpPr>
          <p:cNvPr id="55" name="Text 53"/>
          <p:cNvSpPr/>
          <p:nvPr/>
        </p:nvSpPr>
        <p:spPr>
          <a:xfrm>
            <a:off x="521208" y="4846320"/>
            <a:ext cx="8229600" cy="256032"/>
          </a:xfrm>
          <a:prstGeom prst="rect">
            <a:avLst/>
          </a:prstGeom>
          <a:noFill/>
          <a:ln/>
        </p:spPr>
        <p:txBody>
          <a:bodyPr wrap="square" lIns="0" tIns="0" rIns="0" bIns="0" rtlCol="0" anchor="ctr"/>
          <a:lstStyle/>
          <a:p>
            <a:pPr indent="0" marL="0">
              <a:buNone/>
            </a:pPr>
            <a:r>
              <a:rPr lang="en-US" sz="1000" i="1" dirty="0">
                <a:solidFill>
                  <a:srgbClr val="5EEAD4"/>
                </a:solidFill>
                <a:latin typeface="Calibri" pitchFamily="34" charset="0"/>
                <a:ea typeface="Calibri" pitchFamily="34" charset="-122"/>
                <a:cs typeface="Calibri" pitchFamily="34" charset="-120"/>
              </a:rPr>
              <a:t>The bottom row is the one we don't win — yet. Their installed base is also their innovator's dilemma.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PhysicianLabs — Pre-Seed Investor Briefing</dc:title>
  <dc:subject>PptxGenJS Presentation</dc:subject>
  <dc:creator>Ash Malleck</dc:creator>
  <cp:lastModifiedBy>Ash Malleck</cp:lastModifiedBy>
  <cp:revision>1</cp:revision>
  <dcterms:created xsi:type="dcterms:W3CDTF">2026-06-17T21:26:38Z</dcterms:created>
  <dcterms:modified xsi:type="dcterms:W3CDTF">2026-06-17T21:26:38Z</dcterms:modified>
</cp:coreProperties>
</file>