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00C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  ·  ONE-SENTENCE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700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PhysicianLabs gives </a:t>
            </a:r>
            <a:pPr algn="ctr" indent="0" marL="0">
              <a:lnSpc>
                <a:spcPct val="128000"/>
              </a:lnSpc>
              <a:buNone/>
            </a:pPr>
            <a:r>
              <a:rPr lang="en-US" sz="2700" dirty="0">
                <a:solidFill>
                  <a:srgbClr val="00C7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physicians</a:t>
            </a:r>
            <a:pPr algn="ctr" indent="0" marL="0">
              <a:lnSpc>
                <a:spcPct val="128000"/>
              </a:lnSpc>
              <a:buNone/>
            </a:pPr>
            <a:r>
              <a:rPr lang="en-US" sz="2700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real-time </a:t>
            </a:r>
            <a:pPr algn="ctr" indent="0" marL="0">
              <a:lnSpc>
                <a:spcPct val="128000"/>
              </a:lnSpc>
              <a:buNone/>
            </a:pPr>
            <a:r>
              <a:rPr lang="en-US" sz="2700" dirty="0">
                <a:solidFill>
                  <a:srgbClr val="00C7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visibility on every growth decision</a:t>
            </a:r>
            <a:pPr algn="ctr" indent="0" marL="0">
              <a:lnSpc>
                <a:spcPct val="128000"/>
              </a:lnSpc>
              <a:buNone/>
            </a:pPr>
            <a:r>
              <a:rPr lang="en-US" sz="2700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so they </a:t>
            </a:r>
            <a:pPr algn="ctr" indent="0" marL="0">
              <a:lnSpc>
                <a:spcPct val="128000"/>
              </a:lnSpc>
              <a:buNone/>
            </a:pPr>
            <a:r>
              <a:rPr lang="en-US" sz="2700" dirty="0">
                <a:solidFill>
                  <a:srgbClr val="00C7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 the revenue they’re leaking</a:t>
            </a:r>
            <a:pPr algn="ctr" indent="0" marL="0">
              <a:lnSpc>
                <a:spcPct val="128000"/>
              </a:lnSpc>
              <a:buNone/>
            </a:pPr>
            <a:r>
              <a:rPr lang="en-US" sz="2700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thrive faster, without living in </a:t>
            </a:r>
            <a:pPr algn="ctr" indent="0" marL="0">
              <a:lnSpc>
                <a:spcPct val="128000"/>
              </a:lnSpc>
              <a:buNone/>
            </a:pPr>
            <a:r>
              <a:rPr lang="en-US" sz="2700" dirty="0">
                <a:solidFill>
                  <a:srgbClr val="00C7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disconnected spreadsheets</a:t>
            </a:r>
            <a:pPr algn="ctr" indent="0" marL="0">
              <a:lnSpc>
                <a:spcPct val="128000"/>
              </a:lnSpc>
              <a:buNone/>
            </a:pPr>
            <a:r>
              <a:rPr lang="en-US" sz="2700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97280" y="3886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“Put doctors back in the driver’s seat of their own financial future.”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377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GROWTH GOALS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603504"/>
            <a:ext cx="8412480" cy="10973"/>
          </a:xfrm>
          <a:prstGeom prst="rect">
            <a:avLst/>
          </a:prstGeom>
          <a:solidFill>
            <a:srgbClr val="0C3A44"/>
          </a:solidFill>
          <a:ln w="12700">
            <a:solidFill>
              <a:srgbClr val="0C3A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TO DATE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0E2036"/>
          </a:solidFill>
          <a:ln w="12700">
            <a:solidFill>
              <a:srgbClr val="134B5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design-partner physicians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88920" y="1024128"/>
            <a:ext cx="1920240" cy="329184"/>
          </a:xfrm>
          <a:prstGeom prst="roundRect">
            <a:avLst>
              <a:gd name="adj" fmla="val 25000"/>
            </a:avLst>
          </a:prstGeom>
          <a:solidFill>
            <a:srgbClr val="0E2036"/>
          </a:solidFill>
          <a:ln w="12700">
            <a:solidFill>
              <a:srgbClr val="134B5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140+ physician waitlist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0" y="1024128"/>
            <a:ext cx="2834640" cy="329184"/>
          </a:xfrm>
          <a:prstGeom prst="roundRect">
            <a:avLst>
              <a:gd name="adj" fmla="val 25000"/>
            </a:avLst>
          </a:prstGeom>
          <a:solidFill>
            <a:srgbClr val="0E2036"/>
          </a:solidFill>
          <a:ln w="12700">
            <a:solidFill>
              <a:srgbClr val="134B5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3-channel test + free Scorecard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18120" y="1024128"/>
            <a:ext cx="1005840" cy="329184"/>
          </a:xfrm>
          <a:prstGeom prst="roundRect">
            <a:avLst>
              <a:gd name="adj" fmla="val 25000"/>
            </a:avLst>
          </a:prstGeom>
          <a:solidFill>
            <a:srgbClr val="0E2036"/>
          </a:solidFill>
          <a:ln w="12700">
            <a:solidFill>
              <a:srgbClr val="2A3A4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 — Month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AMBITIOUS 6-MONTH GOAL — BY DEC 2026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0F3B3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20240"/>
            <a:ext cx="5577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C7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paying practices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C7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$21K/mo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run-rate  · 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C7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cash-flow positive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from Month 4 — the repeatable concierge wedge that unlocks the seed.</a:t>
            </a:r>
            <a:pPr algn="l" indent="0" marL="0">
              <a:lnSpc>
                <a:spcPct val="115000"/>
              </a:lnSpc>
              <a:buNone/>
            </a:pP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track to $1.13M revenue / 46 customers by Month 18.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1975104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2A2410"/>
          </a:solidFill>
          <a:ln w="12700">
            <a:solidFill>
              <a:srgbClr val="6B5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048256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
</a:t>
            </a:r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practices receiving a verified revenue-recovery finding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999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PATH — CUMULATIVE PAYING PRACTICES &amp; MONTHLY REVENUE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7616" y="4398264"/>
            <a:ext cx="658368" cy="45720"/>
          </a:xfrm>
          <a:prstGeom prst="roundRect">
            <a:avLst>
              <a:gd name="adj" fmla="val 80000"/>
            </a:avLst>
          </a:prstGeom>
          <a:solidFill>
            <a:srgbClr val="1B2C42"/>
          </a:solidFill>
          <a:ln w="12700">
            <a:solidFill>
              <a:srgbClr val="35506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26720" y="41422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6720" y="4480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1000" y="4681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practices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3568" y="485546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live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139696" y="4398264"/>
            <a:ext cx="658368" cy="45720"/>
          </a:xfrm>
          <a:prstGeom prst="roundRect">
            <a:avLst>
              <a:gd name="adj" fmla="val 80000"/>
            </a:avLst>
          </a:prstGeom>
          <a:solidFill>
            <a:srgbClr val="1B2C42"/>
          </a:solidFill>
          <a:ln w="12700">
            <a:solidFill>
              <a:srgbClr val="35506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28800" y="41422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4480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83080" y="4681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practices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55648" y="485546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building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41776" y="3947648"/>
            <a:ext cx="658368" cy="496336"/>
          </a:xfrm>
          <a:prstGeom prst="roundRect">
            <a:avLst>
              <a:gd name="adj" fmla="val 7369"/>
            </a:avLst>
          </a:prstGeom>
          <a:solidFill>
            <a:srgbClr val="00C7B1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30880" y="36916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$9.8K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30880" y="4480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85160" y="4681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practice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57728" y="485546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paying · 2 PoCs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43856" y="3915278"/>
            <a:ext cx="658368" cy="528706"/>
          </a:xfrm>
          <a:prstGeom prst="roundRect">
            <a:avLst>
              <a:gd name="adj" fmla="val 6918"/>
            </a:avLst>
          </a:prstGeom>
          <a:solidFill>
            <a:srgbClr val="00C7B1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32960" y="365924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$10.4K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32960" y="4480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87240" y="4681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practices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59808" y="485546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positive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345936" y="3429732"/>
            <a:ext cx="658368" cy="1014252"/>
          </a:xfrm>
          <a:prstGeom prst="roundRect">
            <a:avLst>
              <a:gd name="adj" fmla="val 5556"/>
            </a:avLst>
          </a:prstGeom>
          <a:solidFill>
            <a:srgbClr val="00C7B1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31737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$19.9K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4480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89320" y="4681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practices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61888" y="485546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748016" y="3364992"/>
            <a:ext cx="658368" cy="1078992"/>
          </a:xfrm>
          <a:prstGeom prst="roundRect">
            <a:avLst>
              <a:gd name="adj" fmla="val 5556"/>
            </a:avLst>
          </a:prstGeom>
          <a:solidFill>
            <a:srgbClr val="00C7B1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37120" y="31089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$21.1K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37120" y="4480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91400" y="4681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practices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63968" y="485546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$2.4K MRR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377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ALTERNATIVE TACTICS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603504"/>
            <a:ext cx="8412480" cy="10973"/>
          </a:xfrm>
          <a:prstGeom prst="rect">
            <a:avLst/>
          </a:prstGeom>
          <a:solidFill>
            <a:srgbClr val="0C3A44"/>
          </a:solidFill>
          <a:ln w="12700">
            <a:solidFill>
              <a:srgbClr val="0C3A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CHANNELS WE’RE USING NOW  (LIVE 3-CHANNEL TEST)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2880360" cy="329184"/>
          </a:xfrm>
          <a:prstGeom prst="roundRect">
            <a:avLst>
              <a:gd name="adj" fmla="val 25000"/>
            </a:avLst>
          </a:prstGeom>
          <a:solidFill>
            <a:srgbClr val="0E3A38"/>
          </a:solidFill>
          <a:ln w="12700">
            <a:solidFill>
              <a:srgbClr val="00A8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— organic posts + targeted DMs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1024128"/>
            <a:ext cx="2880360" cy="329184"/>
          </a:xfrm>
          <a:prstGeom prst="roundRect">
            <a:avLst>
              <a:gd name="adj" fmla="val 25000"/>
            </a:avLst>
          </a:prstGeom>
          <a:solidFill>
            <a:srgbClr val="0E3A38"/>
          </a:solidFill>
          <a:ln w="12700">
            <a:solidFill>
              <a:srgbClr val="00A8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communities — Reddit + PTOC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46520" y="1024128"/>
            <a:ext cx="2331720" cy="329184"/>
          </a:xfrm>
          <a:prstGeom prst="roundRect">
            <a:avLst>
              <a:gd name="adj" fmla="val 25000"/>
            </a:avLst>
          </a:prstGeom>
          <a:solidFill>
            <a:srgbClr val="0E3A38"/>
          </a:solidFill>
          <a:ln w="12700">
            <a:solidFill>
              <a:srgbClr val="00A8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email — scored prospect list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TACTICS WE’RE CONSIDERING — AND WHY THEY HELP HIT THE GOAL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6273D"/>
          </a:solidFill>
          <a:ln w="12700">
            <a:solidFill>
              <a:srgbClr val="1741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224528"/>
            <a:ext cx="2468880" cy="36576"/>
          </a:xfrm>
          <a:prstGeom prst="rect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2084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6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" y="22128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Revenue-Leak Scorecard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2907792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60-second self-check that shows a practice </a:t>
            </a:r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dollar leak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we ask for anything. Value first, higher-intent signups, and it makes “find $20K or it’s free” personal. </a:t>
            </a:r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993392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6273D"/>
          </a:solidFill>
          <a:ln w="12700">
            <a:solidFill>
              <a:srgbClr val="1741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4224528"/>
            <a:ext cx="2468880" cy="36576"/>
          </a:xfrm>
          <a:prstGeom prst="rect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084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6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447288" y="22128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referral loop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47288" y="2907792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happy PoC refers peers. Warm referrals convert at </a:t>
            </a:r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compound inside tight professional networks — our </a:t>
            </a:r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cheapest, highest-trust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path to the next paying practice.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993392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6273D"/>
          </a:solidFill>
          <a:ln w="12700">
            <a:solidFill>
              <a:srgbClr val="1741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4224528"/>
            <a:ext cx="2468880" cy="36576"/>
          </a:xfrm>
          <a:prstGeom prst="rect">
            <a:avLst/>
          </a:prstGeom>
          <a:solidFill>
            <a:srgbClr val="00C7B1"/>
          </a:solidFill>
          <a:ln w="12700">
            <a:solidFill>
              <a:srgbClr val="00C7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084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6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327648" y="22128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&amp; content partnerships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27648" y="2907792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APTA Private Practice Section + guest posts on KevinMD / Medical Economics. One partner or article reaches </a:t>
            </a:r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exactly-right owners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compounding inbound that hedges channel decay.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decays over time — so we test a </a:t>
            </a:r>
            <a:pPr algn="ctr" indent="0" marL="0">
              <a:buNone/>
            </a:pPr>
            <a:r>
              <a:rPr lang="en-US" sz="1150" b="1" i="1" dirty="0">
                <a:solidFill>
                  <a:srgbClr val="00C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pPr algn="ctr" indent="0" marL="0">
              <a:buNone/>
            </a:pPr>
            <a:r>
              <a:rPr lang="en-US" sz="11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pour budget into the winner.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PhysicianLabs — Growth Strategy</dc:title>
  <dc:subject>PptxGenJS Presentation</dc:subject>
  <dc:creator>PhysicianLabs</dc:creator>
  <cp:lastModifiedBy>PhysicianLabs</cp:lastModifiedBy>
  <cp:revision>1</cp:revision>
  <dcterms:created xsi:type="dcterms:W3CDTF">2026-07-02T20:41:52Z</dcterms:created>
  <dcterms:modified xsi:type="dcterms:W3CDTF">2026-07-02T20:41:52Z</dcterms:modified>
</cp:coreProperties>
</file>