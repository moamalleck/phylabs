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physician incorporated at the wrong time. It cost her $280,000.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44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pre-launch window (12 to 18 months before opening) is the most financially dangerous period of a physician's career. Three preventable mistakes destroy most new independent practices: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75688"/>
            <a:ext cx="2651760" cy="1371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75688"/>
            <a:ext cx="64008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167128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$200K–$400K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12648" y="2788920"/>
            <a:ext cx="24505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loss from wrong incorporation timing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075688"/>
            <a:ext cx="2651760" cy="1371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075688"/>
            <a:ext cx="64008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167128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$100K–$450K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47288" y="2788920"/>
            <a:ext cx="24505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from 90-day credentialing delay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075688"/>
            <a:ext cx="2651760" cy="1371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075688"/>
            <a:ext cx="64008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2167128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81928" y="2788920"/>
            <a:ext cx="24505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clinics hit a cash crisis at months 2 to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with an external advisor succeed at 84% vs. 42% without one   |   MGMA 2023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TurboTax moment for physician practice formation.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fixed-curriculum, fixed-price pre-launch advisory program for independent physicians.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$30,000 to $60,000 consulting firms that solve this problem are real, but ad-hoc, relationship-dependent, and available only to physicians who know the right people. PhysicianLabs delivers the same knowledge in a structured 12-week program: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32304"/>
            <a:ext cx="2587752" cy="1572768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96896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Kit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50-step self-serve digital toolkit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47872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one-time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36392" y="2295144"/>
            <a:ext cx="2587752" cy="1709928"/>
          </a:xfrm>
          <a:prstGeom prst="rect">
            <a:avLst/>
          </a:prstGeom>
          <a:solidFill>
            <a:srgbClr val="162850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6392" y="2295144"/>
            <a:ext cx="2587752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459736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Program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27832" y="286207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founder-guided program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27832" y="3547872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+ $200/mo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15584" y="2432304"/>
            <a:ext cx="2587752" cy="1572768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596896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Launch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07024" y="299923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done-for-you launch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07024" y="3547872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+ $200/mo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7594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delivery in Year 1 generates the product spec for the SaaS built in Year 2.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to 10,000 new independent physician practices open each year.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914400"/>
          </a:xfrm>
          <a:prstGeom prst="rect">
            <a:avLst/>
          </a:prstGeom>
          <a:solidFill>
            <a:srgbClr val="0D1B2E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$23M–$46M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4650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TAM (new-launch advisory, US)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1234440"/>
            <a:ext cx="2606040" cy="914400"/>
          </a:xfrm>
          <a:prstGeom prst="rect">
            <a:avLst/>
          </a:prstGeom>
          <a:solidFill>
            <a:srgbClr val="0D1B2E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29844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$61.34B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54680" y="174650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Primary Care market (10-15% CAGR)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1234440"/>
            <a:ext cx="2606040" cy="914400"/>
          </a:xfrm>
          <a:prstGeom prst="rect">
            <a:avLst/>
          </a:prstGeom>
          <a:solidFill>
            <a:srgbClr val="0D1B2E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29844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174650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Physician-ownership platforms launched in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8229600" cy="658368"/>
          </a:xfrm>
          <a:prstGeom prst="rect">
            <a:avLst/>
          </a:prstGeom>
          <a:solidFill>
            <a:srgbClr val="3D1515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58568"/>
            <a:ext cx="64008" cy="65836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58568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headwind: </a:t>
            </a:r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ownership dropped from 60.1% (2012) to 42.2% (2024). Acknowledge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8229600" cy="658368"/>
          </a:xfrm>
          <a:prstGeom prst="rect">
            <a:avLst/>
          </a:prstGeom>
          <a:solidFill>
            <a:srgbClr val="0A2525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99232"/>
            <a:ext cx="64008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992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tailwind: </a:t>
            </a:r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physicians choosing independence today are doing it deliberately. This is a smaller, more motivated, higher-willingness-to-pay market.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673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era of physicians intentionally going independent, needing expert infrastructure to do it right, is beginning."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23.5:1 LTV to CAC. Zero paid acquisition in Year 1.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587752" cy="841248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25296"/>
            <a:ext cx="2441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1444752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$198K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" y="176479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physicians, zero paid CAC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36392" y="1170432"/>
            <a:ext cx="2587752" cy="841248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1225296"/>
            <a:ext cx="2441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9544" y="1444752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$600K–$760K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9544" y="176479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+ early SaaS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15584" y="1170432"/>
            <a:ext cx="2587752" cy="841248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8736" y="1225296"/>
            <a:ext cx="2441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88736" y="1444752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$1.8M–$2.5M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88736" y="176479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marketplace network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1938528" cy="749808"/>
          </a:xfrm>
          <a:prstGeom prst="rect">
            <a:avLst/>
          </a:prstGeom>
          <a:solidFill>
            <a:srgbClr val="0D1B2E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67128"/>
            <a:ext cx="1938528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2523012"/>
            <a:ext cx="193852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50592" y="2103120"/>
            <a:ext cx="1938528" cy="749808"/>
          </a:xfrm>
          <a:prstGeom prst="rect">
            <a:avLst/>
          </a:prstGeom>
          <a:solidFill>
            <a:srgbClr val="0D1B2E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2167128"/>
            <a:ext cx="1938528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23.5:1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50592" y="2523012"/>
            <a:ext cx="193852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Year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43984" y="2103120"/>
            <a:ext cx="1938528" cy="749808"/>
          </a:xfrm>
          <a:prstGeom prst="rect">
            <a:avLst/>
          </a:prstGeom>
          <a:solidFill>
            <a:srgbClr val="0D1B2E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3984" y="2167128"/>
            <a:ext cx="1938528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43984" y="2523012"/>
            <a:ext cx="193852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37376" y="2103120"/>
            <a:ext cx="1938528" cy="749808"/>
          </a:xfrm>
          <a:prstGeom prst="rect">
            <a:avLst/>
          </a:prstGeom>
          <a:solidFill>
            <a:srgbClr val="0D1B2E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2167128"/>
            <a:ext cx="1938528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37376" y="2523012"/>
            <a:ext cx="193852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Year 1 (organic)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980944"/>
            <a:ext cx="2286000" cy="621792"/>
          </a:xfrm>
          <a:prstGeom prst="rect">
            <a:avLst/>
          </a:prstGeom>
          <a:solidFill>
            <a:srgbClr val="16285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2980944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validates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0" y="3255264"/>
            <a:ext cx="5486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3054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91840" y="2980944"/>
            <a:ext cx="2286000" cy="621792"/>
          </a:xfrm>
          <a:prstGeom prst="rect">
            <a:avLst/>
          </a:prstGeom>
          <a:solidFill>
            <a:srgbClr val="16285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11880" y="2980944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scales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77840" y="3255264"/>
            <a:ext cx="5486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3054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26480" y="2980944"/>
            <a:ext cx="2286000" cy="621792"/>
          </a:xfrm>
          <a:prstGeom prst="rect">
            <a:avLst/>
          </a:prstGeom>
          <a:solidFill>
            <a:srgbClr val="16285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2980944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compounds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749040"/>
            <a:ext cx="8229600" cy="475488"/>
          </a:xfrm>
          <a:prstGeom prst="rect">
            <a:avLst/>
          </a:prstGeom>
          <a:solidFill>
            <a:srgbClr val="0D1B2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749040"/>
            <a:ext cx="6400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749040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engagements yet. First paid engagement: 30-day target.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+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founder-market fit.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8872" cy="1188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15568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— 5 years (structured advisory for high-stakes clients)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118872" cy="1188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73936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+ AWS — 11 years in product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05456"/>
            <a:ext cx="118872" cy="1188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432304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Brother: orthopedic surgeon, 2 independent clinics opened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McKinsey engagement model is structurally identical to a concierge clinic launch.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502920"/>
            <a:ext cx="45720" cy="3200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502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from this panel: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3840480" cy="6858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051560"/>
            <a:ext cx="64008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0515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introductions to pre-launch physicians in your networks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874520"/>
            <a:ext cx="3840480" cy="6858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74520"/>
            <a:ext cx="64008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874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conversations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697480"/>
            <a:ext cx="3840480" cy="6858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697480"/>
            <a:ext cx="64008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6974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perspective on productizing a professional services model at scale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22292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— The TurboTax moment for physician practice formation.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4622292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ash.malleck@gmail.com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PhysicianLabs — 3-Minute Pitch Deck</dc:title>
  <dc:subject>Startup Accelerator Mentor Panel — 2026-05-19</dc:subject>
  <dc:creator>PhysicianLabs</dc:creator>
  <cp:lastModifiedBy>PhysicianLabs</cp:lastModifiedBy>
  <cp:revision>1</cp:revision>
  <dcterms:created xsi:type="dcterms:W3CDTF">2026-05-19T20:50:59Z</dcterms:created>
  <dcterms:modified xsi:type="dcterms:W3CDTF">2026-05-19T20:50:59Z</dcterms:modified>
</cp:coreProperties>
</file>